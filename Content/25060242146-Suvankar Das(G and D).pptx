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84" r:id="rId4"/>
    <p:sldId id="285" r:id="rId5"/>
    <p:sldId id="258" r:id="rId6"/>
    <p:sldId id="278" r:id="rId7"/>
    <p:sldId id="259" r:id="rId8"/>
    <p:sldId id="260" r:id="rId9"/>
    <p:sldId id="261" r:id="rId10"/>
    <p:sldId id="262" r:id="rId11"/>
    <p:sldId id="282" r:id="rId12"/>
    <p:sldId id="263" r:id="rId13"/>
    <p:sldId id="279" r:id="rId14"/>
    <p:sldId id="264" r:id="rId15"/>
    <p:sldId id="265" r:id="rId16"/>
    <p:sldId id="280" r:id="rId17"/>
    <p:sldId id="267" r:id="rId18"/>
    <p:sldId id="268" r:id="rId19"/>
    <p:sldId id="269" r:id="rId20"/>
    <p:sldId id="270" r:id="rId21"/>
    <p:sldId id="272" r:id="rId22"/>
    <p:sldId id="271" r:id="rId23"/>
    <p:sldId id="273" r:id="rId24"/>
    <p:sldId id="274" r:id="rId25"/>
    <p:sldId id="275" r:id="rId26"/>
    <p:sldId id="276" r:id="rId27"/>
    <p:sldId id="281" r:id="rId28"/>
    <p:sldId id="277" r:id="rId2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25" d="100"/>
          <a:sy n="125" d="100"/>
        </p:scale>
        <p:origin x="22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9846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41B03-EBD3-8B5B-9AB8-F72E8821A4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D20B6F-B917-F01B-C02B-546B245964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D556E7-E9E4-08E5-BC17-5D2205D42D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38FECF-7A74-6C98-504B-C4123E815CF1}"/>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2414547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075FE-D07D-35C9-7A2A-4E0CD13F62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4E538B-02D7-11E5-E308-6B67B01EFE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F62799-0E28-3030-3D96-0BB83450E0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C35B20-2D7D-161F-1D19-DA19F9E94BA1}"/>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1024134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5424166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3E91A-8DCB-ED1B-84AF-75ECA157D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0604AC-A2DD-03DD-606B-17367620D5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CC044C-52B0-B8D2-090C-891C735E42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188D64-35EF-2662-CC01-A90641C895B3}"/>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2240729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6202446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78DF4-58D4-7FD4-7763-8E27CBB13E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70F157-5347-A443-9946-9446D91681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DA4F08-2CA9-B50F-E6F4-0AE2049939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696B81-89D0-7A33-11A4-A03928C625C6}"/>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5664035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2B3E7-69EA-EAD4-8C97-A22ADA8CE1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2E0E3C-6DE7-9E21-3733-AA99409956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D7A3C1-375A-3E08-EBCA-8210025B66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945372-B1DB-47E1-6CB9-EC5E70E8E991}"/>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4845481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10.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hyperlink" Target="https://doi.org/10.2307/2946695" TargetMode="External"/><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hyperlink" Target="http://www.jstor.org/stable/2586879" TargetMode="External"/><Relationship Id="rId4" Type="http://schemas.openxmlformats.org/officeDocument/2006/relationships/hyperlink" Target="https://doi.org/10.2307/2118477" TargetMode="Externa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B4A"/>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C8952A"/>
          </a:solidFill>
          <a:ln w="12700">
            <a:solidFill>
              <a:srgbClr val="C8952A"/>
            </a:solidFill>
            <a:prstDash val="solid"/>
          </a:ln>
        </p:spPr>
      </p:sp>
      <p:sp>
        <p:nvSpPr>
          <p:cNvPr id="3" name="Text 1"/>
          <p:cNvSpPr/>
          <p:nvPr/>
        </p:nvSpPr>
        <p:spPr>
          <a:xfrm>
            <a:off x="548640" y="731520"/>
            <a:ext cx="8321040" cy="100584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South Korea's Economic Growth</a:t>
            </a:r>
            <a:endParaRPr lang="en-US" sz="3800" dirty="0"/>
          </a:p>
        </p:txBody>
      </p:sp>
      <p:sp>
        <p:nvSpPr>
          <p:cNvPr id="4" name="Text 2"/>
          <p:cNvSpPr/>
          <p:nvPr/>
        </p:nvSpPr>
        <p:spPr>
          <a:xfrm>
            <a:off x="548640" y="1783080"/>
            <a:ext cx="8321040" cy="502920"/>
          </a:xfrm>
          <a:prstGeom prst="rect">
            <a:avLst/>
          </a:prstGeom>
          <a:noFill/>
          <a:ln/>
        </p:spPr>
        <p:txBody>
          <a:bodyPr wrap="square" lIns="0" tIns="0" rIns="0" bIns="0" rtlCol="0" anchor="ctr"/>
          <a:lstStyle/>
          <a:p>
            <a:pPr marL="0" indent="0">
              <a:buNone/>
            </a:pPr>
            <a:r>
              <a:rPr lang="en-US" sz="1800" dirty="0">
                <a:solidFill>
                  <a:srgbClr val="A8C8D8"/>
                </a:solidFill>
                <a:latin typeface="Cambria" pitchFamily="34" charset="0"/>
                <a:ea typeface="Cambria" pitchFamily="34" charset="-122"/>
                <a:cs typeface="Cambria" pitchFamily="34" charset="-120"/>
              </a:rPr>
              <a:t>A Comparative Analysis of Growth Model Frameworks</a:t>
            </a:r>
            <a:endParaRPr lang="en-US" sz="1800" dirty="0"/>
          </a:p>
        </p:txBody>
      </p:sp>
      <p:sp>
        <p:nvSpPr>
          <p:cNvPr id="5" name="Shape 3"/>
          <p:cNvSpPr/>
          <p:nvPr/>
        </p:nvSpPr>
        <p:spPr>
          <a:xfrm>
            <a:off x="548640" y="2395728"/>
            <a:ext cx="8321040" cy="0"/>
          </a:xfrm>
          <a:prstGeom prst="line">
            <a:avLst/>
          </a:prstGeom>
          <a:noFill/>
          <a:ln w="19050">
            <a:solidFill>
              <a:srgbClr val="C8952A"/>
            </a:solidFill>
            <a:prstDash val="solid"/>
          </a:ln>
        </p:spPr>
      </p:sp>
      <p:sp>
        <p:nvSpPr>
          <p:cNvPr id="6" name="Text 4"/>
          <p:cNvSpPr/>
          <p:nvPr/>
        </p:nvSpPr>
        <p:spPr>
          <a:xfrm>
            <a:off x="548640" y="2514600"/>
            <a:ext cx="8321040" cy="365760"/>
          </a:xfrm>
          <a:prstGeom prst="rect">
            <a:avLst/>
          </a:prstGeom>
          <a:noFill/>
          <a:ln/>
        </p:spPr>
        <p:txBody>
          <a:bodyPr wrap="square" lIns="0" tIns="0" rIns="0" bIns="0" rtlCol="0" anchor="ctr"/>
          <a:lstStyle/>
          <a:p>
            <a:pPr marL="0" indent="0">
              <a:buNone/>
            </a:pPr>
            <a:r>
              <a:rPr lang="en-US" sz="1300" i="1" dirty="0">
                <a:solidFill>
                  <a:srgbClr val="7AAFC2"/>
                </a:solidFill>
              </a:rPr>
              <a:t>Solow  ·  Ramsey–Cass–Koopmans  ·  Overlapping Generations</a:t>
            </a:r>
            <a:endParaRPr lang="en-US" sz="1300" dirty="0"/>
          </a:p>
        </p:txBody>
      </p:sp>
      <p:sp>
        <p:nvSpPr>
          <p:cNvPr id="7" name="Shape 5"/>
          <p:cNvSpPr/>
          <p:nvPr/>
        </p:nvSpPr>
        <p:spPr>
          <a:xfrm>
            <a:off x="548640" y="3017520"/>
            <a:ext cx="2011680" cy="347472"/>
          </a:xfrm>
          <a:prstGeom prst="rect">
            <a:avLst/>
          </a:prstGeom>
          <a:solidFill>
            <a:srgbClr val="0D7C8F"/>
          </a:solidFill>
          <a:ln w="12700">
            <a:solidFill>
              <a:srgbClr val="0D7C8F"/>
            </a:solidFill>
            <a:prstDash val="solid"/>
          </a:ln>
        </p:spPr>
      </p:sp>
      <p:sp>
        <p:nvSpPr>
          <p:cNvPr id="8" name="Text 6"/>
          <p:cNvSpPr/>
          <p:nvPr/>
        </p:nvSpPr>
        <p:spPr>
          <a:xfrm>
            <a:off x="548640" y="3017520"/>
            <a:ext cx="2011680" cy="347472"/>
          </a:xfrm>
          <a:prstGeom prst="rect">
            <a:avLst/>
          </a:prstGeom>
          <a:noFill/>
          <a:ln/>
        </p:spPr>
        <p:txBody>
          <a:bodyPr wrap="square" lIns="0" tIns="0" rIns="0" bIns="0" rtlCol="0" anchor="ctr"/>
          <a:lstStyle/>
          <a:p>
            <a:pPr marL="0" indent="0" algn="ctr">
              <a:buNone/>
            </a:pPr>
            <a:r>
              <a:rPr lang="en-US" sz="1100" dirty="0">
                <a:solidFill>
                  <a:srgbClr val="FFFFFF"/>
                </a:solidFill>
              </a:rPr>
              <a:t>Post-Korean War to 2025</a:t>
            </a:r>
            <a:endParaRPr lang="en-US" sz="1100" dirty="0"/>
          </a:p>
        </p:txBody>
      </p:sp>
      <p:sp>
        <p:nvSpPr>
          <p:cNvPr id="9" name="Shape 7"/>
          <p:cNvSpPr/>
          <p:nvPr/>
        </p:nvSpPr>
        <p:spPr>
          <a:xfrm>
            <a:off x="2834640" y="3017520"/>
            <a:ext cx="2011680" cy="347472"/>
          </a:xfrm>
          <a:prstGeom prst="rect">
            <a:avLst/>
          </a:prstGeom>
          <a:solidFill>
            <a:srgbClr val="0D7C8F"/>
          </a:solidFill>
          <a:ln w="12700">
            <a:solidFill>
              <a:srgbClr val="0D7C8F"/>
            </a:solidFill>
            <a:prstDash val="solid"/>
          </a:ln>
        </p:spPr>
      </p:sp>
      <p:sp>
        <p:nvSpPr>
          <p:cNvPr id="10" name="Text 8"/>
          <p:cNvSpPr/>
          <p:nvPr/>
        </p:nvSpPr>
        <p:spPr>
          <a:xfrm>
            <a:off x="2834640" y="3017520"/>
            <a:ext cx="2011680" cy="347472"/>
          </a:xfrm>
          <a:prstGeom prst="rect">
            <a:avLst/>
          </a:prstGeom>
          <a:noFill/>
          <a:ln/>
        </p:spPr>
        <p:txBody>
          <a:bodyPr wrap="square" lIns="0" tIns="0" rIns="0" bIns="0" rtlCol="0" anchor="ctr"/>
          <a:lstStyle/>
          <a:p>
            <a:pPr marL="0" indent="0" algn="ctr">
              <a:buNone/>
            </a:pPr>
            <a:r>
              <a:rPr lang="en-US" sz="1100" dirty="0">
                <a:solidFill>
                  <a:srgbClr val="FFFFFF"/>
                </a:solidFill>
              </a:rPr>
              <a:t>PWT Data</a:t>
            </a:r>
            <a:endParaRPr lang="en-US" sz="1100" dirty="0"/>
          </a:p>
        </p:txBody>
      </p:sp>
      <p:sp>
        <p:nvSpPr>
          <p:cNvPr id="11" name="Shape 9"/>
          <p:cNvSpPr/>
          <p:nvPr/>
        </p:nvSpPr>
        <p:spPr>
          <a:xfrm>
            <a:off x="5120640" y="3017520"/>
            <a:ext cx="2011680" cy="347472"/>
          </a:xfrm>
          <a:prstGeom prst="rect">
            <a:avLst/>
          </a:prstGeom>
          <a:solidFill>
            <a:srgbClr val="0D7C8F"/>
          </a:solidFill>
          <a:ln w="12700">
            <a:solidFill>
              <a:srgbClr val="0D7C8F"/>
            </a:solidFill>
            <a:prstDash val="solid"/>
          </a:ln>
        </p:spPr>
      </p:sp>
      <p:sp>
        <p:nvSpPr>
          <p:cNvPr id="12" name="Text 10"/>
          <p:cNvSpPr/>
          <p:nvPr/>
        </p:nvSpPr>
        <p:spPr>
          <a:xfrm>
            <a:off x="5120640" y="3017520"/>
            <a:ext cx="2011680" cy="347472"/>
          </a:xfrm>
          <a:prstGeom prst="rect">
            <a:avLst/>
          </a:prstGeom>
          <a:noFill/>
          <a:ln/>
        </p:spPr>
        <p:txBody>
          <a:bodyPr wrap="square" lIns="0" tIns="0" rIns="0" bIns="0" rtlCol="0" anchor="ctr"/>
          <a:lstStyle/>
          <a:p>
            <a:pPr marL="0" indent="0" algn="ctr">
              <a:buNone/>
            </a:pPr>
            <a:r>
              <a:rPr lang="en-US" sz="1100" dirty="0">
                <a:solidFill>
                  <a:srgbClr val="FFFFFF"/>
                </a:solidFill>
              </a:rPr>
              <a:t>R &amp; Stata</a:t>
            </a:r>
            <a:endParaRPr lang="en-US" sz="1100" dirty="0"/>
          </a:p>
        </p:txBody>
      </p:sp>
      <p:sp>
        <p:nvSpPr>
          <p:cNvPr id="13" name="Text 11"/>
          <p:cNvSpPr/>
          <p:nvPr/>
        </p:nvSpPr>
        <p:spPr>
          <a:xfrm>
            <a:off x="548640" y="4480560"/>
            <a:ext cx="8321040" cy="320040"/>
          </a:xfrm>
          <a:prstGeom prst="rect">
            <a:avLst/>
          </a:prstGeom>
          <a:noFill/>
          <a:ln/>
        </p:spPr>
        <p:txBody>
          <a:bodyPr wrap="square" lIns="0" tIns="0" rIns="0" bIns="0" rtlCol="0" anchor="ctr"/>
          <a:lstStyle/>
          <a:p>
            <a:pPr marL="0" indent="0">
              <a:buNone/>
            </a:pPr>
            <a:r>
              <a:rPr lang="en-US" sz="1000" dirty="0">
                <a:solidFill>
                  <a:srgbClr val="5A7A8A"/>
                </a:solidFill>
              </a:rPr>
              <a:t>Growth &amp; Development  |  Economics</a:t>
            </a:r>
            <a:endParaRPr lang="en-US" sz="1000" dirty="0"/>
          </a:p>
        </p:txBody>
      </p:sp>
      <p:sp>
        <p:nvSpPr>
          <p:cNvPr id="100" name="MilestoneBar"/>
          <p:cNvSpPr/>
          <p:nvPr/>
        </p:nvSpPr>
        <p:spPr>
          <a:xfrm>
            <a:off x="182880" y="3840120"/>
            <a:ext cx="8778240" cy="548640"/>
          </a:xfrm>
          <a:prstGeom prst="rect">
            <a:avLst/>
          </a:prstGeom>
          <a:solidFill>
            <a:srgbClr val="0D1F3C"/>
          </a:solidFill>
          <a:ln>
            <a:noFill/>
          </a:ln>
        </p:spPr>
      </p:sp>
      <p:sp>
        <p:nvSpPr>
          <p:cNvPr id="101" name="MS1"/>
          <p:cNvSpPr/>
          <p:nvPr/>
        </p:nvSpPr>
        <p:spPr>
          <a:xfrm>
            <a:off x="365760" y="3840120"/>
            <a:ext cx="2194560" cy="640080"/>
          </a:xfrm>
          <a:prstGeom prst="rect">
            <a:avLst/>
          </a:prstGeom>
          <a:noFill/>
          <a:ln/>
        </p:spPr>
        <p:txBody>
          <a:bodyPr wrap="square" lIns="91440" tIns="0" rIns="0" bIns="0" rtlCol="0" anchor="ctr"/>
          <a:lstStyle/>
          <a:p>
            <a:pPr marL="0" indent="0">
              <a:buNone/>
            </a:pPr>
            <a:r>
              <a:rPr lang="en-US" sz="1400" b="1" dirty="0">
                <a:solidFill>
                  <a:srgbClr val="E8A020"/>
                </a:solidFill>
              </a:rPr>
              <a:t>1953 → </a:t>
            </a:r>
            <a:r>
              <a:rPr lang="en-US" sz="1100" dirty="0">
                <a:solidFill>
                  <a:srgbClr val="A8C8D8"/>
                </a:solidFill>
              </a:rPr>
              <a:t>Post-war GDP ~$67/capita</a:t>
            </a:r>
          </a:p>
        </p:txBody>
      </p:sp>
      <p:sp>
        <p:nvSpPr>
          <p:cNvPr id="102" name="MS2"/>
          <p:cNvSpPr/>
          <p:nvPr/>
        </p:nvSpPr>
        <p:spPr>
          <a:xfrm>
            <a:off x="3018600" y="3840120"/>
            <a:ext cx="2560320" cy="640080"/>
          </a:xfrm>
          <a:prstGeom prst="rect">
            <a:avLst/>
          </a:prstGeom>
          <a:noFill/>
          <a:ln/>
        </p:spPr>
        <p:txBody>
          <a:bodyPr wrap="square" lIns="91440" tIns="0" rIns="0" bIns="0" rtlCol="0" anchor="ctr"/>
          <a:lstStyle/>
          <a:p>
            <a:pPr marL="0" indent="0">
              <a:buNone/>
            </a:pPr>
            <a:r>
              <a:rPr lang="en-US" sz="1400" b="1" dirty="0">
                <a:solidFill>
                  <a:srgbClr val="E8A020"/>
                </a:solidFill>
              </a:rPr>
              <a:t>1960–95 → </a:t>
            </a:r>
            <a:r>
              <a:rPr lang="en-US" sz="1100" dirty="0">
                <a:solidFill>
                  <a:srgbClr val="A8C8D8"/>
                </a:solidFill>
              </a:rPr>
              <a:t>7.1% avg annual growth</a:t>
            </a:r>
          </a:p>
        </p:txBody>
      </p:sp>
      <p:sp>
        <p:nvSpPr>
          <p:cNvPr id="103" name="MS3"/>
          <p:cNvSpPr/>
          <p:nvPr/>
        </p:nvSpPr>
        <p:spPr>
          <a:xfrm>
            <a:off x="6035640" y="3840120"/>
            <a:ext cx="2286000" cy="640080"/>
          </a:xfrm>
          <a:prstGeom prst="rect">
            <a:avLst/>
          </a:prstGeom>
          <a:noFill/>
          <a:ln/>
        </p:spPr>
        <p:txBody>
          <a:bodyPr wrap="square" lIns="91440" tIns="0" rIns="0" bIns="0" rtlCol="0" anchor="ctr"/>
          <a:lstStyle/>
          <a:p>
            <a:pPr marL="0" indent="0">
              <a:buNone/>
            </a:pPr>
            <a:r>
              <a:rPr lang="en-US" sz="1400" b="1" dirty="0">
                <a:solidFill>
                  <a:srgbClr val="E8A020"/>
                </a:solidFill>
              </a:rPr>
              <a:t>2024 → </a:t>
            </a:r>
            <a:r>
              <a:rPr lang="en-US" sz="1100" dirty="0">
                <a:solidFill>
                  <a:srgbClr val="A8C8D8"/>
                </a:solidFill>
              </a:rPr>
              <a:t>12th largest economy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C8F"/>
          </a:solidFill>
          <a:ln w="12700">
            <a:solidFill>
              <a:srgbClr val="0D7C8F"/>
            </a:solidFill>
            <a:prstDash val="solid"/>
          </a:ln>
        </p:spPr>
      </p:sp>
      <p:sp>
        <p:nvSpPr>
          <p:cNvPr id="3" name="Text 1"/>
          <p:cNvSpPr/>
          <p:nvPr/>
        </p:nvSpPr>
        <p:spPr>
          <a:xfrm>
            <a:off x="256032" y="164592"/>
            <a:ext cx="5486400" cy="256032"/>
          </a:xfrm>
          <a:prstGeom prst="rect">
            <a:avLst/>
          </a:prstGeom>
          <a:noFill/>
          <a:ln/>
        </p:spPr>
        <p:txBody>
          <a:bodyPr wrap="square" lIns="0" tIns="0" rIns="0" bIns="0" rtlCol="0" anchor="ctr"/>
          <a:lstStyle/>
          <a:p>
            <a:pPr marL="0" indent="0">
              <a:buNone/>
            </a:pPr>
            <a:r>
              <a:rPr lang="en-US" sz="800" b="1" kern="0" spc="300" dirty="0">
                <a:solidFill>
                  <a:srgbClr val="0D7C8F"/>
                </a:solidFill>
              </a:rPr>
              <a:t>INTRODUCTION</a:t>
            </a:r>
            <a:endParaRPr lang="en-US" sz="800" dirty="0"/>
          </a:p>
        </p:txBody>
      </p:sp>
      <p:sp>
        <p:nvSpPr>
          <p:cNvPr id="4" name="Text 2"/>
          <p:cNvSpPr/>
          <p:nvPr/>
        </p:nvSpPr>
        <p:spPr>
          <a:xfrm>
            <a:off x="256032" y="502920"/>
            <a:ext cx="8631936" cy="594360"/>
          </a:xfrm>
          <a:prstGeom prst="rect">
            <a:avLst/>
          </a:prstGeom>
          <a:noFill/>
          <a:ln/>
        </p:spPr>
        <p:txBody>
          <a:bodyPr wrap="square" lIns="0" tIns="0" rIns="0" bIns="0" rtlCol="0" anchor="ctr"/>
          <a:lstStyle/>
          <a:p>
            <a:pPr marL="0" indent="0">
              <a:buNone/>
            </a:pPr>
            <a:r>
              <a:rPr lang="en-US" sz="2800" b="1" dirty="0">
                <a:solidFill>
                  <a:srgbClr val="2C3E50"/>
                </a:solidFill>
                <a:latin typeface="Cambria" pitchFamily="34" charset="0"/>
                <a:ea typeface="Cambria" pitchFamily="34" charset="-122"/>
                <a:cs typeface="Cambria" pitchFamily="34" charset="-120"/>
              </a:rPr>
              <a:t>The Han River Miracle: Setting the Stage</a:t>
            </a:r>
            <a:endParaRPr lang="en-US" sz="2800" dirty="0"/>
          </a:p>
        </p:txBody>
      </p:sp>
      <p:sp>
        <p:nvSpPr>
          <p:cNvPr id="5" name="Shape 3"/>
          <p:cNvSpPr/>
          <p:nvPr/>
        </p:nvSpPr>
        <p:spPr>
          <a:xfrm>
            <a:off x="256032" y="1188720"/>
            <a:ext cx="8631936" cy="0"/>
          </a:xfrm>
          <a:prstGeom prst="line">
            <a:avLst/>
          </a:prstGeom>
          <a:noFill/>
          <a:ln w="19050">
            <a:solidFill>
              <a:srgbClr val="0D7C8F"/>
            </a:solidFill>
            <a:prstDash val="solid"/>
          </a:ln>
        </p:spPr>
      </p:sp>
      <p:sp>
        <p:nvSpPr>
          <p:cNvPr id="6" name="Text 4"/>
          <p:cNvSpPr/>
          <p:nvPr/>
        </p:nvSpPr>
        <p:spPr>
          <a:xfrm>
            <a:off x="256032" y="1325880"/>
            <a:ext cx="4297680" cy="1097280"/>
          </a:xfrm>
          <a:prstGeom prst="rect">
            <a:avLst/>
          </a:prstGeom>
          <a:noFill/>
          <a:ln/>
        </p:spPr>
        <p:txBody>
          <a:bodyPr wrap="square" lIns="0" tIns="0" rIns="0" bIns="0" rtlCol="0" anchor="ctr"/>
          <a:lstStyle/>
          <a:p>
            <a:pPr marL="0" indent="0">
              <a:buNone/>
            </a:pPr>
            <a:r>
              <a:rPr lang="en-US" sz="1300" dirty="0">
                <a:solidFill>
                  <a:srgbClr val="5A6A7A"/>
                </a:solidFill>
              </a:rPr>
              <a:t>South Korea transformed from one of the world's poorest nations after the 1950–53 Korean War into the world's 12th largest economy by 2024: a trajectory unmatched in modern economic history.</a:t>
            </a:r>
            <a:endParaRPr lang="en-US" sz="1300" dirty="0"/>
          </a:p>
        </p:txBody>
      </p:sp>
      <p:sp>
        <p:nvSpPr>
          <p:cNvPr id="7" name="Text 5"/>
          <p:cNvSpPr/>
          <p:nvPr/>
        </p:nvSpPr>
        <p:spPr>
          <a:xfrm>
            <a:off x="256032" y="2514600"/>
            <a:ext cx="4297680" cy="320040"/>
          </a:xfrm>
          <a:prstGeom prst="rect">
            <a:avLst/>
          </a:prstGeom>
          <a:noFill/>
          <a:ln/>
        </p:spPr>
        <p:txBody>
          <a:bodyPr wrap="square" lIns="0" tIns="0" rIns="0" bIns="0" rtlCol="0" anchor="ctr"/>
          <a:lstStyle/>
          <a:p>
            <a:pPr marL="0" indent="0">
              <a:buNone/>
            </a:pPr>
            <a:r>
              <a:rPr lang="en-US" sz="1400" b="1" dirty="0">
                <a:solidFill>
                  <a:srgbClr val="2C3E50"/>
                </a:solidFill>
              </a:rPr>
              <a:t>Research Objectives</a:t>
            </a:r>
            <a:endParaRPr lang="en-US" sz="1400" dirty="0"/>
          </a:p>
        </p:txBody>
      </p:sp>
      <p:sp>
        <p:nvSpPr>
          <p:cNvPr id="8" name="Text 6"/>
          <p:cNvSpPr/>
          <p:nvPr/>
        </p:nvSpPr>
        <p:spPr>
          <a:xfrm>
            <a:off x="256032" y="2880360"/>
            <a:ext cx="4297680" cy="2011680"/>
          </a:xfrm>
          <a:prstGeom prst="rect">
            <a:avLst/>
          </a:prstGeom>
          <a:noFill/>
          <a:ln/>
        </p:spPr>
        <p:txBody>
          <a:bodyPr wrap="square" lIns="0" tIns="0" rIns="0" bIns="0" rtlCol="0" anchor="t"/>
          <a:lstStyle/>
          <a:p>
            <a:pPr marL="342900" indent="-342900">
              <a:buSzPct val="100000"/>
              <a:buChar char="•"/>
            </a:pPr>
            <a:r>
              <a:rPr lang="en-US" sz="1300" dirty="0">
                <a:solidFill>
                  <a:srgbClr val="5A6A7A"/>
                </a:solidFill>
              </a:rPr>
              <a:t>Quantify SK's growth using Solow, RCK &amp; OLG models on PWT data</a:t>
            </a:r>
            <a:endParaRPr lang="en-US" sz="1300" dirty="0"/>
          </a:p>
          <a:p>
            <a:pPr marL="342900" indent="-342900">
              <a:buSzPct val="100000"/>
              <a:buChar char="•"/>
            </a:pPr>
            <a:r>
              <a:rPr lang="en-US" sz="1300" dirty="0">
                <a:solidFill>
                  <a:srgbClr val="5A6A7A"/>
                </a:solidFill>
              </a:rPr>
              <a:t>Test convergence, steady-state, and dynamic efficiency properties</a:t>
            </a:r>
            <a:endParaRPr lang="en-US" sz="1300" dirty="0"/>
          </a:p>
          <a:p>
            <a:pPr marL="342900" indent="-342900">
              <a:buSzPct val="100000"/>
              <a:buChar char="•"/>
            </a:pPr>
            <a:r>
              <a:rPr lang="en-US" sz="1300" dirty="0">
                <a:solidFill>
                  <a:srgbClr val="5A6A7A"/>
                </a:solidFill>
              </a:rPr>
              <a:t>Compare frameworks: which best captures the Korean growth story?</a:t>
            </a:r>
            <a:endParaRPr lang="en-US" sz="1300" dirty="0"/>
          </a:p>
          <a:p>
            <a:pPr marL="342900" indent="-342900">
              <a:buSzPct val="100000"/>
              <a:buChar char="•"/>
            </a:pPr>
            <a:r>
              <a:rPr lang="en-US" sz="1300" dirty="0">
                <a:solidFill>
                  <a:srgbClr val="5A6A7A"/>
                </a:solidFill>
              </a:rPr>
              <a:t>Identify structural breaks and turning points (1997 AFC, 2008 GFC)</a:t>
            </a:r>
            <a:endParaRPr lang="en-US" sz="1300" dirty="0"/>
          </a:p>
        </p:txBody>
      </p:sp>
      <p:sp>
        <p:nvSpPr>
          <p:cNvPr id="9" name="Shape 7"/>
          <p:cNvSpPr/>
          <p:nvPr/>
        </p:nvSpPr>
        <p:spPr>
          <a:xfrm>
            <a:off x="4846320" y="1325880"/>
            <a:ext cx="1920240" cy="1005840"/>
          </a:xfrm>
          <a:prstGeom prst="rect">
            <a:avLst/>
          </a:prstGeom>
          <a:solidFill>
            <a:srgbClr val="0D7C8F"/>
          </a:solidFill>
          <a:ln w="12700">
            <a:solidFill>
              <a:srgbClr val="0D7C8F"/>
            </a:solidFill>
            <a:prstDash val="solid"/>
          </a:ln>
        </p:spPr>
      </p:sp>
      <p:sp>
        <p:nvSpPr>
          <p:cNvPr id="10" name="Text 8"/>
          <p:cNvSpPr/>
          <p:nvPr/>
        </p:nvSpPr>
        <p:spPr>
          <a:xfrm>
            <a:off x="4846320" y="1371600"/>
            <a:ext cx="1920240" cy="54864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sp>
        <p:nvSpPr>
          <p:cNvPr id="11" name="Text 9"/>
          <p:cNvSpPr/>
          <p:nvPr/>
        </p:nvSpPr>
        <p:spPr>
          <a:xfrm>
            <a:off x="4846320" y="1920240"/>
            <a:ext cx="1920240" cy="365760"/>
          </a:xfrm>
          <a:prstGeom prst="rect">
            <a:avLst/>
          </a:prstGeom>
          <a:noFill/>
          <a:ln/>
        </p:spPr>
        <p:txBody>
          <a:bodyPr wrap="square" lIns="0" tIns="0" rIns="0" bIns="0" rtlCol="0" anchor="ctr"/>
          <a:lstStyle/>
          <a:p>
            <a:pPr marL="0" indent="0" algn="ctr">
              <a:buNone/>
            </a:pPr>
            <a:r>
              <a:rPr lang="en-US" sz="1000" dirty="0">
                <a:solidFill>
                  <a:srgbClr val="FFFFFF"/>
                </a:solidFill>
              </a:rPr>
              <a:t>GDP per capita 1953</a:t>
            </a:r>
            <a:endParaRPr lang="en-US" sz="1000" dirty="0"/>
          </a:p>
          <a:p>
            <a:pPr marL="0" indent="0" algn="ctr">
              <a:buNone/>
            </a:pPr>
            <a:r>
              <a:rPr lang="en-US" sz="1000" dirty="0">
                <a:solidFill>
                  <a:srgbClr val="FFFFFF"/>
                </a:solidFill>
              </a:rPr>
              <a:t>(~$67 USD)</a:t>
            </a:r>
            <a:endParaRPr lang="en-US" sz="1000" dirty="0"/>
          </a:p>
        </p:txBody>
      </p:sp>
      <p:sp>
        <p:nvSpPr>
          <p:cNvPr id="12" name="Shape 10"/>
          <p:cNvSpPr/>
          <p:nvPr/>
        </p:nvSpPr>
        <p:spPr>
          <a:xfrm>
            <a:off x="6995160" y="1325880"/>
            <a:ext cx="1920240" cy="1005840"/>
          </a:xfrm>
          <a:prstGeom prst="rect">
            <a:avLst/>
          </a:prstGeom>
          <a:solidFill>
            <a:srgbClr val="0D7C8F"/>
          </a:solidFill>
          <a:ln w="12700">
            <a:solidFill>
              <a:srgbClr val="0D7C8F"/>
            </a:solidFill>
            <a:prstDash val="solid"/>
          </a:ln>
        </p:spPr>
      </p:sp>
      <p:sp>
        <p:nvSpPr>
          <p:cNvPr id="13" name="Text 11"/>
          <p:cNvSpPr/>
          <p:nvPr/>
        </p:nvSpPr>
        <p:spPr>
          <a:xfrm>
            <a:off x="6995160" y="1371600"/>
            <a:ext cx="1920240" cy="54864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35,000+</a:t>
            </a:r>
            <a:endParaRPr lang="en-US" sz="2600" dirty="0"/>
          </a:p>
        </p:txBody>
      </p:sp>
      <p:sp>
        <p:nvSpPr>
          <p:cNvPr id="14" name="Text 12"/>
          <p:cNvSpPr/>
          <p:nvPr/>
        </p:nvSpPr>
        <p:spPr>
          <a:xfrm>
            <a:off x="6995160" y="1920240"/>
            <a:ext cx="1920240" cy="365760"/>
          </a:xfrm>
          <a:prstGeom prst="rect">
            <a:avLst/>
          </a:prstGeom>
          <a:noFill/>
          <a:ln/>
        </p:spPr>
        <p:txBody>
          <a:bodyPr wrap="square" lIns="0" tIns="0" rIns="0" bIns="0" rtlCol="0" anchor="ctr"/>
          <a:lstStyle/>
          <a:p>
            <a:pPr marL="0" indent="0" algn="ctr">
              <a:buNone/>
            </a:pPr>
            <a:r>
              <a:rPr lang="en-US" sz="1000" dirty="0">
                <a:solidFill>
                  <a:srgbClr val="FFFFFF"/>
                </a:solidFill>
              </a:rPr>
              <a:t>GDP per capita 2024</a:t>
            </a:r>
            <a:endParaRPr lang="en-US" sz="1000" dirty="0"/>
          </a:p>
          <a:p>
            <a:pPr marL="0" indent="0" algn="ctr">
              <a:buNone/>
            </a:pPr>
            <a:r>
              <a:rPr lang="en-US" sz="1000" dirty="0">
                <a:solidFill>
                  <a:srgbClr val="FFFFFF"/>
                </a:solidFill>
              </a:rPr>
              <a:t>(USD)</a:t>
            </a:r>
            <a:endParaRPr lang="en-US" sz="1000" dirty="0"/>
          </a:p>
        </p:txBody>
      </p:sp>
      <p:sp>
        <p:nvSpPr>
          <p:cNvPr id="15" name="Shape 13"/>
          <p:cNvSpPr/>
          <p:nvPr/>
        </p:nvSpPr>
        <p:spPr>
          <a:xfrm>
            <a:off x="4846320" y="2514600"/>
            <a:ext cx="1920240" cy="1005840"/>
          </a:xfrm>
          <a:prstGeom prst="rect">
            <a:avLst/>
          </a:prstGeom>
          <a:solidFill>
            <a:srgbClr val="0D7C8F"/>
          </a:solidFill>
          <a:ln w="12700">
            <a:solidFill>
              <a:srgbClr val="0D7C8F"/>
            </a:solidFill>
            <a:prstDash val="solid"/>
          </a:ln>
        </p:spPr>
      </p:sp>
      <p:sp>
        <p:nvSpPr>
          <p:cNvPr id="16" name="Text 14"/>
          <p:cNvSpPr/>
          <p:nvPr/>
        </p:nvSpPr>
        <p:spPr>
          <a:xfrm>
            <a:off x="4846320" y="2560320"/>
            <a:ext cx="1920240" cy="54864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7.1%</a:t>
            </a:r>
            <a:endParaRPr lang="en-US" sz="2600" dirty="0"/>
          </a:p>
        </p:txBody>
      </p:sp>
      <p:sp>
        <p:nvSpPr>
          <p:cNvPr id="17" name="Text 15"/>
          <p:cNvSpPr/>
          <p:nvPr/>
        </p:nvSpPr>
        <p:spPr>
          <a:xfrm>
            <a:off x="4846320" y="3108960"/>
            <a:ext cx="1920240" cy="365760"/>
          </a:xfrm>
          <a:prstGeom prst="rect">
            <a:avLst/>
          </a:prstGeom>
          <a:noFill/>
          <a:ln/>
        </p:spPr>
        <p:txBody>
          <a:bodyPr wrap="square" lIns="0" tIns="0" rIns="0" bIns="0" rtlCol="0" anchor="ctr"/>
          <a:lstStyle/>
          <a:p>
            <a:pPr marL="0" indent="0" algn="ctr">
              <a:buNone/>
            </a:pPr>
            <a:r>
              <a:rPr lang="en-US" sz="1000" dirty="0">
                <a:solidFill>
                  <a:srgbClr val="FFFFFF"/>
                </a:solidFill>
              </a:rPr>
              <a:t>Avg. annual growth</a:t>
            </a:r>
            <a:endParaRPr lang="en-US" sz="1000" dirty="0"/>
          </a:p>
          <a:p>
            <a:pPr marL="0" indent="0" algn="ctr">
              <a:buNone/>
            </a:pPr>
            <a:r>
              <a:rPr lang="en-US" sz="1000" dirty="0">
                <a:solidFill>
                  <a:srgbClr val="FFFFFF"/>
                </a:solidFill>
              </a:rPr>
              <a:t>1960–1995</a:t>
            </a:r>
            <a:endParaRPr lang="en-US" sz="1000" dirty="0"/>
          </a:p>
        </p:txBody>
      </p:sp>
      <p:sp>
        <p:nvSpPr>
          <p:cNvPr id="18" name="Shape 16"/>
          <p:cNvSpPr/>
          <p:nvPr/>
        </p:nvSpPr>
        <p:spPr>
          <a:xfrm>
            <a:off x="6995160" y="2514600"/>
            <a:ext cx="1920240" cy="1005840"/>
          </a:xfrm>
          <a:prstGeom prst="rect">
            <a:avLst/>
          </a:prstGeom>
          <a:solidFill>
            <a:srgbClr val="0D7C8F"/>
          </a:solidFill>
          <a:ln w="12700">
            <a:solidFill>
              <a:srgbClr val="0D7C8F"/>
            </a:solidFill>
            <a:prstDash val="solid"/>
          </a:ln>
        </p:spPr>
      </p:sp>
      <p:sp>
        <p:nvSpPr>
          <p:cNvPr id="19" name="Text 17"/>
          <p:cNvSpPr/>
          <p:nvPr/>
        </p:nvSpPr>
        <p:spPr>
          <a:xfrm>
            <a:off x="6995160" y="2560320"/>
            <a:ext cx="1920240" cy="54864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OECD</a:t>
            </a:r>
            <a:endParaRPr lang="en-US" sz="2600" dirty="0"/>
          </a:p>
        </p:txBody>
      </p:sp>
      <p:sp>
        <p:nvSpPr>
          <p:cNvPr id="20" name="Text 18"/>
          <p:cNvSpPr/>
          <p:nvPr/>
        </p:nvSpPr>
        <p:spPr>
          <a:xfrm>
            <a:off x="6995160" y="3108960"/>
            <a:ext cx="1920240" cy="365760"/>
          </a:xfrm>
          <a:prstGeom prst="rect">
            <a:avLst/>
          </a:prstGeom>
          <a:noFill/>
          <a:ln/>
        </p:spPr>
        <p:txBody>
          <a:bodyPr wrap="square" lIns="0" tIns="0" rIns="0" bIns="0" rtlCol="0" anchor="ctr"/>
          <a:lstStyle/>
          <a:p>
            <a:pPr marL="0" indent="0" algn="ctr">
              <a:buNone/>
            </a:pPr>
            <a:r>
              <a:rPr lang="en-US" sz="1000" dirty="0">
                <a:solidFill>
                  <a:srgbClr val="FFFFFF"/>
                </a:solidFill>
              </a:rPr>
              <a:t>Member since 1996</a:t>
            </a:r>
            <a:endParaRPr lang="en-US" sz="1000" dirty="0"/>
          </a:p>
          <a:p>
            <a:pPr marL="0" indent="0" algn="ctr">
              <a:buNone/>
            </a:pPr>
            <a:r>
              <a:rPr lang="en-US" sz="1000" dirty="0">
                <a:solidFill>
                  <a:srgbClr val="FFFFFF"/>
                </a:solidFill>
              </a:rPr>
              <a:t>High-income economy</a:t>
            </a:r>
            <a:endParaRPr lang="en-US" sz="1000" dirty="0"/>
          </a:p>
        </p:txBody>
      </p:sp>
      <p:sp>
        <p:nvSpPr>
          <p:cNvPr id="21" name="Text 19"/>
          <p:cNvSpPr/>
          <p:nvPr/>
        </p:nvSpPr>
        <p:spPr>
          <a:xfrm>
            <a:off x="4846320" y="3794760"/>
            <a:ext cx="4114800" cy="274320"/>
          </a:xfrm>
          <a:prstGeom prst="rect">
            <a:avLst/>
          </a:prstGeom>
          <a:noFill/>
          <a:ln/>
        </p:spPr>
        <p:txBody>
          <a:bodyPr wrap="square" lIns="0" tIns="0" rIns="0" bIns="0" rtlCol="0" anchor="ctr"/>
          <a:lstStyle/>
          <a:p>
            <a:pPr marL="0" indent="0">
              <a:buNone/>
            </a:pPr>
            <a:r>
              <a:rPr lang="en-US" sz="900" i="1" dirty="0">
                <a:solidFill>
                  <a:srgbClr val="5A6A7A"/>
                </a:solidFill>
              </a:rPr>
              <a:t>PWT 11.0 | World Bank | IMF data used throughout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4AD67-ED12-36FE-40C3-DE1D6EA8F70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D231BD3-ECDF-7051-C8D4-F36EF1A7FEC0}"/>
              </a:ext>
            </a:extLst>
          </p:cNvPr>
          <p:cNvSpPr/>
          <p:nvPr/>
        </p:nvSpPr>
        <p:spPr>
          <a:xfrm>
            <a:off x="0" y="0"/>
            <a:ext cx="164592" cy="5143500"/>
          </a:xfrm>
          <a:prstGeom prst="rect">
            <a:avLst/>
          </a:prstGeom>
          <a:solidFill>
            <a:srgbClr val="0D7C8F"/>
          </a:solidFill>
          <a:ln w="12700">
            <a:solidFill>
              <a:srgbClr val="0D7C8F"/>
            </a:solidFill>
            <a:prstDash val="solid"/>
          </a:ln>
        </p:spPr>
      </p:sp>
      <p:sp>
        <p:nvSpPr>
          <p:cNvPr id="3" name="Text 1">
            <a:extLst>
              <a:ext uri="{FF2B5EF4-FFF2-40B4-BE49-F238E27FC236}">
                <a16:creationId xmlns:a16="http://schemas.microsoft.com/office/drawing/2014/main" id="{B27B8BE3-F3EA-51E1-6645-2678C3EF088C}"/>
              </a:ext>
            </a:extLst>
          </p:cNvPr>
          <p:cNvSpPr/>
          <p:nvPr/>
        </p:nvSpPr>
        <p:spPr>
          <a:xfrm>
            <a:off x="256032" y="164592"/>
            <a:ext cx="5486400" cy="256032"/>
          </a:xfrm>
          <a:prstGeom prst="rect">
            <a:avLst/>
          </a:prstGeom>
          <a:noFill/>
          <a:ln/>
        </p:spPr>
        <p:txBody>
          <a:bodyPr wrap="square" lIns="0" tIns="0" rIns="0" bIns="0" rtlCol="0" anchor="ctr"/>
          <a:lstStyle/>
          <a:p>
            <a:pPr marL="0" indent="0">
              <a:buNone/>
            </a:pPr>
            <a:r>
              <a:rPr lang="en-US" sz="800" b="1" kern="0" spc="300" dirty="0">
                <a:solidFill>
                  <a:srgbClr val="0D7C8F"/>
                </a:solidFill>
              </a:rPr>
              <a:t>INTRODUCTION</a:t>
            </a:r>
            <a:endParaRPr lang="en-US" sz="800" dirty="0"/>
          </a:p>
        </p:txBody>
      </p:sp>
      <p:sp>
        <p:nvSpPr>
          <p:cNvPr id="4" name="Text 2">
            <a:extLst>
              <a:ext uri="{FF2B5EF4-FFF2-40B4-BE49-F238E27FC236}">
                <a16:creationId xmlns:a16="http://schemas.microsoft.com/office/drawing/2014/main" id="{ABAD20B6-4BA3-2131-7C98-6DAFD0F748E7}"/>
              </a:ext>
            </a:extLst>
          </p:cNvPr>
          <p:cNvSpPr/>
          <p:nvPr/>
        </p:nvSpPr>
        <p:spPr>
          <a:xfrm>
            <a:off x="256032" y="502920"/>
            <a:ext cx="8631936" cy="594360"/>
          </a:xfrm>
          <a:prstGeom prst="rect">
            <a:avLst/>
          </a:prstGeom>
          <a:noFill/>
          <a:ln/>
        </p:spPr>
        <p:txBody>
          <a:bodyPr wrap="square" lIns="0" tIns="0" rIns="0" bIns="0" rtlCol="0" anchor="ctr"/>
          <a:lstStyle/>
          <a:p>
            <a:pPr marL="0" indent="0">
              <a:buNone/>
            </a:pPr>
            <a:r>
              <a:rPr lang="en-US" sz="2800" b="1" dirty="0">
                <a:solidFill>
                  <a:srgbClr val="2C3E50"/>
                </a:solidFill>
                <a:latin typeface="Cambria" pitchFamily="34" charset="0"/>
                <a:ea typeface="Cambria" pitchFamily="34" charset="-122"/>
                <a:cs typeface="Cambria" pitchFamily="34" charset="-120"/>
              </a:rPr>
              <a:t>The Han River Miracle: Setting the Stage</a:t>
            </a:r>
            <a:endParaRPr lang="en-US" sz="2800" dirty="0"/>
          </a:p>
        </p:txBody>
      </p:sp>
      <p:sp>
        <p:nvSpPr>
          <p:cNvPr id="5" name="Shape 3">
            <a:extLst>
              <a:ext uri="{FF2B5EF4-FFF2-40B4-BE49-F238E27FC236}">
                <a16:creationId xmlns:a16="http://schemas.microsoft.com/office/drawing/2014/main" id="{628F6524-158D-8F8C-4C6A-EF88CB39BC82}"/>
              </a:ext>
            </a:extLst>
          </p:cNvPr>
          <p:cNvSpPr/>
          <p:nvPr/>
        </p:nvSpPr>
        <p:spPr>
          <a:xfrm>
            <a:off x="256032" y="1188720"/>
            <a:ext cx="8631936" cy="0"/>
          </a:xfrm>
          <a:prstGeom prst="line">
            <a:avLst/>
          </a:prstGeom>
          <a:noFill/>
          <a:ln w="19050">
            <a:solidFill>
              <a:srgbClr val="0D7C8F"/>
            </a:solidFill>
            <a:prstDash val="solid"/>
          </a:ln>
        </p:spPr>
      </p:sp>
      <p:sp>
        <p:nvSpPr>
          <p:cNvPr id="6" name="Text 4">
            <a:extLst>
              <a:ext uri="{FF2B5EF4-FFF2-40B4-BE49-F238E27FC236}">
                <a16:creationId xmlns:a16="http://schemas.microsoft.com/office/drawing/2014/main" id="{824BD1F9-7B17-4149-A6BB-D575147C8A46}"/>
              </a:ext>
            </a:extLst>
          </p:cNvPr>
          <p:cNvSpPr/>
          <p:nvPr/>
        </p:nvSpPr>
        <p:spPr>
          <a:xfrm>
            <a:off x="320040" y="2103120"/>
            <a:ext cx="4297680" cy="3197442"/>
          </a:xfrm>
          <a:prstGeom prst="rect">
            <a:avLst/>
          </a:prstGeom>
          <a:noFill/>
          <a:ln/>
        </p:spPr>
        <p:txBody>
          <a:bodyPr wrap="square" lIns="0" tIns="0" rIns="0" bIns="0" rtlCol="0" anchor="ctr"/>
          <a:lstStyle/>
          <a:p>
            <a:pPr marL="0" indent="0" algn="just">
              <a:buNone/>
            </a:pPr>
            <a:r>
              <a:rPr lang="en-US" sz="1300" dirty="0">
                <a:solidFill>
                  <a:srgbClr val="5A6A7A"/>
                </a:solidFill>
              </a:rPr>
              <a:t>South Korea transformed from one of the world's poorest nations after the 1950–53 Korean War into the world's 12th largest economy by 2024: a trajectory unmatched in modern economic history. </a:t>
            </a:r>
          </a:p>
          <a:p>
            <a:pPr marL="0" indent="0" algn="just">
              <a:buNone/>
            </a:pPr>
            <a:endParaRPr lang="en-US" sz="1300" dirty="0">
              <a:solidFill>
                <a:srgbClr val="5A6A7A"/>
              </a:solidFill>
            </a:endParaRPr>
          </a:p>
          <a:p>
            <a:pPr marL="0" indent="0" algn="just">
              <a:buNone/>
            </a:pPr>
            <a:r>
              <a:rPr lang="en-US" sz="1300" dirty="0">
                <a:solidFill>
                  <a:srgbClr val="5A6A7A"/>
                </a:solidFill>
              </a:rPr>
              <a:t>Young (1995), in his canonical decomposition of East Asian growth for the NBER, attributed most of South Korea's pre-1990 growth to factor accumulation (capital deepening, </a:t>
            </a:r>
            <a:r>
              <a:rPr lang="en-US" sz="1300" dirty="0" err="1">
                <a:solidFill>
                  <a:srgbClr val="5A6A7A"/>
                </a:solidFill>
              </a:rPr>
              <a:t>labour</a:t>
            </a:r>
            <a:r>
              <a:rPr lang="en-US" sz="1300" dirty="0">
                <a:solidFill>
                  <a:srgbClr val="5A6A7A"/>
                </a:solidFill>
              </a:rPr>
              <a:t> force participation) rather than TFP</a:t>
            </a:r>
          </a:p>
          <a:p>
            <a:pPr marL="0" indent="0" algn="just">
              <a:buNone/>
            </a:pPr>
            <a:endParaRPr lang="en-US" sz="1300" dirty="0">
              <a:solidFill>
                <a:srgbClr val="5A6A7A"/>
              </a:solidFill>
            </a:endParaRPr>
          </a:p>
          <a:p>
            <a:pPr marL="0" indent="0" algn="just">
              <a:buNone/>
            </a:pPr>
            <a:r>
              <a:rPr lang="en-US" sz="1300" dirty="0">
                <a:solidFill>
                  <a:srgbClr val="5A6A7A"/>
                </a:solidFill>
              </a:rPr>
              <a:t>This analysis remains true as Korea has continued with technological accumulation and capital growth through the years, achieving a LPR of 64.9% and an impressive GDP of</a:t>
            </a:r>
          </a:p>
          <a:p>
            <a:pPr marL="0" indent="0" algn="just">
              <a:buNone/>
            </a:pPr>
            <a:r>
              <a:rPr lang="en-US" sz="1300" dirty="0">
                <a:solidFill>
                  <a:srgbClr val="5A6A7A"/>
                </a:solidFill>
              </a:rPr>
              <a:t>583,601 billion KRW (2020 base)</a:t>
            </a:r>
          </a:p>
          <a:p>
            <a:pPr marL="0" indent="0" algn="just">
              <a:buNone/>
            </a:pPr>
            <a:endParaRPr lang="en-US" sz="1300" dirty="0">
              <a:solidFill>
                <a:srgbClr val="5A6A7A"/>
              </a:solidFill>
            </a:endParaRPr>
          </a:p>
          <a:p>
            <a:pPr marL="0" indent="0" algn="just">
              <a:buNone/>
            </a:pPr>
            <a:endParaRPr lang="en-US" sz="1300" dirty="0">
              <a:solidFill>
                <a:srgbClr val="5A6A7A"/>
              </a:solidFill>
            </a:endParaRPr>
          </a:p>
          <a:p>
            <a:pPr marL="0" indent="0" algn="just">
              <a:buNone/>
            </a:pPr>
            <a:endParaRPr lang="en-US" sz="1300" dirty="0">
              <a:solidFill>
                <a:srgbClr val="5A6A7A"/>
              </a:solidFill>
            </a:endParaRPr>
          </a:p>
          <a:p>
            <a:pPr marL="0" indent="0" algn="just">
              <a:buNone/>
            </a:pPr>
            <a:endParaRPr lang="en-US" sz="1300" dirty="0">
              <a:solidFill>
                <a:srgbClr val="5A6A7A"/>
              </a:solidFill>
            </a:endParaRPr>
          </a:p>
          <a:p>
            <a:pPr marL="0" indent="0" algn="just">
              <a:buNone/>
            </a:pPr>
            <a:endParaRPr lang="en-US" sz="1300" dirty="0">
              <a:solidFill>
                <a:srgbClr val="5A6A7A"/>
              </a:solidFill>
            </a:endParaRPr>
          </a:p>
          <a:p>
            <a:pPr marL="0" indent="0" algn="just">
              <a:buNone/>
            </a:pPr>
            <a:endParaRPr lang="en-US" sz="1300" dirty="0">
              <a:solidFill>
                <a:srgbClr val="5A6A7A"/>
              </a:solidFill>
            </a:endParaRPr>
          </a:p>
          <a:p>
            <a:pPr marL="0" indent="0" algn="just">
              <a:buNone/>
            </a:pPr>
            <a:endParaRPr lang="en-US" sz="1300" dirty="0">
              <a:solidFill>
                <a:srgbClr val="5A6A7A"/>
              </a:solidFill>
            </a:endParaRPr>
          </a:p>
          <a:p>
            <a:pPr marL="0" indent="0" algn="just">
              <a:buNone/>
            </a:pPr>
            <a:endParaRPr lang="en-US" sz="1300" dirty="0">
              <a:solidFill>
                <a:srgbClr val="5A6A7A"/>
              </a:solidFill>
            </a:endParaRPr>
          </a:p>
          <a:p>
            <a:pPr marL="0" indent="0" algn="just">
              <a:buNone/>
            </a:pPr>
            <a:endParaRPr lang="en-US" sz="1300" dirty="0"/>
          </a:p>
        </p:txBody>
      </p:sp>
      <p:sp>
        <p:nvSpPr>
          <p:cNvPr id="11" name="Text 9">
            <a:extLst>
              <a:ext uri="{FF2B5EF4-FFF2-40B4-BE49-F238E27FC236}">
                <a16:creationId xmlns:a16="http://schemas.microsoft.com/office/drawing/2014/main" id="{4BCB444D-2603-CE7A-69FC-D846320E535A}"/>
              </a:ext>
            </a:extLst>
          </p:cNvPr>
          <p:cNvSpPr/>
          <p:nvPr/>
        </p:nvSpPr>
        <p:spPr>
          <a:xfrm>
            <a:off x="4846320" y="1920240"/>
            <a:ext cx="1920240" cy="365760"/>
          </a:xfrm>
          <a:prstGeom prst="rect">
            <a:avLst/>
          </a:prstGeom>
          <a:noFill/>
          <a:ln/>
        </p:spPr>
        <p:txBody>
          <a:bodyPr wrap="square" lIns="0" tIns="0" rIns="0" bIns="0" rtlCol="0" anchor="ctr"/>
          <a:lstStyle/>
          <a:p>
            <a:pPr marL="0" indent="0" algn="ctr">
              <a:buNone/>
            </a:pPr>
            <a:r>
              <a:rPr lang="en-US" sz="1000" dirty="0">
                <a:solidFill>
                  <a:srgbClr val="FFFFFF"/>
                </a:solidFill>
              </a:rPr>
              <a:t>GD per capita 1953</a:t>
            </a:r>
            <a:endParaRPr lang="en-US" sz="1000" dirty="0"/>
          </a:p>
          <a:p>
            <a:pPr marL="0" indent="0" algn="ctr">
              <a:buNone/>
            </a:pPr>
            <a:r>
              <a:rPr lang="en-US" sz="1000" dirty="0">
                <a:solidFill>
                  <a:srgbClr val="FFFFFF"/>
                </a:solidFill>
              </a:rPr>
              <a:t>(~$67 USD)</a:t>
            </a:r>
            <a:endParaRPr lang="en-US" sz="1000" dirty="0"/>
          </a:p>
        </p:txBody>
      </p:sp>
      <p:sp>
        <p:nvSpPr>
          <p:cNvPr id="13" name="Text 11">
            <a:extLst>
              <a:ext uri="{FF2B5EF4-FFF2-40B4-BE49-F238E27FC236}">
                <a16:creationId xmlns:a16="http://schemas.microsoft.com/office/drawing/2014/main" id="{3C4EF4AD-5FAA-0A4A-E817-DEACF4C9504D}"/>
              </a:ext>
            </a:extLst>
          </p:cNvPr>
          <p:cNvSpPr/>
          <p:nvPr/>
        </p:nvSpPr>
        <p:spPr>
          <a:xfrm>
            <a:off x="6995160" y="1371600"/>
            <a:ext cx="1920240" cy="54864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35,000+</a:t>
            </a:r>
            <a:endParaRPr lang="en-US" sz="2600" dirty="0"/>
          </a:p>
        </p:txBody>
      </p:sp>
      <p:sp>
        <p:nvSpPr>
          <p:cNvPr id="14" name="Text 12">
            <a:extLst>
              <a:ext uri="{FF2B5EF4-FFF2-40B4-BE49-F238E27FC236}">
                <a16:creationId xmlns:a16="http://schemas.microsoft.com/office/drawing/2014/main" id="{9746549E-0E3D-2E50-C36E-1422EED54C55}"/>
              </a:ext>
            </a:extLst>
          </p:cNvPr>
          <p:cNvSpPr/>
          <p:nvPr/>
        </p:nvSpPr>
        <p:spPr>
          <a:xfrm>
            <a:off x="6995160" y="1920240"/>
            <a:ext cx="1920240" cy="365760"/>
          </a:xfrm>
          <a:prstGeom prst="rect">
            <a:avLst/>
          </a:prstGeom>
          <a:noFill/>
          <a:ln/>
        </p:spPr>
        <p:txBody>
          <a:bodyPr wrap="square" lIns="0" tIns="0" rIns="0" bIns="0" rtlCol="0" anchor="ctr"/>
          <a:lstStyle/>
          <a:p>
            <a:pPr marL="0" indent="0" algn="ctr">
              <a:buNone/>
            </a:pPr>
            <a:r>
              <a:rPr lang="en-US" sz="1000" dirty="0">
                <a:solidFill>
                  <a:srgbClr val="FFFFFF"/>
                </a:solidFill>
              </a:rPr>
              <a:t>GDP per capita 2024</a:t>
            </a:r>
            <a:endParaRPr lang="en-US" sz="1000" dirty="0"/>
          </a:p>
          <a:p>
            <a:pPr marL="0" indent="0" algn="ctr">
              <a:buNone/>
            </a:pPr>
            <a:r>
              <a:rPr lang="en-US" sz="1000" dirty="0">
                <a:solidFill>
                  <a:srgbClr val="FFFFFF"/>
                </a:solidFill>
              </a:rPr>
              <a:t>(USD)</a:t>
            </a:r>
            <a:endParaRPr lang="en-US" sz="1000" dirty="0"/>
          </a:p>
        </p:txBody>
      </p:sp>
      <p:sp>
        <p:nvSpPr>
          <p:cNvPr id="16" name="Text 14">
            <a:extLst>
              <a:ext uri="{FF2B5EF4-FFF2-40B4-BE49-F238E27FC236}">
                <a16:creationId xmlns:a16="http://schemas.microsoft.com/office/drawing/2014/main" id="{41D8E95F-78A2-D4A6-0D78-09B14849BFAA}"/>
              </a:ext>
            </a:extLst>
          </p:cNvPr>
          <p:cNvSpPr/>
          <p:nvPr/>
        </p:nvSpPr>
        <p:spPr>
          <a:xfrm>
            <a:off x="4846320" y="2560320"/>
            <a:ext cx="1920240" cy="54864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7.1%</a:t>
            </a:r>
            <a:endParaRPr lang="en-US" sz="2600" dirty="0"/>
          </a:p>
        </p:txBody>
      </p:sp>
      <p:sp>
        <p:nvSpPr>
          <p:cNvPr id="17" name="Text 15">
            <a:extLst>
              <a:ext uri="{FF2B5EF4-FFF2-40B4-BE49-F238E27FC236}">
                <a16:creationId xmlns:a16="http://schemas.microsoft.com/office/drawing/2014/main" id="{11A7DC7D-BCBE-6D13-3461-24F12C3D5B16}"/>
              </a:ext>
            </a:extLst>
          </p:cNvPr>
          <p:cNvSpPr/>
          <p:nvPr/>
        </p:nvSpPr>
        <p:spPr>
          <a:xfrm>
            <a:off x="4846320" y="3108960"/>
            <a:ext cx="1920240" cy="365760"/>
          </a:xfrm>
          <a:prstGeom prst="rect">
            <a:avLst/>
          </a:prstGeom>
          <a:noFill/>
          <a:ln/>
        </p:spPr>
        <p:txBody>
          <a:bodyPr wrap="square" lIns="0" tIns="0" rIns="0" bIns="0" rtlCol="0" anchor="ctr"/>
          <a:lstStyle/>
          <a:p>
            <a:pPr marL="0" indent="0" algn="ctr">
              <a:buNone/>
            </a:pPr>
            <a:r>
              <a:rPr lang="en-US" sz="1000" dirty="0">
                <a:solidFill>
                  <a:srgbClr val="FFFFFF"/>
                </a:solidFill>
              </a:rPr>
              <a:t>Avg. annual growth</a:t>
            </a:r>
            <a:endParaRPr lang="en-US" sz="1000" dirty="0"/>
          </a:p>
          <a:p>
            <a:pPr marL="0" indent="0" algn="ctr">
              <a:buNone/>
            </a:pPr>
            <a:r>
              <a:rPr lang="en-US" sz="1000" dirty="0">
                <a:solidFill>
                  <a:srgbClr val="FFFFFF"/>
                </a:solidFill>
              </a:rPr>
              <a:t>1960–1995</a:t>
            </a:r>
            <a:endParaRPr lang="en-US" sz="1000" dirty="0"/>
          </a:p>
        </p:txBody>
      </p:sp>
      <p:sp>
        <p:nvSpPr>
          <p:cNvPr id="19" name="Text 17">
            <a:extLst>
              <a:ext uri="{FF2B5EF4-FFF2-40B4-BE49-F238E27FC236}">
                <a16:creationId xmlns:a16="http://schemas.microsoft.com/office/drawing/2014/main" id="{84E022D4-7F9F-B148-F83C-98EC2C0DE21E}"/>
              </a:ext>
            </a:extLst>
          </p:cNvPr>
          <p:cNvSpPr/>
          <p:nvPr/>
        </p:nvSpPr>
        <p:spPr>
          <a:xfrm>
            <a:off x="6995160" y="2560320"/>
            <a:ext cx="1920240" cy="54864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OECD</a:t>
            </a:r>
            <a:endParaRPr lang="en-US" sz="2600" dirty="0"/>
          </a:p>
        </p:txBody>
      </p:sp>
      <p:sp>
        <p:nvSpPr>
          <p:cNvPr id="20" name="Text 18">
            <a:extLst>
              <a:ext uri="{FF2B5EF4-FFF2-40B4-BE49-F238E27FC236}">
                <a16:creationId xmlns:a16="http://schemas.microsoft.com/office/drawing/2014/main" id="{D3E96F01-ABBF-C275-D9FE-57E0A2EBD90B}"/>
              </a:ext>
            </a:extLst>
          </p:cNvPr>
          <p:cNvSpPr/>
          <p:nvPr/>
        </p:nvSpPr>
        <p:spPr>
          <a:xfrm>
            <a:off x="6995160" y="3108960"/>
            <a:ext cx="1920240" cy="365760"/>
          </a:xfrm>
          <a:prstGeom prst="rect">
            <a:avLst/>
          </a:prstGeom>
          <a:noFill/>
          <a:ln/>
        </p:spPr>
        <p:txBody>
          <a:bodyPr wrap="square" lIns="0" tIns="0" rIns="0" bIns="0" rtlCol="0" anchor="ctr"/>
          <a:lstStyle/>
          <a:p>
            <a:pPr marL="0" indent="0" algn="ctr">
              <a:buNone/>
            </a:pPr>
            <a:r>
              <a:rPr lang="en-US" sz="1000" dirty="0">
                <a:solidFill>
                  <a:srgbClr val="FFFFFF"/>
                </a:solidFill>
              </a:rPr>
              <a:t>Member since 1996</a:t>
            </a:r>
            <a:endParaRPr lang="en-US" sz="1000" dirty="0"/>
          </a:p>
          <a:p>
            <a:pPr marL="0" indent="0" algn="ctr">
              <a:buNone/>
            </a:pPr>
            <a:r>
              <a:rPr lang="en-US" sz="1000" dirty="0">
                <a:solidFill>
                  <a:srgbClr val="FFFFFF"/>
                </a:solidFill>
              </a:rPr>
              <a:t>High-income economy</a:t>
            </a:r>
            <a:endParaRPr lang="en-US" sz="1000" dirty="0"/>
          </a:p>
        </p:txBody>
      </p:sp>
      <p:pic>
        <p:nvPicPr>
          <p:cNvPr id="7" name="Picture 6">
            <a:extLst>
              <a:ext uri="{FF2B5EF4-FFF2-40B4-BE49-F238E27FC236}">
                <a16:creationId xmlns:a16="http://schemas.microsoft.com/office/drawing/2014/main" id="{4EFED914-74A9-4799-B8DC-6A85977B76CC}"/>
              </a:ext>
            </a:extLst>
          </p:cNvPr>
          <p:cNvPicPr>
            <a:picLocks noChangeAspect="1"/>
          </p:cNvPicPr>
          <p:nvPr/>
        </p:nvPicPr>
        <p:blipFill>
          <a:blip r:embed="rId3"/>
          <a:stretch>
            <a:fillRect/>
          </a:stretch>
        </p:blipFill>
        <p:spPr>
          <a:xfrm>
            <a:off x="5081641" y="1581017"/>
            <a:ext cx="3162574" cy="3055885"/>
          </a:xfrm>
          <a:prstGeom prst="rect">
            <a:avLst/>
          </a:prstGeom>
        </p:spPr>
      </p:pic>
    </p:spTree>
    <p:extLst>
      <p:ext uri="{BB962C8B-B14F-4D97-AF65-F5344CB8AC3E}">
        <p14:creationId xmlns:p14="http://schemas.microsoft.com/office/powerpoint/2010/main" val="2297393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CD093-B562-298B-BE4F-AE3A036D2C9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C7603CB-784E-478C-54DA-3E4E8877E798}"/>
              </a:ext>
            </a:extLst>
          </p:cNvPr>
          <p:cNvSpPr/>
          <p:nvPr/>
        </p:nvSpPr>
        <p:spPr>
          <a:xfrm>
            <a:off x="0" y="0"/>
            <a:ext cx="164592" cy="5143500"/>
          </a:xfrm>
          <a:prstGeom prst="rect">
            <a:avLst/>
          </a:prstGeom>
          <a:solidFill>
            <a:srgbClr val="0D7C8F"/>
          </a:solidFill>
          <a:ln w="12700">
            <a:solidFill>
              <a:srgbClr val="0D7C8F"/>
            </a:solidFill>
            <a:prstDash val="solid"/>
          </a:ln>
        </p:spPr>
      </p:sp>
      <p:sp>
        <p:nvSpPr>
          <p:cNvPr id="3" name="Text 1">
            <a:extLst>
              <a:ext uri="{FF2B5EF4-FFF2-40B4-BE49-F238E27FC236}">
                <a16:creationId xmlns:a16="http://schemas.microsoft.com/office/drawing/2014/main" id="{D5A64A33-D572-AE43-C7BB-65FB6ABD2509}"/>
              </a:ext>
            </a:extLst>
          </p:cNvPr>
          <p:cNvSpPr/>
          <p:nvPr/>
        </p:nvSpPr>
        <p:spPr>
          <a:xfrm>
            <a:off x="256032" y="164592"/>
            <a:ext cx="5486400" cy="256032"/>
          </a:xfrm>
          <a:prstGeom prst="rect">
            <a:avLst/>
          </a:prstGeom>
          <a:noFill/>
          <a:ln/>
        </p:spPr>
        <p:txBody>
          <a:bodyPr wrap="square" lIns="0" tIns="0" rIns="0" bIns="0" rtlCol="0" anchor="ctr"/>
          <a:lstStyle/>
          <a:p>
            <a:pPr marL="0" indent="0">
              <a:buNone/>
            </a:pPr>
            <a:r>
              <a:rPr lang="en-US" sz="800" b="1" kern="0" spc="300" dirty="0">
                <a:solidFill>
                  <a:srgbClr val="0D7C8F"/>
                </a:solidFill>
              </a:rPr>
              <a:t>INTRODUCTION</a:t>
            </a:r>
            <a:endParaRPr lang="en-US" sz="800" dirty="0"/>
          </a:p>
        </p:txBody>
      </p:sp>
      <p:sp>
        <p:nvSpPr>
          <p:cNvPr id="4" name="Text 2">
            <a:extLst>
              <a:ext uri="{FF2B5EF4-FFF2-40B4-BE49-F238E27FC236}">
                <a16:creationId xmlns:a16="http://schemas.microsoft.com/office/drawing/2014/main" id="{03B160E9-6AE8-C1B6-594A-786D6A6B499F}"/>
              </a:ext>
            </a:extLst>
          </p:cNvPr>
          <p:cNvSpPr/>
          <p:nvPr/>
        </p:nvSpPr>
        <p:spPr>
          <a:xfrm>
            <a:off x="256032" y="502920"/>
            <a:ext cx="8631936" cy="594360"/>
          </a:xfrm>
          <a:prstGeom prst="rect">
            <a:avLst/>
          </a:prstGeom>
          <a:noFill/>
          <a:ln/>
        </p:spPr>
        <p:txBody>
          <a:bodyPr wrap="square" lIns="0" tIns="0" rIns="0" bIns="0" rtlCol="0" anchor="ctr"/>
          <a:lstStyle/>
          <a:p>
            <a:pPr marL="0" indent="0">
              <a:buNone/>
            </a:pPr>
            <a:r>
              <a:rPr lang="en-US" sz="2800" b="1" dirty="0">
                <a:solidFill>
                  <a:srgbClr val="2C3E50"/>
                </a:solidFill>
                <a:latin typeface="Cambria" pitchFamily="34" charset="0"/>
                <a:ea typeface="Cambria" pitchFamily="34" charset="-122"/>
                <a:cs typeface="Cambria" pitchFamily="34" charset="-120"/>
              </a:rPr>
              <a:t>The Han River Miracle: Setting the Stage</a:t>
            </a:r>
            <a:endParaRPr lang="en-US" sz="2800" dirty="0"/>
          </a:p>
        </p:txBody>
      </p:sp>
      <p:sp>
        <p:nvSpPr>
          <p:cNvPr id="5" name="Shape 3">
            <a:extLst>
              <a:ext uri="{FF2B5EF4-FFF2-40B4-BE49-F238E27FC236}">
                <a16:creationId xmlns:a16="http://schemas.microsoft.com/office/drawing/2014/main" id="{1D76C212-06E1-F4D4-954A-7B13D556B2C6}"/>
              </a:ext>
            </a:extLst>
          </p:cNvPr>
          <p:cNvSpPr/>
          <p:nvPr/>
        </p:nvSpPr>
        <p:spPr>
          <a:xfrm>
            <a:off x="256032" y="1188720"/>
            <a:ext cx="8631936" cy="0"/>
          </a:xfrm>
          <a:prstGeom prst="line">
            <a:avLst/>
          </a:prstGeom>
          <a:noFill/>
          <a:ln w="19050">
            <a:solidFill>
              <a:srgbClr val="0D7C8F"/>
            </a:solidFill>
            <a:prstDash val="solid"/>
          </a:ln>
        </p:spPr>
      </p:sp>
      <p:sp>
        <p:nvSpPr>
          <p:cNvPr id="6" name="Text 4">
            <a:extLst>
              <a:ext uri="{FF2B5EF4-FFF2-40B4-BE49-F238E27FC236}">
                <a16:creationId xmlns:a16="http://schemas.microsoft.com/office/drawing/2014/main" id="{3300B6DE-0AD6-2BE0-7D48-F712895FE249}"/>
              </a:ext>
            </a:extLst>
          </p:cNvPr>
          <p:cNvSpPr/>
          <p:nvPr/>
        </p:nvSpPr>
        <p:spPr>
          <a:xfrm>
            <a:off x="320040" y="1920238"/>
            <a:ext cx="4297680" cy="2811041"/>
          </a:xfrm>
          <a:prstGeom prst="rect">
            <a:avLst/>
          </a:prstGeom>
          <a:noFill/>
          <a:ln/>
        </p:spPr>
        <p:txBody>
          <a:bodyPr wrap="square" lIns="0" tIns="0" rIns="0" bIns="0" rtlCol="0" anchor="ctr"/>
          <a:lstStyle/>
          <a:p>
            <a:pPr marL="0" indent="0">
              <a:buNone/>
            </a:pPr>
            <a:endParaRPr lang="en-US" sz="1300" dirty="0">
              <a:solidFill>
                <a:srgbClr val="5A6A7A"/>
              </a:solidFill>
            </a:endParaRPr>
          </a:p>
          <a:p>
            <a:pPr marL="0" indent="0">
              <a:buNone/>
            </a:pPr>
            <a:endParaRPr lang="en-US" sz="1300" dirty="0">
              <a:solidFill>
                <a:srgbClr val="5A6A7A"/>
              </a:solidFill>
            </a:endParaRPr>
          </a:p>
          <a:p>
            <a:pPr marL="0" indent="0" algn="just">
              <a:buNone/>
            </a:pPr>
            <a:r>
              <a:rPr lang="en-US" sz="1300" dirty="0">
                <a:solidFill>
                  <a:srgbClr val="5A6A7A"/>
                </a:solidFill>
              </a:rPr>
              <a:t>This reflects the chaebol-led investment boom of the early 1990s — Daewoo, Samsung, Hyundai and LG simultaneously expanding into semiconductors, automobiles, and electronics. Then comes the AFC Krugman argued it was institutional failure. However, its more likely, that it was caused due to unlimited capital inflows</a:t>
            </a:r>
          </a:p>
          <a:p>
            <a:pPr marL="0" indent="0" algn="just">
              <a:buNone/>
            </a:pPr>
            <a:endParaRPr lang="en-US" sz="1300" dirty="0">
              <a:solidFill>
                <a:srgbClr val="5A6A7A"/>
              </a:solidFill>
            </a:endParaRPr>
          </a:p>
          <a:p>
            <a:pPr marL="0" indent="0" algn="just">
              <a:buNone/>
            </a:pPr>
            <a:r>
              <a:rPr lang="en-US" sz="1300" dirty="0">
                <a:solidFill>
                  <a:srgbClr val="5A6A7A"/>
                </a:solidFill>
              </a:rPr>
              <a:t>South Korea took significant hits during the AFC which saw large scale capital decumulation. The IMF measures to consolidate banking in the face of adverse selection caused by unclear regulations on guarantees, also opened up the market to Foreign capital inflows</a:t>
            </a:r>
          </a:p>
          <a:p>
            <a:pPr marL="0" indent="0">
              <a:buNone/>
            </a:pPr>
            <a:endParaRPr lang="en-US" sz="1300" dirty="0">
              <a:solidFill>
                <a:srgbClr val="5A6A7A"/>
              </a:solidFill>
            </a:endParaRPr>
          </a:p>
          <a:p>
            <a:pPr marL="0" indent="0">
              <a:buNone/>
            </a:pPr>
            <a:endParaRPr lang="en-US" sz="1300" dirty="0">
              <a:solidFill>
                <a:srgbClr val="5A6A7A"/>
              </a:solidFill>
            </a:endParaRPr>
          </a:p>
          <a:p>
            <a:pPr marL="0" indent="0">
              <a:buNone/>
            </a:pPr>
            <a:endParaRPr lang="en-US" sz="1300" dirty="0">
              <a:solidFill>
                <a:srgbClr val="5A6A7A"/>
              </a:solidFill>
            </a:endParaRPr>
          </a:p>
          <a:p>
            <a:pPr marL="0" indent="0">
              <a:buNone/>
            </a:pPr>
            <a:endParaRPr lang="en-US" sz="1300" dirty="0">
              <a:solidFill>
                <a:srgbClr val="5A6A7A"/>
              </a:solidFill>
            </a:endParaRPr>
          </a:p>
          <a:p>
            <a:pPr marL="0" indent="0">
              <a:buNone/>
            </a:pPr>
            <a:endParaRPr lang="en-US" sz="1300" dirty="0">
              <a:solidFill>
                <a:srgbClr val="5A6A7A"/>
              </a:solidFill>
            </a:endParaRPr>
          </a:p>
          <a:p>
            <a:pPr marL="0" indent="0">
              <a:buNone/>
            </a:pPr>
            <a:endParaRPr lang="en-US" sz="1300" dirty="0">
              <a:solidFill>
                <a:srgbClr val="5A6A7A"/>
              </a:solidFill>
            </a:endParaRPr>
          </a:p>
          <a:p>
            <a:pPr marL="0" indent="0">
              <a:buNone/>
            </a:pPr>
            <a:endParaRPr lang="en-US" sz="1300" dirty="0">
              <a:solidFill>
                <a:srgbClr val="5A6A7A"/>
              </a:solidFill>
            </a:endParaRPr>
          </a:p>
          <a:p>
            <a:pPr marL="0" indent="0">
              <a:buNone/>
            </a:pPr>
            <a:endParaRPr lang="en-US" sz="1300" dirty="0">
              <a:solidFill>
                <a:srgbClr val="5A6A7A"/>
              </a:solidFill>
            </a:endParaRPr>
          </a:p>
          <a:p>
            <a:pPr marL="0" indent="0">
              <a:buNone/>
            </a:pPr>
            <a:endParaRPr lang="en-US" sz="1300" dirty="0"/>
          </a:p>
        </p:txBody>
      </p:sp>
      <p:sp>
        <p:nvSpPr>
          <p:cNvPr id="11" name="Text 9">
            <a:extLst>
              <a:ext uri="{FF2B5EF4-FFF2-40B4-BE49-F238E27FC236}">
                <a16:creationId xmlns:a16="http://schemas.microsoft.com/office/drawing/2014/main" id="{FFF97AFC-6477-3670-2DF3-1ED479D5CCFF}"/>
              </a:ext>
            </a:extLst>
          </p:cNvPr>
          <p:cNvSpPr/>
          <p:nvPr/>
        </p:nvSpPr>
        <p:spPr>
          <a:xfrm>
            <a:off x="4846320" y="1920240"/>
            <a:ext cx="1920240" cy="365760"/>
          </a:xfrm>
          <a:prstGeom prst="rect">
            <a:avLst/>
          </a:prstGeom>
          <a:noFill/>
          <a:ln/>
        </p:spPr>
        <p:txBody>
          <a:bodyPr wrap="square" lIns="0" tIns="0" rIns="0" bIns="0" rtlCol="0" anchor="ctr"/>
          <a:lstStyle/>
          <a:p>
            <a:pPr marL="0" indent="0" algn="ctr">
              <a:buNone/>
            </a:pPr>
            <a:r>
              <a:rPr lang="en-US" sz="1000" dirty="0">
                <a:solidFill>
                  <a:srgbClr val="FFFFFF"/>
                </a:solidFill>
              </a:rPr>
              <a:t>GD per capita 1953</a:t>
            </a:r>
            <a:endParaRPr lang="en-US" sz="1000" dirty="0"/>
          </a:p>
          <a:p>
            <a:pPr marL="0" indent="0" algn="ctr">
              <a:buNone/>
            </a:pPr>
            <a:r>
              <a:rPr lang="en-US" sz="1000" dirty="0">
                <a:solidFill>
                  <a:srgbClr val="FFFFFF"/>
                </a:solidFill>
              </a:rPr>
              <a:t>(~$67 USD)</a:t>
            </a:r>
            <a:endParaRPr lang="en-US" sz="1000" dirty="0"/>
          </a:p>
        </p:txBody>
      </p:sp>
      <p:sp>
        <p:nvSpPr>
          <p:cNvPr id="13" name="Text 11">
            <a:extLst>
              <a:ext uri="{FF2B5EF4-FFF2-40B4-BE49-F238E27FC236}">
                <a16:creationId xmlns:a16="http://schemas.microsoft.com/office/drawing/2014/main" id="{D5136A15-2047-9F9D-9113-C13EF760FEF8}"/>
              </a:ext>
            </a:extLst>
          </p:cNvPr>
          <p:cNvSpPr/>
          <p:nvPr/>
        </p:nvSpPr>
        <p:spPr>
          <a:xfrm>
            <a:off x="6995160" y="1371600"/>
            <a:ext cx="1920240" cy="54864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35,000+</a:t>
            </a:r>
            <a:endParaRPr lang="en-US" sz="2600" dirty="0"/>
          </a:p>
        </p:txBody>
      </p:sp>
      <p:sp>
        <p:nvSpPr>
          <p:cNvPr id="14" name="Text 12">
            <a:extLst>
              <a:ext uri="{FF2B5EF4-FFF2-40B4-BE49-F238E27FC236}">
                <a16:creationId xmlns:a16="http://schemas.microsoft.com/office/drawing/2014/main" id="{AAB7C7A5-E1CA-C2F8-A1FF-A0590009B192}"/>
              </a:ext>
            </a:extLst>
          </p:cNvPr>
          <p:cNvSpPr/>
          <p:nvPr/>
        </p:nvSpPr>
        <p:spPr>
          <a:xfrm>
            <a:off x="6995160" y="1920240"/>
            <a:ext cx="1920240" cy="365760"/>
          </a:xfrm>
          <a:prstGeom prst="rect">
            <a:avLst/>
          </a:prstGeom>
          <a:noFill/>
          <a:ln/>
        </p:spPr>
        <p:txBody>
          <a:bodyPr wrap="square" lIns="0" tIns="0" rIns="0" bIns="0" rtlCol="0" anchor="ctr"/>
          <a:lstStyle/>
          <a:p>
            <a:pPr marL="0" indent="0" algn="ctr">
              <a:buNone/>
            </a:pPr>
            <a:r>
              <a:rPr lang="en-US" sz="1000" dirty="0">
                <a:solidFill>
                  <a:srgbClr val="FFFFFF"/>
                </a:solidFill>
              </a:rPr>
              <a:t>GDP per capita 2024</a:t>
            </a:r>
            <a:endParaRPr lang="en-US" sz="1000" dirty="0"/>
          </a:p>
          <a:p>
            <a:pPr marL="0" indent="0" algn="ctr">
              <a:buNone/>
            </a:pPr>
            <a:r>
              <a:rPr lang="en-US" sz="1000" dirty="0">
                <a:solidFill>
                  <a:srgbClr val="FFFFFF"/>
                </a:solidFill>
              </a:rPr>
              <a:t>(USD)</a:t>
            </a:r>
            <a:endParaRPr lang="en-US" sz="1000" dirty="0"/>
          </a:p>
        </p:txBody>
      </p:sp>
      <p:sp>
        <p:nvSpPr>
          <p:cNvPr id="16" name="Text 14">
            <a:extLst>
              <a:ext uri="{FF2B5EF4-FFF2-40B4-BE49-F238E27FC236}">
                <a16:creationId xmlns:a16="http://schemas.microsoft.com/office/drawing/2014/main" id="{FDF4B7DC-21E1-DAC0-C63C-F4590E43C94A}"/>
              </a:ext>
            </a:extLst>
          </p:cNvPr>
          <p:cNvSpPr/>
          <p:nvPr/>
        </p:nvSpPr>
        <p:spPr>
          <a:xfrm>
            <a:off x="4846320" y="2560320"/>
            <a:ext cx="1920240" cy="54864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7.1%</a:t>
            </a:r>
            <a:endParaRPr lang="en-US" sz="2600" dirty="0"/>
          </a:p>
        </p:txBody>
      </p:sp>
      <p:sp>
        <p:nvSpPr>
          <p:cNvPr id="17" name="Text 15">
            <a:extLst>
              <a:ext uri="{FF2B5EF4-FFF2-40B4-BE49-F238E27FC236}">
                <a16:creationId xmlns:a16="http://schemas.microsoft.com/office/drawing/2014/main" id="{8FFAC552-04C0-9024-C653-3A6D37F34CD0}"/>
              </a:ext>
            </a:extLst>
          </p:cNvPr>
          <p:cNvSpPr/>
          <p:nvPr/>
        </p:nvSpPr>
        <p:spPr>
          <a:xfrm>
            <a:off x="4846320" y="3108960"/>
            <a:ext cx="1920240" cy="365760"/>
          </a:xfrm>
          <a:prstGeom prst="rect">
            <a:avLst/>
          </a:prstGeom>
          <a:noFill/>
          <a:ln/>
        </p:spPr>
        <p:txBody>
          <a:bodyPr wrap="square" lIns="0" tIns="0" rIns="0" bIns="0" rtlCol="0" anchor="ctr"/>
          <a:lstStyle/>
          <a:p>
            <a:pPr marL="0" indent="0" algn="ctr">
              <a:buNone/>
            </a:pPr>
            <a:r>
              <a:rPr lang="en-US" sz="1000" dirty="0">
                <a:solidFill>
                  <a:srgbClr val="FFFFFF"/>
                </a:solidFill>
              </a:rPr>
              <a:t>Avg. annual growth</a:t>
            </a:r>
            <a:endParaRPr lang="en-US" sz="1000" dirty="0"/>
          </a:p>
          <a:p>
            <a:pPr marL="0" indent="0" algn="ctr">
              <a:buNone/>
            </a:pPr>
            <a:r>
              <a:rPr lang="en-US" sz="1000" dirty="0">
                <a:solidFill>
                  <a:srgbClr val="FFFFFF"/>
                </a:solidFill>
              </a:rPr>
              <a:t>1960–1995</a:t>
            </a:r>
            <a:endParaRPr lang="en-US" sz="1000" dirty="0"/>
          </a:p>
        </p:txBody>
      </p:sp>
      <p:sp>
        <p:nvSpPr>
          <p:cNvPr id="19" name="Text 17">
            <a:extLst>
              <a:ext uri="{FF2B5EF4-FFF2-40B4-BE49-F238E27FC236}">
                <a16:creationId xmlns:a16="http://schemas.microsoft.com/office/drawing/2014/main" id="{9AA0AF9A-7510-09CE-5E07-87AC42A4CA30}"/>
              </a:ext>
            </a:extLst>
          </p:cNvPr>
          <p:cNvSpPr/>
          <p:nvPr/>
        </p:nvSpPr>
        <p:spPr>
          <a:xfrm>
            <a:off x="6995160" y="2560320"/>
            <a:ext cx="1920240" cy="54864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OECD</a:t>
            </a:r>
            <a:endParaRPr lang="en-US" sz="2600" dirty="0"/>
          </a:p>
        </p:txBody>
      </p:sp>
      <p:sp>
        <p:nvSpPr>
          <p:cNvPr id="20" name="Text 18">
            <a:extLst>
              <a:ext uri="{FF2B5EF4-FFF2-40B4-BE49-F238E27FC236}">
                <a16:creationId xmlns:a16="http://schemas.microsoft.com/office/drawing/2014/main" id="{9DC09F39-AC6C-F42A-4537-D0147F683818}"/>
              </a:ext>
            </a:extLst>
          </p:cNvPr>
          <p:cNvSpPr/>
          <p:nvPr/>
        </p:nvSpPr>
        <p:spPr>
          <a:xfrm>
            <a:off x="6995160" y="3108960"/>
            <a:ext cx="1920240" cy="365760"/>
          </a:xfrm>
          <a:prstGeom prst="rect">
            <a:avLst/>
          </a:prstGeom>
          <a:noFill/>
          <a:ln/>
        </p:spPr>
        <p:txBody>
          <a:bodyPr wrap="square" lIns="0" tIns="0" rIns="0" bIns="0" rtlCol="0" anchor="ctr"/>
          <a:lstStyle/>
          <a:p>
            <a:pPr marL="0" indent="0" algn="ctr">
              <a:buNone/>
            </a:pPr>
            <a:r>
              <a:rPr lang="en-US" sz="1000" dirty="0">
                <a:solidFill>
                  <a:srgbClr val="FFFFFF"/>
                </a:solidFill>
              </a:rPr>
              <a:t>Member since 1996</a:t>
            </a:r>
            <a:endParaRPr lang="en-US" sz="1000" dirty="0"/>
          </a:p>
          <a:p>
            <a:pPr marL="0" indent="0" algn="ctr">
              <a:buNone/>
            </a:pPr>
            <a:r>
              <a:rPr lang="en-US" sz="1000" dirty="0">
                <a:solidFill>
                  <a:srgbClr val="FFFFFF"/>
                </a:solidFill>
              </a:rPr>
              <a:t>High-income economy</a:t>
            </a:r>
            <a:endParaRPr lang="en-US" sz="1000" dirty="0"/>
          </a:p>
        </p:txBody>
      </p:sp>
      <p:pic>
        <p:nvPicPr>
          <p:cNvPr id="8" name="Picture 7">
            <a:extLst>
              <a:ext uri="{FF2B5EF4-FFF2-40B4-BE49-F238E27FC236}">
                <a16:creationId xmlns:a16="http://schemas.microsoft.com/office/drawing/2014/main" id="{0B1F0015-44A0-91BA-B333-C8DF3CD2022B}"/>
              </a:ext>
            </a:extLst>
          </p:cNvPr>
          <p:cNvPicPr>
            <a:picLocks noChangeAspect="1"/>
          </p:cNvPicPr>
          <p:nvPr/>
        </p:nvPicPr>
        <p:blipFill>
          <a:blip r:embed="rId3"/>
          <a:stretch>
            <a:fillRect/>
          </a:stretch>
        </p:blipFill>
        <p:spPr>
          <a:xfrm>
            <a:off x="4913820" y="1371600"/>
            <a:ext cx="3551754" cy="1551843"/>
          </a:xfrm>
          <a:prstGeom prst="rect">
            <a:avLst/>
          </a:prstGeom>
        </p:spPr>
      </p:pic>
      <p:pic>
        <p:nvPicPr>
          <p:cNvPr id="10" name="Picture 9">
            <a:extLst>
              <a:ext uri="{FF2B5EF4-FFF2-40B4-BE49-F238E27FC236}">
                <a16:creationId xmlns:a16="http://schemas.microsoft.com/office/drawing/2014/main" id="{3D668061-36CA-546A-1753-5D0689AF917B}"/>
              </a:ext>
            </a:extLst>
          </p:cNvPr>
          <p:cNvPicPr>
            <a:picLocks noChangeAspect="1"/>
          </p:cNvPicPr>
          <p:nvPr/>
        </p:nvPicPr>
        <p:blipFill>
          <a:blip r:embed="rId4"/>
          <a:stretch>
            <a:fillRect/>
          </a:stretch>
        </p:blipFill>
        <p:spPr>
          <a:xfrm>
            <a:off x="4913820" y="3106322"/>
            <a:ext cx="3751990" cy="1675062"/>
          </a:xfrm>
          <a:prstGeom prst="rect">
            <a:avLst/>
          </a:prstGeom>
        </p:spPr>
      </p:pic>
    </p:spTree>
    <p:extLst>
      <p:ext uri="{BB962C8B-B14F-4D97-AF65-F5344CB8AC3E}">
        <p14:creationId xmlns:p14="http://schemas.microsoft.com/office/powerpoint/2010/main" val="31038712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C8F"/>
          </a:solidFill>
          <a:ln w="12700">
            <a:solidFill>
              <a:srgbClr val="0D7C8F"/>
            </a:solidFill>
            <a:prstDash val="solid"/>
          </a:ln>
        </p:spPr>
      </p:sp>
      <p:sp>
        <p:nvSpPr>
          <p:cNvPr id="3" name="Text 1"/>
          <p:cNvSpPr/>
          <p:nvPr/>
        </p:nvSpPr>
        <p:spPr>
          <a:xfrm>
            <a:off x="256032" y="164592"/>
            <a:ext cx="5486400" cy="256032"/>
          </a:xfrm>
          <a:prstGeom prst="rect">
            <a:avLst/>
          </a:prstGeom>
          <a:noFill/>
          <a:ln/>
        </p:spPr>
        <p:txBody>
          <a:bodyPr wrap="square" lIns="0" tIns="0" rIns="0" bIns="0" rtlCol="0" anchor="ctr"/>
          <a:lstStyle/>
          <a:p>
            <a:pPr marL="0" indent="0">
              <a:buNone/>
            </a:pPr>
            <a:r>
              <a:rPr lang="en-US" sz="800" b="1" kern="0" spc="300" dirty="0">
                <a:solidFill>
                  <a:srgbClr val="0D7C8F"/>
                </a:solidFill>
              </a:rPr>
              <a:t>ECONOMY AT A GLANCE</a:t>
            </a:r>
            <a:endParaRPr lang="en-US" sz="800" dirty="0"/>
          </a:p>
        </p:txBody>
      </p:sp>
      <p:sp>
        <p:nvSpPr>
          <p:cNvPr id="4" name="Text 2"/>
          <p:cNvSpPr/>
          <p:nvPr/>
        </p:nvSpPr>
        <p:spPr>
          <a:xfrm>
            <a:off x="256032" y="502920"/>
            <a:ext cx="8631936" cy="594360"/>
          </a:xfrm>
          <a:prstGeom prst="rect">
            <a:avLst/>
          </a:prstGeom>
          <a:noFill/>
          <a:ln/>
        </p:spPr>
        <p:txBody>
          <a:bodyPr wrap="square" lIns="0" tIns="0" rIns="0" bIns="0" rtlCol="0" anchor="ctr"/>
          <a:lstStyle/>
          <a:p>
            <a:pPr marL="0" indent="0">
              <a:buNone/>
            </a:pPr>
            <a:r>
              <a:rPr lang="en-US" sz="2800" b="1" dirty="0">
                <a:solidFill>
                  <a:srgbClr val="2C3E50"/>
                </a:solidFill>
                <a:latin typeface="Cambria" pitchFamily="34" charset="0"/>
                <a:ea typeface="Cambria" pitchFamily="34" charset="-122"/>
                <a:cs typeface="Cambria" pitchFamily="34" charset="-120"/>
              </a:rPr>
              <a:t>GDP, Investment, Population &amp; Human Capital</a:t>
            </a:r>
            <a:endParaRPr lang="en-US" sz="2800" dirty="0"/>
          </a:p>
        </p:txBody>
      </p:sp>
      <p:sp>
        <p:nvSpPr>
          <p:cNvPr id="5" name="Shape 3"/>
          <p:cNvSpPr/>
          <p:nvPr/>
        </p:nvSpPr>
        <p:spPr>
          <a:xfrm>
            <a:off x="256032" y="1188720"/>
            <a:ext cx="8631936" cy="0"/>
          </a:xfrm>
          <a:prstGeom prst="line">
            <a:avLst/>
          </a:prstGeom>
          <a:noFill/>
          <a:ln w="19050">
            <a:solidFill>
              <a:srgbClr val="0D7C8F"/>
            </a:solidFill>
            <a:prstDash val="solid"/>
          </a:ln>
        </p:spPr>
      </p:sp>
      <p:sp>
        <p:nvSpPr>
          <p:cNvPr id="6" name="Shape 4"/>
          <p:cNvSpPr/>
          <p:nvPr/>
        </p:nvSpPr>
        <p:spPr>
          <a:xfrm>
            <a:off x="256032" y="1325880"/>
            <a:ext cx="4206240" cy="1554480"/>
          </a:xfrm>
          <a:prstGeom prst="rect">
            <a:avLst/>
          </a:prstGeom>
          <a:solidFill>
            <a:srgbClr val="EDF4F7"/>
          </a:solidFill>
          <a:ln w="6350">
            <a:solidFill>
              <a:srgbClr val="D0DDE8"/>
            </a:solidFill>
            <a:prstDash val="solid"/>
          </a:ln>
        </p:spPr>
      </p:sp>
      <p:sp>
        <p:nvSpPr>
          <p:cNvPr id="7" name="Shape 5"/>
          <p:cNvSpPr/>
          <p:nvPr/>
        </p:nvSpPr>
        <p:spPr>
          <a:xfrm>
            <a:off x="256032" y="1325880"/>
            <a:ext cx="109728" cy="1554480"/>
          </a:xfrm>
          <a:prstGeom prst="rect">
            <a:avLst/>
          </a:prstGeom>
          <a:solidFill>
            <a:srgbClr val="0D7C8F"/>
          </a:solidFill>
          <a:ln w="12700">
            <a:solidFill>
              <a:srgbClr val="0D7C8F"/>
            </a:solidFill>
            <a:prstDash val="solid"/>
          </a:ln>
        </p:spPr>
      </p:sp>
      <p:sp>
        <p:nvSpPr>
          <p:cNvPr id="8" name="Text 6"/>
          <p:cNvSpPr/>
          <p:nvPr/>
        </p:nvSpPr>
        <p:spPr>
          <a:xfrm>
            <a:off x="438912" y="1399032"/>
            <a:ext cx="3840480" cy="292608"/>
          </a:xfrm>
          <a:prstGeom prst="rect">
            <a:avLst/>
          </a:prstGeom>
          <a:noFill/>
          <a:ln/>
        </p:spPr>
        <p:txBody>
          <a:bodyPr wrap="square" lIns="0" tIns="0" rIns="0" bIns="0" rtlCol="0" anchor="ctr"/>
          <a:lstStyle/>
          <a:p>
            <a:pPr marL="0" indent="0">
              <a:buNone/>
            </a:pPr>
            <a:r>
              <a:rPr lang="en-US" sz="1300" b="1" dirty="0">
                <a:solidFill>
                  <a:srgbClr val="2C3E50"/>
                </a:solidFill>
              </a:rPr>
              <a:t>GDP Growth</a:t>
            </a:r>
            <a:endParaRPr lang="en-US" sz="1300" dirty="0"/>
          </a:p>
        </p:txBody>
      </p:sp>
      <p:sp>
        <p:nvSpPr>
          <p:cNvPr id="9" name="Text 7"/>
          <p:cNvSpPr/>
          <p:nvPr/>
        </p:nvSpPr>
        <p:spPr>
          <a:xfrm>
            <a:off x="438912" y="1709928"/>
            <a:ext cx="3840480" cy="1097280"/>
          </a:xfrm>
          <a:prstGeom prst="rect">
            <a:avLst/>
          </a:prstGeom>
          <a:noFill/>
          <a:ln/>
        </p:spPr>
        <p:txBody>
          <a:bodyPr wrap="square" lIns="0" tIns="0" rIns="0" bIns="0" rtlCol="0" anchor="t"/>
          <a:lstStyle/>
          <a:p>
            <a:pPr marL="342900" indent="-342900">
              <a:buSzPct val="100000"/>
              <a:buChar char="•"/>
            </a:pPr>
            <a:r>
              <a:rPr lang="en-US" sz="1100" dirty="0">
                <a:solidFill>
                  <a:srgbClr val="5A6A7A"/>
                </a:solidFill>
              </a:rPr>
              <a:t>Sustained 7–9% growth (1960–1995)</a:t>
            </a:r>
            <a:endParaRPr lang="en-US" sz="1100" dirty="0"/>
          </a:p>
          <a:p>
            <a:pPr marL="342900" indent="-342900">
              <a:buSzPct val="100000"/>
              <a:buChar char="•"/>
            </a:pPr>
            <a:r>
              <a:rPr lang="en-US" sz="1100" dirty="0">
                <a:solidFill>
                  <a:srgbClr val="5A6A7A"/>
                </a:solidFill>
              </a:rPr>
              <a:t>Post-AFC slowdown to ~4–5%</a:t>
            </a:r>
            <a:endParaRPr lang="en-US" sz="1100" dirty="0"/>
          </a:p>
          <a:p>
            <a:pPr marL="342900" indent="-342900">
              <a:buSzPct val="100000"/>
              <a:buChar char="•"/>
            </a:pPr>
            <a:r>
              <a:rPr lang="en-US" sz="1100" dirty="0">
                <a:solidFill>
                  <a:srgbClr val="5A6A7A"/>
                </a:solidFill>
              </a:rPr>
              <a:t>Convergence toward OECD average</a:t>
            </a:r>
            <a:endParaRPr lang="en-US" sz="1100" dirty="0"/>
          </a:p>
        </p:txBody>
      </p:sp>
      <p:sp>
        <p:nvSpPr>
          <p:cNvPr id="10" name="Shape 8"/>
          <p:cNvSpPr/>
          <p:nvPr/>
        </p:nvSpPr>
        <p:spPr>
          <a:xfrm>
            <a:off x="4690872" y="1325880"/>
            <a:ext cx="4206240" cy="1554480"/>
          </a:xfrm>
          <a:prstGeom prst="rect">
            <a:avLst/>
          </a:prstGeom>
          <a:solidFill>
            <a:srgbClr val="F0F5EE"/>
          </a:solidFill>
          <a:ln w="6350">
            <a:solidFill>
              <a:srgbClr val="D0DDE8"/>
            </a:solidFill>
            <a:prstDash val="solid"/>
          </a:ln>
        </p:spPr>
      </p:sp>
      <p:sp>
        <p:nvSpPr>
          <p:cNvPr id="11" name="Shape 9"/>
          <p:cNvSpPr/>
          <p:nvPr/>
        </p:nvSpPr>
        <p:spPr>
          <a:xfrm>
            <a:off x="4690872" y="1325880"/>
            <a:ext cx="109728" cy="1554480"/>
          </a:xfrm>
          <a:prstGeom prst="rect">
            <a:avLst/>
          </a:prstGeom>
          <a:solidFill>
            <a:srgbClr val="0D7C8F"/>
          </a:solidFill>
          <a:ln w="12700">
            <a:solidFill>
              <a:srgbClr val="0D7C8F"/>
            </a:solidFill>
            <a:prstDash val="solid"/>
          </a:ln>
        </p:spPr>
      </p:sp>
      <p:sp>
        <p:nvSpPr>
          <p:cNvPr id="12" name="Text 10"/>
          <p:cNvSpPr/>
          <p:nvPr/>
        </p:nvSpPr>
        <p:spPr>
          <a:xfrm>
            <a:off x="4873752" y="1399032"/>
            <a:ext cx="3840480" cy="292608"/>
          </a:xfrm>
          <a:prstGeom prst="rect">
            <a:avLst/>
          </a:prstGeom>
          <a:noFill/>
          <a:ln/>
        </p:spPr>
        <p:txBody>
          <a:bodyPr wrap="square" lIns="0" tIns="0" rIns="0" bIns="0" rtlCol="0" anchor="ctr"/>
          <a:lstStyle/>
          <a:p>
            <a:pPr marL="0" indent="0">
              <a:buNone/>
            </a:pPr>
            <a:r>
              <a:rPr lang="en-US" sz="1300" b="1" dirty="0">
                <a:solidFill>
                  <a:srgbClr val="2C3E50"/>
                </a:solidFill>
              </a:rPr>
              <a:t>Investment Rate</a:t>
            </a:r>
            <a:endParaRPr lang="en-US" sz="1300" dirty="0"/>
          </a:p>
        </p:txBody>
      </p:sp>
      <p:sp>
        <p:nvSpPr>
          <p:cNvPr id="13" name="Text 11"/>
          <p:cNvSpPr/>
          <p:nvPr/>
        </p:nvSpPr>
        <p:spPr>
          <a:xfrm>
            <a:off x="4873752" y="1709928"/>
            <a:ext cx="3840480" cy="1097280"/>
          </a:xfrm>
          <a:prstGeom prst="rect">
            <a:avLst/>
          </a:prstGeom>
          <a:noFill/>
          <a:ln/>
        </p:spPr>
        <p:txBody>
          <a:bodyPr wrap="square" lIns="0" tIns="0" rIns="0" bIns="0" rtlCol="0" anchor="t"/>
          <a:lstStyle/>
          <a:p>
            <a:pPr marL="342900" indent="-342900">
              <a:buSzPct val="100000"/>
              <a:buChar char="•"/>
            </a:pPr>
            <a:r>
              <a:rPr lang="en-US" sz="1100" dirty="0">
                <a:solidFill>
                  <a:srgbClr val="5A6A7A"/>
                </a:solidFill>
              </a:rPr>
              <a:t>Rose from ~10% (1953) to 38%+ (1990s)</a:t>
            </a:r>
            <a:endParaRPr lang="en-US" sz="1100" dirty="0"/>
          </a:p>
          <a:p>
            <a:pPr marL="342900" indent="-342900">
              <a:buSzPct val="100000"/>
              <a:buChar char="•"/>
            </a:pPr>
            <a:r>
              <a:rPr lang="en-US" sz="1100" dirty="0">
                <a:solidFill>
                  <a:srgbClr val="5A6A7A"/>
                </a:solidFill>
              </a:rPr>
              <a:t>Consistently among world's highest</a:t>
            </a:r>
            <a:endParaRPr lang="en-US" sz="1100" dirty="0"/>
          </a:p>
          <a:p>
            <a:pPr marL="342900" indent="-342900">
              <a:buSzPct val="100000"/>
              <a:buChar char="•"/>
            </a:pPr>
            <a:r>
              <a:rPr lang="en-US" sz="1100" dirty="0">
                <a:solidFill>
                  <a:srgbClr val="5A6A7A"/>
                </a:solidFill>
              </a:rPr>
              <a:t>Sharp dip post-1997; recovery by 2002</a:t>
            </a:r>
            <a:endParaRPr lang="en-US" sz="1100" dirty="0"/>
          </a:p>
        </p:txBody>
      </p:sp>
      <p:sp>
        <p:nvSpPr>
          <p:cNvPr id="14" name="Shape 12"/>
          <p:cNvSpPr/>
          <p:nvPr/>
        </p:nvSpPr>
        <p:spPr>
          <a:xfrm>
            <a:off x="256032" y="3017520"/>
            <a:ext cx="4206240" cy="1554480"/>
          </a:xfrm>
          <a:prstGeom prst="rect">
            <a:avLst/>
          </a:prstGeom>
          <a:solidFill>
            <a:srgbClr val="EDF4F7"/>
          </a:solidFill>
          <a:ln w="6350">
            <a:solidFill>
              <a:srgbClr val="D0DDE8"/>
            </a:solidFill>
            <a:prstDash val="solid"/>
          </a:ln>
        </p:spPr>
      </p:sp>
      <p:sp>
        <p:nvSpPr>
          <p:cNvPr id="15" name="Shape 13"/>
          <p:cNvSpPr/>
          <p:nvPr/>
        </p:nvSpPr>
        <p:spPr>
          <a:xfrm>
            <a:off x="256032" y="3017520"/>
            <a:ext cx="109728" cy="1554480"/>
          </a:xfrm>
          <a:prstGeom prst="rect">
            <a:avLst/>
          </a:prstGeom>
          <a:solidFill>
            <a:srgbClr val="0D7C8F"/>
          </a:solidFill>
          <a:ln w="12700">
            <a:solidFill>
              <a:srgbClr val="0D7C8F"/>
            </a:solidFill>
            <a:prstDash val="solid"/>
          </a:ln>
        </p:spPr>
      </p:sp>
      <p:sp>
        <p:nvSpPr>
          <p:cNvPr id="16" name="Text 14"/>
          <p:cNvSpPr/>
          <p:nvPr/>
        </p:nvSpPr>
        <p:spPr>
          <a:xfrm>
            <a:off x="438912" y="3090672"/>
            <a:ext cx="3840480" cy="292608"/>
          </a:xfrm>
          <a:prstGeom prst="rect">
            <a:avLst/>
          </a:prstGeom>
          <a:noFill/>
          <a:ln/>
        </p:spPr>
        <p:txBody>
          <a:bodyPr wrap="square" lIns="0" tIns="0" rIns="0" bIns="0" rtlCol="0" anchor="ctr"/>
          <a:lstStyle/>
          <a:p>
            <a:pPr marL="0" indent="0">
              <a:buNone/>
            </a:pPr>
            <a:r>
              <a:rPr lang="en-US" sz="1300" b="1" dirty="0">
                <a:solidFill>
                  <a:srgbClr val="2C3E50"/>
                </a:solidFill>
              </a:rPr>
              <a:t>Demographics</a:t>
            </a:r>
            <a:endParaRPr lang="en-US" sz="1300" dirty="0"/>
          </a:p>
        </p:txBody>
      </p:sp>
      <p:sp>
        <p:nvSpPr>
          <p:cNvPr id="17" name="Text 15"/>
          <p:cNvSpPr/>
          <p:nvPr/>
        </p:nvSpPr>
        <p:spPr>
          <a:xfrm>
            <a:off x="438912" y="3401568"/>
            <a:ext cx="3840480" cy="1097280"/>
          </a:xfrm>
          <a:prstGeom prst="rect">
            <a:avLst/>
          </a:prstGeom>
          <a:noFill/>
          <a:ln/>
        </p:spPr>
        <p:txBody>
          <a:bodyPr wrap="square" lIns="0" tIns="0" rIns="0" bIns="0" rtlCol="0" anchor="t"/>
          <a:lstStyle/>
          <a:p>
            <a:pPr marL="342900" indent="-342900">
              <a:buSzPct val="100000"/>
              <a:buChar char="•"/>
            </a:pPr>
            <a:r>
              <a:rPr lang="en-US" sz="1100" dirty="0">
                <a:solidFill>
                  <a:srgbClr val="5A6A7A"/>
                </a:solidFill>
              </a:rPr>
              <a:t>Rapid labour force growth 1960s–80s</a:t>
            </a:r>
            <a:endParaRPr lang="en-US" sz="1100" dirty="0"/>
          </a:p>
          <a:p>
            <a:pPr marL="342900" indent="-342900">
              <a:buSzPct val="100000"/>
              <a:buChar char="•"/>
            </a:pPr>
            <a:r>
              <a:rPr lang="en-US" sz="1100" dirty="0">
                <a:solidFill>
                  <a:srgbClr val="5A6A7A"/>
                </a:solidFill>
              </a:rPr>
              <a:t>Demographic transition from 1990s</a:t>
            </a:r>
            <a:endParaRPr lang="en-US" sz="1100" dirty="0"/>
          </a:p>
          <a:p>
            <a:pPr marL="342900" indent="-342900">
              <a:buSzPct val="100000"/>
              <a:buChar char="•"/>
            </a:pPr>
            <a:r>
              <a:rPr lang="en-US" sz="1100" dirty="0">
                <a:solidFill>
                  <a:srgbClr val="5A6A7A"/>
                </a:solidFill>
              </a:rPr>
              <a:t>Ageing population — key OLG driver</a:t>
            </a:r>
            <a:endParaRPr lang="en-US" sz="1100" dirty="0"/>
          </a:p>
        </p:txBody>
      </p:sp>
      <p:sp>
        <p:nvSpPr>
          <p:cNvPr id="18" name="Shape 16"/>
          <p:cNvSpPr/>
          <p:nvPr/>
        </p:nvSpPr>
        <p:spPr>
          <a:xfrm>
            <a:off x="4690872" y="3017520"/>
            <a:ext cx="4206240" cy="1554480"/>
          </a:xfrm>
          <a:prstGeom prst="rect">
            <a:avLst/>
          </a:prstGeom>
          <a:solidFill>
            <a:srgbClr val="F0F5EE"/>
          </a:solidFill>
          <a:ln w="6350">
            <a:solidFill>
              <a:srgbClr val="D0DDE8"/>
            </a:solidFill>
            <a:prstDash val="solid"/>
          </a:ln>
        </p:spPr>
      </p:sp>
      <p:sp>
        <p:nvSpPr>
          <p:cNvPr id="19" name="Shape 17"/>
          <p:cNvSpPr/>
          <p:nvPr/>
        </p:nvSpPr>
        <p:spPr>
          <a:xfrm>
            <a:off x="4690872" y="3017520"/>
            <a:ext cx="109728" cy="1554480"/>
          </a:xfrm>
          <a:prstGeom prst="rect">
            <a:avLst/>
          </a:prstGeom>
          <a:solidFill>
            <a:srgbClr val="0D7C8F"/>
          </a:solidFill>
          <a:ln w="12700">
            <a:solidFill>
              <a:srgbClr val="0D7C8F"/>
            </a:solidFill>
            <a:prstDash val="solid"/>
          </a:ln>
        </p:spPr>
      </p:sp>
      <p:sp>
        <p:nvSpPr>
          <p:cNvPr id="20" name="Text 18"/>
          <p:cNvSpPr/>
          <p:nvPr/>
        </p:nvSpPr>
        <p:spPr>
          <a:xfrm>
            <a:off x="4873752" y="3090672"/>
            <a:ext cx="3840480" cy="292608"/>
          </a:xfrm>
          <a:prstGeom prst="rect">
            <a:avLst/>
          </a:prstGeom>
          <a:noFill/>
          <a:ln/>
        </p:spPr>
        <p:txBody>
          <a:bodyPr wrap="square" lIns="0" tIns="0" rIns="0" bIns="0" rtlCol="0" anchor="ctr"/>
          <a:lstStyle/>
          <a:p>
            <a:pPr marL="0" indent="0">
              <a:buNone/>
            </a:pPr>
            <a:r>
              <a:rPr lang="en-US" sz="1300" b="1" dirty="0">
                <a:solidFill>
                  <a:srgbClr val="2C3E50"/>
                </a:solidFill>
              </a:rPr>
              <a:t>Human Capital</a:t>
            </a:r>
            <a:endParaRPr lang="en-US" sz="1300" dirty="0"/>
          </a:p>
        </p:txBody>
      </p:sp>
      <p:sp>
        <p:nvSpPr>
          <p:cNvPr id="21" name="Text 19"/>
          <p:cNvSpPr/>
          <p:nvPr/>
        </p:nvSpPr>
        <p:spPr>
          <a:xfrm>
            <a:off x="4873752" y="3401568"/>
            <a:ext cx="3840480" cy="1097280"/>
          </a:xfrm>
          <a:prstGeom prst="rect">
            <a:avLst/>
          </a:prstGeom>
          <a:noFill/>
          <a:ln/>
        </p:spPr>
        <p:txBody>
          <a:bodyPr wrap="square" lIns="0" tIns="0" rIns="0" bIns="0" rtlCol="0" anchor="t"/>
          <a:lstStyle/>
          <a:p>
            <a:pPr marL="342900" indent="-342900">
              <a:buSzPct val="100000"/>
              <a:buChar char="•"/>
            </a:pPr>
            <a:r>
              <a:rPr lang="en-US" sz="1100" dirty="0">
                <a:solidFill>
                  <a:srgbClr val="5A6A7A"/>
                </a:solidFill>
              </a:rPr>
              <a:t>HDI jumped from low to very high</a:t>
            </a:r>
            <a:endParaRPr lang="en-US" sz="1100" dirty="0"/>
          </a:p>
          <a:p>
            <a:pPr marL="342900" indent="-342900">
              <a:buSzPct val="100000"/>
              <a:buChar char="•"/>
            </a:pPr>
            <a:r>
              <a:rPr lang="en-US" sz="1100" dirty="0">
                <a:solidFill>
                  <a:srgbClr val="5A6A7A"/>
                </a:solidFill>
              </a:rPr>
              <a:t>Tertiary enrolment &gt;70% by 2000s</a:t>
            </a:r>
            <a:endParaRPr lang="en-US" sz="1100" dirty="0"/>
          </a:p>
          <a:p>
            <a:pPr marL="342900" indent="-342900">
              <a:buSzPct val="100000"/>
              <a:buChar char="•"/>
            </a:pPr>
            <a:r>
              <a:rPr lang="en-US" sz="1100" dirty="0">
                <a:solidFill>
                  <a:srgbClr val="5A6A7A"/>
                </a:solidFill>
              </a:rPr>
              <a:t>TFP contribution rose post-1990s</a:t>
            </a:r>
            <a:endParaRPr lang="en-US" sz="1100" dirty="0"/>
          </a:p>
        </p:txBody>
      </p:sp>
      <p:sp>
        <p:nvSpPr>
          <p:cNvPr id="200" name="Stat1"/>
          <p:cNvSpPr/>
          <p:nvPr/>
        </p:nvSpPr>
        <p:spPr>
          <a:xfrm>
            <a:off x="3657600" y="1279080"/>
            <a:ext cx="914400" cy="548640"/>
          </a:xfrm>
          <a:prstGeom prst="rect">
            <a:avLst/>
          </a:prstGeom>
          <a:noFill/>
          <a:ln/>
        </p:spPr>
        <p:txBody>
          <a:bodyPr wrap="square" lIns="0" tIns="0" rIns="0" bIns="0" rtlCol="0" anchor="ctr"/>
          <a:lstStyle/>
          <a:p>
            <a:pPr marL="0" indent="0" algn="r">
              <a:buNone/>
            </a:pPr>
            <a:r>
              <a:rPr lang="en-US" sz="2200" b="1" dirty="0">
                <a:solidFill>
                  <a:srgbClr val="0D7C8F"/>
                </a:solidFill>
              </a:rPr>
              <a:t>7–9%</a:t>
            </a:r>
          </a:p>
        </p:txBody>
      </p:sp>
      <p:sp>
        <p:nvSpPr>
          <p:cNvPr id="201" name="Stat2"/>
          <p:cNvSpPr/>
          <p:nvPr/>
        </p:nvSpPr>
        <p:spPr>
          <a:xfrm>
            <a:off x="8047440" y="1279080"/>
            <a:ext cx="914400" cy="548640"/>
          </a:xfrm>
          <a:prstGeom prst="rect">
            <a:avLst/>
          </a:prstGeom>
          <a:noFill/>
          <a:ln/>
        </p:spPr>
        <p:txBody>
          <a:bodyPr wrap="square" lIns="0" tIns="0" rIns="0" bIns="0" rtlCol="0" anchor="ctr"/>
          <a:lstStyle/>
          <a:p>
            <a:pPr marL="0" indent="0" algn="r">
              <a:buNone/>
            </a:pPr>
            <a:r>
              <a:rPr lang="en-US" sz="2200" b="1" dirty="0">
                <a:solidFill>
                  <a:srgbClr val="E8A020"/>
                </a:solidFill>
              </a:rPr>
              <a:t>38%+</a:t>
            </a:r>
          </a:p>
        </p:txBody>
      </p:sp>
      <p:sp>
        <p:nvSpPr>
          <p:cNvPr id="202" name="Stat3"/>
          <p:cNvSpPr/>
          <p:nvPr/>
        </p:nvSpPr>
        <p:spPr>
          <a:xfrm>
            <a:off x="3657600" y="3337560"/>
            <a:ext cx="914400" cy="548640"/>
          </a:xfrm>
          <a:prstGeom prst="rect">
            <a:avLst/>
          </a:prstGeom>
          <a:noFill/>
          <a:ln/>
        </p:spPr>
        <p:txBody>
          <a:bodyPr wrap="square" lIns="0" tIns="0" rIns="0" bIns="0" rtlCol="0" anchor="ctr"/>
          <a:lstStyle/>
          <a:p>
            <a:pPr marL="0" indent="0" algn="r">
              <a:buNone/>
            </a:pPr>
            <a:r>
              <a:rPr lang="en-US" sz="2200" b="1" dirty="0">
                <a:solidFill>
                  <a:srgbClr val="2E7D52"/>
                </a:solidFill>
              </a:rPr>
              <a:t>0.4%</a:t>
            </a:r>
          </a:p>
        </p:txBody>
      </p:sp>
      <p:sp>
        <p:nvSpPr>
          <p:cNvPr id="203" name="Stat4"/>
          <p:cNvSpPr/>
          <p:nvPr/>
        </p:nvSpPr>
        <p:spPr>
          <a:xfrm>
            <a:off x="8047440" y="3337560"/>
            <a:ext cx="914400" cy="548640"/>
          </a:xfrm>
          <a:prstGeom prst="rect">
            <a:avLst/>
          </a:prstGeom>
          <a:noFill/>
          <a:ln/>
        </p:spPr>
        <p:txBody>
          <a:bodyPr wrap="square" lIns="0" tIns="0" rIns="0" bIns="0" rtlCol="0" anchor="ctr"/>
          <a:lstStyle/>
          <a:p>
            <a:pPr marL="0" indent="0" algn="r">
              <a:buNone/>
            </a:pPr>
            <a:r>
              <a:rPr lang="en-US" sz="2200" b="1" dirty="0">
                <a:solidFill>
                  <a:srgbClr val="B04040"/>
                </a:solidFill>
              </a:rPr>
              <a:t>&gt;70%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C8F"/>
          </a:solidFill>
          <a:ln w="12700">
            <a:solidFill>
              <a:srgbClr val="0D7C8F"/>
            </a:solidFill>
            <a:prstDash val="solid"/>
          </a:ln>
        </p:spPr>
      </p:sp>
      <p:sp>
        <p:nvSpPr>
          <p:cNvPr id="4" name="Text 2"/>
          <p:cNvSpPr/>
          <p:nvPr/>
        </p:nvSpPr>
        <p:spPr>
          <a:xfrm>
            <a:off x="268644" y="408330"/>
            <a:ext cx="8631936" cy="594360"/>
          </a:xfrm>
          <a:prstGeom prst="rect">
            <a:avLst/>
          </a:prstGeom>
          <a:noFill/>
          <a:ln/>
        </p:spPr>
        <p:txBody>
          <a:bodyPr wrap="square" lIns="0" tIns="0" rIns="0" bIns="0" rtlCol="0" anchor="ctr"/>
          <a:lstStyle/>
          <a:p>
            <a:pPr marL="0" indent="0">
              <a:buNone/>
            </a:pPr>
            <a:r>
              <a:rPr lang="en-US" sz="2800" b="1" dirty="0">
                <a:solidFill>
                  <a:srgbClr val="2C3E50"/>
                </a:solidFill>
                <a:latin typeface="Cambria" pitchFamily="34" charset="0"/>
                <a:ea typeface="Cambria" pitchFamily="34" charset="-122"/>
                <a:cs typeface="Cambria" pitchFamily="34" charset="-120"/>
              </a:rPr>
              <a:t>Savings and Population Growth Rates Over Time  </a:t>
            </a:r>
            <a:endParaRPr lang="en-US" sz="2800" dirty="0"/>
          </a:p>
        </p:txBody>
      </p:sp>
      <p:sp>
        <p:nvSpPr>
          <p:cNvPr id="5" name="Shape 3"/>
          <p:cNvSpPr/>
          <p:nvPr/>
        </p:nvSpPr>
        <p:spPr>
          <a:xfrm>
            <a:off x="256032" y="1188720"/>
            <a:ext cx="8631936" cy="0"/>
          </a:xfrm>
          <a:prstGeom prst="line">
            <a:avLst/>
          </a:prstGeom>
          <a:noFill/>
          <a:ln w="19050">
            <a:solidFill>
              <a:srgbClr val="0D7C8F"/>
            </a:solidFill>
            <a:prstDash val="solid"/>
          </a:ln>
        </p:spPr>
      </p:sp>
      <p:sp>
        <p:nvSpPr>
          <p:cNvPr id="11" name="Text 7"/>
          <p:cNvSpPr/>
          <p:nvPr/>
        </p:nvSpPr>
        <p:spPr>
          <a:xfrm>
            <a:off x="4663440" y="4480560"/>
            <a:ext cx="4297680" cy="365760"/>
          </a:xfrm>
          <a:prstGeom prst="rect">
            <a:avLst/>
          </a:prstGeom>
          <a:noFill/>
          <a:ln/>
        </p:spPr>
        <p:txBody>
          <a:bodyPr wrap="square" lIns="0" tIns="0" rIns="0" bIns="0" rtlCol="0" anchor="ctr"/>
          <a:lstStyle/>
          <a:p>
            <a:pPr marL="0" indent="0" algn="ctr">
              <a:buNone/>
            </a:pPr>
            <a:endParaRPr lang="en-US" sz="1000" dirty="0"/>
          </a:p>
        </p:txBody>
      </p:sp>
      <p:pic>
        <p:nvPicPr>
          <p:cNvPr id="13" name="Picture 12">
            <a:extLst>
              <a:ext uri="{FF2B5EF4-FFF2-40B4-BE49-F238E27FC236}">
                <a16:creationId xmlns:a16="http://schemas.microsoft.com/office/drawing/2014/main" id="{45EE9AB4-6F2F-479F-BFE2-DDCC8ED87FC1}"/>
              </a:ext>
            </a:extLst>
          </p:cNvPr>
          <p:cNvPicPr>
            <a:picLocks noChangeAspect="1"/>
          </p:cNvPicPr>
          <p:nvPr/>
        </p:nvPicPr>
        <p:blipFill>
          <a:blip r:embed="rId3"/>
          <a:stretch>
            <a:fillRect/>
          </a:stretch>
        </p:blipFill>
        <p:spPr>
          <a:xfrm>
            <a:off x="256032" y="1070734"/>
            <a:ext cx="8631936" cy="3942700"/>
          </a:xfrm>
          <a:prstGeom prst="rect">
            <a:avLst/>
          </a:prstGeom>
        </p:spPr>
      </p:pic>
      <p:sp>
        <p:nvSpPr>
          <p:cNvPr id="3" name="Text 1">
            <a:extLst>
              <a:ext uri="{FF2B5EF4-FFF2-40B4-BE49-F238E27FC236}">
                <a16:creationId xmlns:a16="http://schemas.microsoft.com/office/drawing/2014/main" id="{3FA856D0-9596-7C44-7FBA-0A75A76B4841}"/>
              </a:ext>
            </a:extLst>
          </p:cNvPr>
          <p:cNvSpPr/>
          <p:nvPr/>
        </p:nvSpPr>
        <p:spPr>
          <a:xfrm>
            <a:off x="256032" y="164592"/>
            <a:ext cx="5486400" cy="256032"/>
          </a:xfrm>
          <a:prstGeom prst="rect">
            <a:avLst/>
          </a:prstGeom>
          <a:noFill/>
          <a:ln/>
        </p:spPr>
        <p:txBody>
          <a:bodyPr wrap="square" lIns="0" tIns="0" rIns="0" bIns="0" rtlCol="0" anchor="ctr"/>
          <a:lstStyle/>
          <a:p>
            <a:pPr marL="0" indent="0">
              <a:buNone/>
            </a:pPr>
            <a:r>
              <a:rPr lang="en-US" sz="800" b="1" kern="0" spc="300" dirty="0">
                <a:solidFill>
                  <a:srgbClr val="0D7C8F"/>
                </a:solidFill>
              </a:rPr>
              <a:t>ECONOMY AT A GLANCE</a:t>
            </a:r>
            <a:endParaRPr lang="en-US" sz="800" dirty="0"/>
          </a:p>
        </p:txBody>
      </p:sp>
    </p:spTree>
    <p:extLst>
      <p:ext uri="{BB962C8B-B14F-4D97-AF65-F5344CB8AC3E}">
        <p14:creationId xmlns:p14="http://schemas.microsoft.com/office/powerpoint/2010/main" val="508326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C8F"/>
          </a:solidFill>
          <a:ln w="12700">
            <a:solidFill>
              <a:srgbClr val="0D7C8F"/>
            </a:solidFill>
            <a:prstDash val="solid"/>
          </a:ln>
        </p:spPr>
      </p:sp>
      <p:sp>
        <p:nvSpPr>
          <p:cNvPr id="3" name="Text 1"/>
          <p:cNvSpPr/>
          <p:nvPr/>
        </p:nvSpPr>
        <p:spPr>
          <a:xfrm>
            <a:off x="256032" y="164592"/>
            <a:ext cx="5486400" cy="256032"/>
          </a:xfrm>
          <a:prstGeom prst="rect">
            <a:avLst/>
          </a:prstGeom>
          <a:noFill/>
          <a:ln/>
        </p:spPr>
        <p:txBody>
          <a:bodyPr wrap="square" lIns="0" tIns="0" rIns="0" bIns="0" rtlCol="0" anchor="ctr"/>
          <a:lstStyle/>
          <a:p>
            <a:pPr marL="0" indent="0">
              <a:buNone/>
            </a:pPr>
            <a:r>
              <a:rPr lang="en-US" sz="800" b="1" kern="0" spc="300" dirty="0">
                <a:solidFill>
                  <a:srgbClr val="0D7C8F"/>
                </a:solidFill>
              </a:rPr>
              <a:t>METHODOLOGY</a:t>
            </a:r>
            <a:endParaRPr lang="en-US" sz="800" dirty="0"/>
          </a:p>
        </p:txBody>
      </p:sp>
      <p:sp>
        <p:nvSpPr>
          <p:cNvPr id="4" name="Text 2"/>
          <p:cNvSpPr/>
          <p:nvPr/>
        </p:nvSpPr>
        <p:spPr>
          <a:xfrm>
            <a:off x="256032" y="502920"/>
            <a:ext cx="8631936" cy="594360"/>
          </a:xfrm>
          <a:prstGeom prst="rect">
            <a:avLst/>
          </a:prstGeom>
          <a:noFill/>
          <a:ln/>
        </p:spPr>
        <p:txBody>
          <a:bodyPr wrap="square" lIns="0" tIns="0" rIns="0" bIns="0" rtlCol="0" anchor="ctr"/>
          <a:lstStyle/>
          <a:p>
            <a:pPr marL="0" indent="0">
              <a:buNone/>
            </a:pPr>
            <a:r>
              <a:rPr lang="en-US" sz="2800" b="1" dirty="0">
                <a:solidFill>
                  <a:srgbClr val="2C3E50"/>
                </a:solidFill>
                <a:latin typeface="Cambria" pitchFamily="34" charset="0"/>
                <a:ea typeface="Cambria" pitchFamily="34" charset="-122"/>
                <a:cs typeface="Cambria" pitchFamily="34" charset="-120"/>
              </a:rPr>
              <a:t>Data &amp; Estimation Strategy</a:t>
            </a:r>
            <a:endParaRPr lang="en-US" sz="2800" dirty="0"/>
          </a:p>
        </p:txBody>
      </p:sp>
      <p:sp>
        <p:nvSpPr>
          <p:cNvPr id="5" name="Shape 3"/>
          <p:cNvSpPr/>
          <p:nvPr/>
        </p:nvSpPr>
        <p:spPr>
          <a:xfrm>
            <a:off x="256032" y="1031966"/>
            <a:ext cx="8631936" cy="0"/>
          </a:xfrm>
          <a:prstGeom prst="line">
            <a:avLst/>
          </a:prstGeom>
          <a:noFill/>
          <a:ln w="19050">
            <a:solidFill>
              <a:srgbClr val="0D7C8F"/>
            </a:solidFill>
            <a:prstDash val="solid"/>
          </a:ln>
        </p:spPr>
        <p:txBody>
          <a:bodyPr/>
          <a:lstStyle/>
          <a:p>
            <a:endParaRPr lang="en-IN" dirty="0"/>
          </a:p>
        </p:txBody>
      </p:sp>
      <p:sp>
        <p:nvSpPr>
          <p:cNvPr id="6" name="Shape 4"/>
          <p:cNvSpPr/>
          <p:nvPr/>
        </p:nvSpPr>
        <p:spPr>
          <a:xfrm>
            <a:off x="774626" y="1257301"/>
            <a:ext cx="2997445" cy="411480"/>
          </a:xfrm>
          <a:prstGeom prst="rect">
            <a:avLst/>
          </a:prstGeom>
          <a:solidFill>
            <a:srgbClr val="0D7C8F"/>
          </a:solidFill>
          <a:ln w="12700">
            <a:solidFill>
              <a:srgbClr val="0D7C8F"/>
            </a:solidFill>
            <a:prstDash val="solid"/>
          </a:ln>
        </p:spPr>
      </p:sp>
      <p:sp>
        <p:nvSpPr>
          <p:cNvPr id="7" name="Text 5"/>
          <p:cNvSpPr/>
          <p:nvPr/>
        </p:nvSpPr>
        <p:spPr>
          <a:xfrm>
            <a:off x="704088" y="1273739"/>
            <a:ext cx="2834640" cy="411480"/>
          </a:xfrm>
          <a:prstGeom prst="rect">
            <a:avLst/>
          </a:prstGeom>
          <a:noFill/>
          <a:ln/>
        </p:spPr>
        <p:txBody>
          <a:bodyPr wrap="square" lIns="0" tIns="0" rIns="0" bIns="0" rtlCol="0" anchor="ctr"/>
          <a:lstStyle/>
          <a:p>
            <a:pPr marL="0" indent="0" algn="ctr">
              <a:buNone/>
            </a:pPr>
            <a:r>
              <a:rPr lang="en-US" sz="1400" b="1" dirty="0">
                <a:solidFill>
                  <a:srgbClr val="FFFFFF"/>
                </a:solidFill>
              </a:rPr>
              <a:t>Data Source</a:t>
            </a:r>
            <a:endParaRPr lang="en-US" sz="1400" dirty="0"/>
          </a:p>
        </p:txBody>
      </p:sp>
      <p:sp>
        <p:nvSpPr>
          <p:cNvPr id="8" name="Shape 6"/>
          <p:cNvSpPr/>
          <p:nvPr/>
        </p:nvSpPr>
        <p:spPr>
          <a:xfrm>
            <a:off x="772668" y="1656452"/>
            <a:ext cx="2994812" cy="1267097"/>
          </a:xfrm>
          <a:prstGeom prst="rect">
            <a:avLst/>
          </a:prstGeom>
          <a:solidFill>
            <a:srgbClr val="F2F6F9"/>
          </a:solidFill>
          <a:ln w="6350">
            <a:solidFill>
              <a:srgbClr val="D4DDE8"/>
            </a:solidFill>
            <a:prstDash val="solid"/>
          </a:ln>
        </p:spPr>
      </p:sp>
      <p:sp>
        <p:nvSpPr>
          <p:cNvPr id="9" name="Text 7"/>
          <p:cNvSpPr/>
          <p:nvPr/>
        </p:nvSpPr>
        <p:spPr>
          <a:xfrm>
            <a:off x="1086176" y="1802023"/>
            <a:ext cx="2560320" cy="2377440"/>
          </a:xfrm>
          <a:prstGeom prst="rect">
            <a:avLst/>
          </a:prstGeom>
          <a:noFill/>
          <a:ln/>
        </p:spPr>
        <p:txBody>
          <a:bodyPr wrap="square" lIns="0" tIns="0" rIns="0" bIns="0" rtlCol="0" anchor="t"/>
          <a:lstStyle/>
          <a:p>
            <a:pPr marL="342900" indent="-342900">
              <a:buSzPct val="100000"/>
              <a:buChar char="•"/>
            </a:pPr>
            <a:r>
              <a:rPr lang="en-US" sz="1200" dirty="0">
                <a:solidFill>
                  <a:srgbClr val="5A6A7A"/>
                </a:solidFill>
              </a:rPr>
              <a:t>Penn World Tables (PWT 10.0)</a:t>
            </a:r>
            <a:endParaRPr lang="en-US" sz="1200" dirty="0"/>
          </a:p>
          <a:p>
            <a:pPr marL="342900" indent="-342900">
              <a:buSzPct val="100000"/>
              <a:buChar char="•"/>
            </a:pPr>
            <a:r>
              <a:rPr lang="en-US" sz="1200" dirty="0">
                <a:solidFill>
                  <a:srgbClr val="5A6A7A"/>
                </a:solidFill>
              </a:rPr>
              <a:t>World Bank Development Indicators</a:t>
            </a:r>
            <a:endParaRPr lang="en-US" sz="1200" dirty="0"/>
          </a:p>
          <a:p>
            <a:pPr marL="342900" indent="-342900">
              <a:buSzPct val="100000"/>
              <a:buChar char="•"/>
            </a:pPr>
            <a:r>
              <a:rPr lang="en-US" sz="1200" dirty="0">
                <a:solidFill>
                  <a:srgbClr val="5A6A7A"/>
                </a:solidFill>
              </a:rPr>
              <a:t>1953–2024 annual observations</a:t>
            </a:r>
            <a:endParaRPr lang="en-US" sz="1200" dirty="0"/>
          </a:p>
          <a:p>
            <a:pPr marL="342900" indent="-342900">
              <a:buSzPct val="100000"/>
              <a:buChar char="•"/>
            </a:pPr>
            <a:r>
              <a:rPr lang="en-US" sz="1200" dirty="0">
                <a:solidFill>
                  <a:srgbClr val="5A6A7A"/>
                </a:solidFill>
              </a:rPr>
              <a:t>k/worker, y/worker, r, n, g, δ</a:t>
            </a:r>
            <a:endParaRPr lang="en-US" sz="1200" dirty="0"/>
          </a:p>
        </p:txBody>
      </p:sp>
      <p:sp>
        <p:nvSpPr>
          <p:cNvPr id="10" name="Shape 8"/>
          <p:cNvSpPr/>
          <p:nvPr/>
        </p:nvSpPr>
        <p:spPr>
          <a:xfrm>
            <a:off x="5421086" y="1307102"/>
            <a:ext cx="2948287" cy="411480"/>
          </a:xfrm>
          <a:prstGeom prst="rect">
            <a:avLst/>
          </a:prstGeom>
          <a:solidFill>
            <a:srgbClr val="C8952A"/>
          </a:solidFill>
          <a:ln w="12700">
            <a:solidFill>
              <a:srgbClr val="C8952A"/>
            </a:solidFill>
            <a:prstDash val="solid"/>
          </a:ln>
        </p:spPr>
      </p:sp>
      <p:sp>
        <p:nvSpPr>
          <p:cNvPr id="11" name="Text 9"/>
          <p:cNvSpPr/>
          <p:nvPr/>
        </p:nvSpPr>
        <p:spPr>
          <a:xfrm>
            <a:off x="5603313" y="1311184"/>
            <a:ext cx="2834640" cy="411480"/>
          </a:xfrm>
          <a:prstGeom prst="rect">
            <a:avLst/>
          </a:prstGeom>
          <a:noFill/>
          <a:ln/>
        </p:spPr>
        <p:txBody>
          <a:bodyPr wrap="square" lIns="0" tIns="0" rIns="0" bIns="0" rtlCol="0" anchor="ctr"/>
          <a:lstStyle/>
          <a:p>
            <a:pPr marL="0" indent="0" algn="ctr">
              <a:buNone/>
            </a:pPr>
            <a:r>
              <a:rPr lang="en-US" sz="1400" b="1" dirty="0">
                <a:solidFill>
                  <a:srgbClr val="FFFFFF"/>
                </a:solidFill>
              </a:rPr>
              <a:t>Models Used</a:t>
            </a:r>
            <a:endParaRPr lang="en-US" sz="1400" dirty="0"/>
          </a:p>
        </p:txBody>
      </p:sp>
      <p:sp>
        <p:nvSpPr>
          <p:cNvPr id="12" name="Shape 10"/>
          <p:cNvSpPr/>
          <p:nvPr/>
        </p:nvSpPr>
        <p:spPr>
          <a:xfrm>
            <a:off x="5423048" y="1722664"/>
            <a:ext cx="2948286" cy="1039150"/>
          </a:xfrm>
          <a:prstGeom prst="rect">
            <a:avLst/>
          </a:prstGeom>
          <a:solidFill>
            <a:srgbClr val="F2F6F9"/>
          </a:solidFill>
          <a:ln w="6350">
            <a:solidFill>
              <a:srgbClr val="D4DDE8"/>
            </a:solidFill>
            <a:prstDash val="solid"/>
          </a:ln>
        </p:spPr>
      </p:sp>
      <p:sp>
        <p:nvSpPr>
          <p:cNvPr id="13" name="Text 11"/>
          <p:cNvSpPr/>
          <p:nvPr/>
        </p:nvSpPr>
        <p:spPr>
          <a:xfrm>
            <a:off x="5603313" y="1848396"/>
            <a:ext cx="2560320" cy="2377440"/>
          </a:xfrm>
          <a:prstGeom prst="rect">
            <a:avLst/>
          </a:prstGeom>
          <a:noFill/>
          <a:ln/>
        </p:spPr>
        <p:txBody>
          <a:bodyPr wrap="square" lIns="0" tIns="0" rIns="0" bIns="0" rtlCol="0" anchor="t"/>
          <a:lstStyle/>
          <a:p>
            <a:pPr marL="342900" indent="-342900">
              <a:buSzPct val="100000"/>
              <a:buChar char="•"/>
            </a:pPr>
            <a:r>
              <a:rPr lang="en-US" sz="1200" dirty="0">
                <a:solidFill>
                  <a:srgbClr val="5A6A7A"/>
                </a:solidFill>
              </a:rPr>
              <a:t>Solow: OLS growth regressions</a:t>
            </a:r>
            <a:endParaRPr lang="en-US" sz="1200" dirty="0"/>
          </a:p>
          <a:p>
            <a:pPr marL="342900" indent="-342900">
              <a:buSzPct val="100000"/>
              <a:buChar char="•"/>
            </a:pPr>
            <a:r>
              <a:rPr lang="en-US" sz="1200" dirty="0">
                <a:solidFill>
                  <a:srgbClr val="5A6A7A"/>
                </a:solidFill>
              </a:rPr>
              <a:t>Barro: conditional &amp; unconditional</a:t>
            </a:r>
            <a:endParaRPr lang="en-US" sz="1200" dirty="0"/>
          </a:p>
          <a:p>
            <a:pPr marL="342900" indent="-342900">
              <a:buSzPct val="100000"/>
              <a:buChar char="•"/>
            </a:pPr>
            <a:r>
              <a:rPr lang="en-US" sz="1200" dirty="0">
                <a:solidFill>
                  <a:srgbClr val="5A6A7A"/>
                </a:solidFill>
              </a:rPr>
              <a:t>RCK: calibrated phase diagram</a:t>
            </a:r>
            <a:endParaRPr lang="en-US" sz="1200" dirty="0"/>
          </a:p>
          <a:p>
            <a:pPr marL="342900" indent="-342900">
              <a:buSzPct val="100000"/>
              <a:buChar char="•"/>
            </a:pPr>
            <a:r>
              <a:rPr lang="en-US" sz="1200" dirty="0">
                <a:solidFill>
                  <a:srgbClr val="5A6A7A"/>
                </a:solidFill>
              </a:rPr>
              <a:t>OLG: transition function (OLS)</a:t>
            </a:r>
            <a:endParaRPr lang="en-US" sz="1200" dirty="0"/>
          </a:p>
        </p:txBody>
      </p:sp>
      <p:sp>
        <p:nvSpPr>
          <p:cNvPr id="14" name="Shape 12"/>
          <p:cNvSpPr/>
          <p:nvPr/>
        </p:nvSpPr>
        <p:spPr>
          <a:xfrm>
            <a:off x="5421085" y="3089066"/>
            <a:ext cx="2929739" cy="411480"/>
          </a:xfrm>
          <a:prstGeom prst="rect">
            <a:avLst/>
          </a:prstGeom>
          <a:solidFill>
            <a:srgbClr val="1A7A4A"/>
          </a:solidFill>
          <a:ln w="12700">
            <a:solidFill>
              <a:srgbClr val="1A7A4A"/>
            </a:solidFill>
            <a:prstDash val="solid"/>
          </a:ln>
        </p:spPr>
      </p:sp>
      <p:sp>
        <p:nvSpPr>
          <p:cNvPr id="15" name="Text 13"/>
          <p:cNvSpPr/>
          <p:nvPr/>
        </p:nvSpPr>
        <p:spPr>
          <a:xfrm>
            <a:off x="5638583" y="3155414"/>
            <a:ext cx="2834640" cy="411480"/>
          </a:xfrm>
          <a:prstGeom prst="rect">
            <a:avLst/>
          </a:prstGeom>
          <a:noFill/>
          <a:ln/>
        </p:spPr>
        <p:txBody>
          <a:bodyPr wrap="square" lIns="0" tIns="0" rIns="0" bIns="0" rtlCol="0" anchor="ctr"/>
          <a:lstStyle/>
          <a:p>
            <a:pPr marL="0" indent="0" algn="ctr">
              <a:buNone/>
            </a:pPr>
            <a:r>
              <a:rPr lang="en-US" sz="1400" b="1" dirty="0">
                <a:solidFill>
                  <a:srgbClr val="FFFFFF"/>
                </a:solidFill>
              </a:rPr>
              <a:t>Software</a:t>
            </a:r>
            <a:endParaRPr lang="en-US" sz="1400" dirty="0"/>
          </a:p>
        </p:txBody>
      </p:sp>
      <p:sp>
        <p:nvSpPr>
          <p:cNvPr id="16" name="Shape 14"/>
          <p:cNvSpPr/>
          <p:nvPr/>
        </p:nvSpPr>
        <p:spPr>
          <a:xfrm>
            <a:off x="5410645" y="3487917"/>
            <a:ext cx="2945655" cy="1084217"/>
          </a:xfrm>
          <a:prstGeom prst="rect">
            <a:avLst/>
          </a:prstGeom>
          <a:solidFill>
            <a:srgbClr val="F2F6F9"/>
          </a:solidFill>
          <a:ln w="6350">
            <a:solidFill>
              <a:srgbClr val="D4DDE8"/>
            </a:solidFill>
            <a:prstDash val="solid"/>
          </a:ln>
        </p:spPr>
      </p:sp>
      <p:sp>
        <p:nvSpPr>
          <p:cNvPr id="17" name="Text 15"/>
          <p:cNvSpPr/>
          <p:nvPr/>
        </p:nvSpPr>
        <p:spPr>
          <a:xfrm>
            <a:off x="5558246" y="3631228"/>
            <a:ext cx="2560320" cy="2377440"/>
          </a:xfrm>
          <a:prstGeom prst="rect">
            <a:avLst/>
          </a:prstGeom>
          <a:noFill/>
          <a:ln/>
        </p:spPr>
        <p:txBody>
          <a:bodyPr wrap="square" lIns="0" tIns="0" rIns="0" bIns="0" rtlCol="0" anchor="t"/>
          <a:lstStyle/>
          <a:p>
            <a:pPr marL="342900" indent="-342900">
              <a:buSzPct val="100000"/>
              <a:buChar char="•"/>
            </a:pPr>
            <a:r>
              <a:rPr lang="en-US" sz="1200" dirty="0">
                <a:solidFill>
                  <a:srgbClr val="5A6A7A"/>
                </a:solidFill>
              </a:rPr>
              <a:t>R (ggplot2, dplyr, </a:t>
            </a:r>
            <a:r>
              <a:rPr lang="en-US" sz="1200" dirty="0" err="1">
                <a:solidFill>
                  <a:srgbClr val="5A6A7A"/>
                </a:solidFill>
              </a:rPr>
              <a:t>lm</a:t>
            </a:r>
            <a:r>
              <a:rPr lang="en-US" sz="1200" dirty="0">
                <a:solidFill>
                  <a:srgbClr val="5A6A7A"/>
                </a:solidFill>
              </a:rPr>
              <a:t>)</a:t>
            </a:r>
            <a:endParaRPr lang="en-US" sz="1200" dirty="0"/>
          </a:p>
          <a:p>
            <a:pPr marL="342900" indent="-342900">
              <a:buSzPct val="100000"/>
              <a:buChar char="•"/>
            </a:pPr>
            <a:r>
              <a:rPr lang="en-US" sz="1200" dirty="0">
                <a:solidFill>
                  <a:srgbClr val="5A6A7A"/>
                </a:solidFill>
              </a:rPr>
              <a:t>Stata 17 (regress, twoway)</a:t>
            </a:r>
            <a:endParaRPr lang="en-US" sz="1200" dirty="0"/>
          </a:p>
          <a:p>
            <a:pPr marL="342900" indent="-342900">
              <a:buSzPct val="100000"/>
              <a:buChar char="•"/>
            </a:pPr>
            <a:r>
              <a:rPr lang="en-US" sz="1200" dirty="0">
                <a:solidFill>
                  <a:srgbClr val="5A6A7A"/>
                </a:solidFill>
              </a:rPr>
              <a:t>PWT data package in R</a:t>
            </a:r>
            <a:endParaRPr lang="en-US" sz="1200" dirty="0"/>
          </a:p>
          <a:p>
            <a:pPr marL="342900" indent="-342900">
              <a:buSzPct val="100000"/>
              <a:buChar char="•"/>
            </a:pPr>
            <a:r>
              <a:rPr lang="en-US" sz="1200" dirty="0">
                <a:solidFill>
                  <a:srgbClr val="5A6A7A"/>
                </a:solidFill>
              </a:rPr>
              <a:t>Log-linear specifications</a:t>
            </a:r>
            <a:endParaRPr lang="en-US" sz="1200" dirty="0"/>
          </a:p>
        </p:txBody>
      </p:sp>
      <p:sp>
        <p:nvSpPr>
          <p:cNvPr id="18" name="Text 16"/>
          <p:cNvSpPr/>
          <p:nvPr/>
        </p:nvSpPr>
        <p:spPr>
          <a:xfrm>
            <a:off x="256032" y="4526280"/>
            <a:ext cx="8631936" cy="274320"/>
          </a:xfrm>
          <a:prstGeom prst="rect">
            <a:avLst/>
          </a:prstGeom>
          <a:noFill/>
          <a:ln/>
        </p:spPr>
        <p:txBody>
          <a:bodyPr wrap="square" lIns="0" tIns="0" rIns="0" bIns="0" rtlCol="0" anchor="ctr"/>
          <a:lstStyle/>
          <a:p>
            <a:pPr marL="0" indent="0">
              <a:buNone/>
            </a:pPr>
            <a:r>
              <a:rPr lang="en-US" sz="1000" i="1" dirty="0">
                <a:solidFill>
                  <a:srgbClr val="5A6A7A"/>
                </a:solidFill>
              </a:rPr>
              <a:t>Golden Rule condition: r = n + g  |  Dynamic efficiency: r ≥ n + g</a:t>
            </a:r>
            <a:endParaRPr lang="en-US" sz="1000" dirty="0"/>
          </a:p>
        </p:txBody>
      </p:sp>
      <p:sp>
        <p:nvSpPr>
          <p:cNvPr id="19" name="Shape 4">
            <a:extLst>
              <a:ext uri="{FF2B5EF4-FFF2-40B4-BE49-F238E27FC236}">
                <a16:creationId xmlns:a16="http://schemas.microsoft.com/office/drawing/2014/main" id="{C2D17F8A-3D2D-0589-B1CB-4D14E0407A1E}"/>
              </a:ext>
            </a:extLst>
          </p:cNvPr>
          <p:cNvSpPr/>
          <p:nvPr/>
        </p:nvSpPr>
        <p:spPr>
          <a:xfrm>
            <a:off x="793175" y="3108660"/>
            <a:ext cx="3000079" cy="411480"/>
          </a:xfrm>
          <a:prstGeom prst="rect">
            <a:avLst/>
          </a:prstGeom>
          <a:solidFill>
            <a:srgbClr val="FF5050"/>
          </a:solidFill>
          <a:ln w="12700">
            <a:solidFill>
              <a:srgbClr val="0D7C8F"/>
            </a:solidFill>
            <a:prstDash val="solid"/>
          </a:ln>
        </p:spPr>
        <p:txBody>
          <a:bodyPr/>
          <a:lstStyle/>
          <a:p>
            <a:pPr algn="ctr"/>
            <a:r>
              <a:rPr lang="en-US" sz="1600" b="1" dirty="0">
                <a:solidFill>
                  <a:schemeClr val="bg1"/>
                </a:solidFill>
              </a:rPr>
              <a:t>Evaluation</a:t>
            </a:r>
            <a:r>
              <a:rPr lang="en-US" dirty="0"/>
              <a:t> </a:t>
            </a:r>
            <a:endParaRPr lang="en-IN" dirty="0"/>
          </a:p>
        </p:txBody>
      </p:sp>
      <p:sp>
        <p:nvSpPr>
          <p:cNvPr id="20" name="Shape 6">
            <a:extLst>
              <a:ext uri="{FF2B5EF4-FFF2-40B4-BE49-F238E27FC236}">
                <a16:creationId xmlns:a16="http://schemas.microsoft.com/office/drawing/2014/main" id="{96450523-7B2C-DA8F-5254-5531C592330F}"/>
              </a:ext>
            </a:extLst>
          </p:cNvPr>
          <p:cNvSpPr/>
          <p:nvPr/>
        </p:nvSpPr>
        <p:spPr>
          <a:xfrm>
            <a:off x="777259" y="3508112"/>
            <a:ext cx="2994813" cy="978980"/>
          </a:xfrm>
          <a:prstGeom prst="rect">
            <a:avLst/>
          </a:prstGeom>
          <a:solidFill>
            <a:srgbClr val="F2F6F9"/>
          </a:solidFill>
          <a:ln w="6350">
            <a:solidFill>
              <a:srgbClr val="D4DDE8"/>
            </a:solidFill>
            <a:prstDash val="solid"/>
          </a:ln>
        </p:spPr>
        <p:txBody>
          <a:bodyPr/>
          <a:lstStyle/>
          <a:p>
            <a:pPr marL="285750" indent="-285750">
              <a:buFont typeface="Arial" panose="020B0604020202020204" pitchFamily="34" charset="0"/>
              <a:buChar char="•"/>
            </a:pPr>
            <a:r>
              <a:rPr lang="en-US" sz="1200" dirty="0">
                <a:solidFill>
                  <a:schemeClr val="tx2">
                    <a:lumMod val="75000"/>
                  </a:schemeClr>
                </a:solidFill>
                <a:ea typeface="Calibri" panose="020F0502020204030204" pitchFamily="34" charset="0"/>
                <a:cs typeface="Calibri" panose="020F0502020204030204" pitchFamily="34" charset="0"/>
              </a:rPr>
              <a:t>Convergence &amp; Steady state</a:t>
            </a:r>
          </a:p>
          <a:p>
            <a:pPr marL="285750" indent="-285750">
              <a:buFont typeface="Arial" panose="020B0604020202020204" pitchFamily="34" charset="0"/>
              <a:buChar char="•"/>
            </a:pPr>
            <a:r>
              <a:rPr lang="en-US" sz="1200" dirty="0">
                <a:solidFill>
                  <a:schemeClr val="tx2">
                    <a:lumMod val="75000"/>
                  </a:schemeClr>
                </a:solidFill>
                <a:ea typeface="Calibri" panose="020F0502020204030204" pitchFamily="34" charset="0"/>
                <a:cs typeface="Calibri" panose="020F0502020204030204" pitchFamily="34" charset="0"/>
              </a:rPr>
              <a:t>Dynamic Efficiency(r </a:t>
            </a:r>
            <a:r>
              <a:rPr lang="en-IN" sz="1200" dirty="0">
                <a:solidFill>
                  <a:schemeClr val="tx2">
                    <a:lumMod val="75000"/>
                  </a:schemeClr>
                </a:solidFill>
                <a:ea typeface="Calibri" panose="020F0502020204030204" pitchFamily="34" charset="0"/>
                <a:cs typeface="Calibri" panose="020F0502020204030204" pitchFamily="34" charset="0"/>
              </a:rPr>
              <a:t>≥ n + g</a:t>
            </a:r>
            <a:r>
              <a:rPr lang="en-US" sz="1200" dirty="0">
                <a:solidFill>
                  <a:schemeClr val="tx2">
                    <a:lumMod val="75000"/>
                  </a:schemeClr>
                </a:solidFill>
                <a:ea typeface="Calibri" panose="020F0502020204030204" pitchFamily="34" charset="0"/>
                <a:cs typeface="Calibri" panose="020F0502020204030204" pitchFamily="34" charset="0"/>
              </a:rPr>
              <a:t>)</a:t>
            </a:r>
          </a:p>
          <a:p>
            <a:pPr marL="285750" indent="-285750">
              <a:buFont typeface="Arial" panose="020B0604020202020204" pitchFamily="34" charset="0"/>
              <a:buChar char="•"/>
            </a:pPr>
            <a:r>
              <a:rPr lang="en-US" sz="1200" dirty="0">
                <a:solidFill>
                  <a:schemeClr val="tx2">
                    <a:lumMod val="75000"/>
                  </a:schemeClr>
                </a:solidFill>
                <a:ea typeface="Calibri" panose="020F0502020204030204" pitchFamily="34" charset="0"/>
                <a:cs typeface="Calibri" panose="020F0502020204030204" pitchFamily="34" charset="0"/>
              </a:rPr>
              <a:t>Model Fit with Data</a:t>
            </a:r>
            <a:endParaRPr lang="en-IN" sz="1200" dirty="0">
              <a:solidFill>
                <a:schemeClr val="tx2">
                  <a:lumMod val="75000"/>
                </a:schemeClr>
              </a:solidFill>
              <a:ea typeface="Calibri" panose="020F0502020204030204" pitchFamily="34" charset="0"/>
              <a:cs typeface="Calibri" panose="020F0502020204030204" pitchFamily="34" charset="0"/>
            </a:endParaRPr>
          </a:p>
          <a:p>
            <a:endParaRPr lang="en-IN" sz="1400" dirty="0"/>
          </a:p>
        </p:txBody>
      </p:sp>
      <p:pic>
        <p:nvPicPr>
          <p:cNvPr id="21" name="Graphic 20" descr="Database with solid fill">
            <a:extLst>
              <a:ext uri="{FF2B5EF4-FFF2-40B4-BE49-F238E27FC236}">
                <a16:creationId xmlns:a16="http://schemas.microsoft.com/office/drawing/2014/main" id="{9FA6E10E-B32A-00E2-32B3-639B0AD15B3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1473" y="1249737"/>
            <a:ext cx="395252" cy="395252"/>
          </a:xfrm>
          <a:prstGeom prst="rect">
            <a:avLst/>
          </a:prstGeom>
        </p:spPr>
      </p:pic>
      <p:pic>
        <p:nvPicPr>
          <p:cNvPr id="22" name="Graphic 21" descr="Checklist with solid fill">
            <a:extLst>
              <a:ext uri="{FF2B5EF4-FFF2-40B4-BE49-F238E27FC236}">
                <a16:creationId xmlns:a16="http://schemas.microsoft.com/office/drawing/2014/main" id="{612CBAA2-A2F6-6F89-83D1-DE5EA28543A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3175" y="3110947"/>
            <a:ext cx="406096" cy="406096"/>
          </a:xfrm>
          <a:prstGeom prst="rect">
            <a:avLst/>
          </a:prstGeom>
        </p:spPr>
      </p:pic>
      <p:pic>
        <p:nvPicPr>
          <p:cNvPr id="23" name="Graphic 22" descr="Bar chart with solid fill">
            <a:extLst>
              <a:ext uri="{FF2B5EF4-FFF2-40B4-BE49-F238E27FC236}">
                <a16:creationId xmlns:a16="http://schemas.microsoft.com/office/drawing/2014/main" id="{FB8569D7-6F81-CF39-43FD-AC9368B6EB7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88268" y="1358780"/>
            <a:ext cx="389732" cy="389732"/>
          </a:xfrm>
          <a:prstGeom prst="rect">
            <a:avLst/>
          </a:prstGeom>
        </p:spPr>
      </p:pic>
      <p:pic>
        <p:nvPicPr>
          <p:cNvPr id="24" name="Graphic 23" descr="Internet with solid fill">
            <a:extLst>
              <a:ext uri="{FF2B5EF4-FFF2-40B4-BE49-F238E27FC236}">
                <a16:creationId xmlns:a16="http://schemas.microsoft.com/office/drawing/2014/main" id="{23A0CE68-7727-608E-B296-61B87A39329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488268" y="3086400"/>
            <a:ext cx="479594" cy="47959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1A2B4A"/>
        </a:solidFill>
        <a:effectLst/>
      </p:bgPr>
    </p:bg>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0D7C8F"/>
          </a:solidFill>
          <a:ln w="12700">
            <a:solidFill>
              <a:srgbClr val="0D7C8F"/>
            </a:solidFill>
            <a:prstDash val="solid"/>
          </a:ln>
        </p:spPr>
      </p:sp>
      <p:sp>
        <p:nvSpPr>
          <p:cNvPr id="3" name="Text 1"/>
          <p:cNvSpPr/>
          <p:nvPr/>
        </p:nvSpPr>
        <p:spPr>
          <a:xfrm>
            <a:off x="274320" y="1645920"/>
            <a:ext cx="2377440" cy="1371600"/>
          </a:xfrm>
          <a:prstGeom prst="rect">
            <a:avLst/>
          </a:prstGeom>
          <a:noFill/>
          <a:ln/>
        </p:spPr>
        <p:txBody>
          <a:bodyPr wrap="square" lIns="0" tIns="0" rIns="0" bIns="0" rtlCol="0" anchor="ctr"/>
          <a:lstStyle/>
          <a:p>
            <a:pPr marL="0" indent="0" algn="ctr">
              <a:buNone/>
            </a:pPr>
            <a:r>
              <a:rPr lang="en-US" sz="8000" b="1" dirty="0">
                <a:solidFill>
                  <a:srgbClr val="FFFFFF"/>
                </a:solidFill>
                <a:latin typeface="Cambria" pitchFamily="34" charset="0"/>
                <a:ea typeface="Cambria" pitchFamily="34" charset="-122"/>
                <a:cs typeface="Cambria" pitchFamily="34" charset="-120"/>
              </a:rPr>
              <a:t>01</a:t>
            </a:r>
            <a:endParaRPr lang="en-US" sz="8000" dirty="0"/>
          </a:p>
        </p:txBody>
      </p:sp>
      <p:sp>
        <p:nvSpPr>
          <p:cNvPr id="4" name="Text 2"/>
          <p:cNvSpPr/>
          <p:nvPr/>
        </p:nvSpPr>
        <p:spPr>
          <a:xfrm>
            <a:off x="3200400" y="1554480"/>
            <a:ext cx="5669280" cy="9144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Solow Growth Model</a:t>
            </a:r>
            <a:endParaRPr lang="en-US" sz="3200" dirty="0"/>
          </a:p>
        </p:txBody>
      </p:sp>
      <p:sp>
        <p:nvSpPr>
          <p:cNvPr id="5" name="Text 3"/>
          <p:cNvSpPr/>
          <p:nvPr/>
        </p:nvSpPr>
        <p:spPr>
          <a:xfrm>
            <a:off x="3200400" y="2514600"/>
            <a:ext cx="5669280" cy="548640"/>
          </a:xfrm>
          <a:prstGeom prst="rect">
            <a:avLst/>
          </a:prstGeom>
          <a:noFill/>
          <a:ln/>
        </p:spPr>
        <p:txBody>
          <a:bodyPr wrap="square" lIns="0" tIns="0" rIns="0" bIns="0" rtlCol="0" anchor="ctr"/>
          <a:lstStyle/>
          <a:p>
            <a:pPr marL="0" indent="0">
              <a:buNone/>
            </a:pPr>
            <a:r>
              <a:rPr lang="en-US" sz="1400" dirty="0">
                <a:solidFill>
                  <a:srgbClr val="A8C8D8"/>
                </a:solidFill>
              </a:rPr>
              <a:t>Capital Accumulation &amp; Convergence — South Korea</a:t>
            </a:r>
            <a:endParaRPr lang="en-US" sz="1400" dirty="0"/>
          </a:p>
        </p:txBody>
      </p:sp>
      <p:sp>
        <p:nvSpPr>
          <p:cNvPr id="6" name="Preview 6"/>
          <p:cNvSpPr/>
          <p:nvPr/>
        </p:nvSpPr>
        <p:spPr>
          <a:xfrm>
            <a:off x="3200400" y="3200400"/>
            <a:ext cx="5578080" cy="1371600"/>
          </a:xfrm>
          <a:prstGeom prst="rect">
            <a:avLst/>
          </a:prstGeom>
          <a:noFill/>
          <a:ln/>
        </p:spPr>
        <p:txBody>
          <a:bodyPr wrap="square" lIns="0" tIns="0" rIns="0" bIns="0" rtlCol="0" anchor="t"/>
          <a:lstStyle/>
          <a:p>
            <a:pPr marL="228600" indent="0">
              <a:buChar char="→"/>
            </a:pPr>
            <a:r>
              <a:rPr lang="en-US" sz="1100" dirty="0">
                <a:solidFill>
                  <a:srgbClr val="7EC8D8"/>
                </a:solidFill>
              </a:rPr>
              <a:t>Core framework: Cobb-Douglas, capital accumulation</a:t>
            </a:r>
          </a:p>
          <a:p>
            <a:pPr marL="228600" indent="0">
              <a:buChar char="→"/>
            </a:pPr>
            <a:r>
              <a:rPr lang="en-US" sz="1100" dirty="0">
                <a:solidFill>
                  <a:srgbClr val="7EC8D8"/>
                </a:solidFill>
              </a:rPr>
              <a:t>Phase diagram &amp; steady-state convergence paths</a:t>
            </a:r>
          </a:p>
          <a:p>
            <a:pPr marL="228600" indent="0">
              <a:buChar char="→"/>
            </a:pPr>
            <a:r>
              <a:rPr lang="en-US" sz="1100" dirty="0">
                <a:solidFill>
                  <a:srgbClr val="7EC8D8"/>
                </a:solidFill>
              </a:rPr>
              <a:t>Barro regressions: conditional &amp; unconditional</a:t>
            </a:r>
          </a:p>
          <a:p>
            <a:pPr marL="228600" indent="0">
              <a:buChar char="→"/>
            </a:pPr>
            <a:r>
              <a:rPr lang="en-US" sz="1100" dirty="0">
                <a:solidFill>
                  <a:srgbClr val="7EC8D8"/>
                </a:solidFill>
              </a:rPr>
              <a:t>Actual vs model-fitted output &amp; HDI regression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C8F"/>
          </a:solidFill>
          <a:ln w="12700">
            <a:solidFill>
              <a:srgbClr val="0D7C8F"/>
            </a:solidFill>
            <a:prstDash val="solid"/>
          </a:ln>
        </p:spPr>
      </p:sp>
      <p:sp>
        <p:nvSpPr>
          <p:cNvPr id="3" name="Text 1"/>
          <p:cNvSpPr/>
          <p:nvPr/>
        </p:nvSpPr>
        <p:spPr>
          <a:xfrm>
            <a:off x="256032" y="164592"/>
            <a:ext cx="5486400" cy="256032"/>
          </a:xfrm>
          <a:prstGeom prst="rect">
            <a:avLst/>
          </a:prstGeom>
          <a:noFill/>
          <a:ln/>
        </p:spPr>
        <p:txBody>
          <a:bodyPr wrap="square" lIns="0" tIns="0" rIns="0" bIns="0" rtlCol="0" anchor="ctr"/>
          <a:lstStyle/>
          <a:p>
            <a:pPr marL="0" indent="0">
              <a:buNone/>
            </a:pPr>
            <a:r>
              <a:rPr lang="en-US" sz="800" b="1" kern="0" spc="300" dirty="0">
                <a:solidFill>
                  <a:srgbClr val="0D7C8F"/>
                </a:solidFill>
              </a:rPr>
              <a:t>SOLOW MODEL — THEORY</a:t>
            </a:r>
            <a:endParaRPr lang="en-US" sz="800" dirty="0"/>
          </a:p>
        </p:txBody>
      </p:sp>
      <p:sp>
        <p:nvSpPr>
          <p:cNvPr id="4" name="Text 2"/>
          <p:cNvSpPr/>
          <p:nvPr/>
        </p:nvSpPr>
        <p:spPr>
          <a:xfrm>
            <a:off x="256032" y="502920"/>
            <a:ext cx="8631936" cy="594360"/>
          </a:xfrm>
          <a:prstGeom prst="rect">
            <a:avLst/>
          </a:prstGeom>
          <a:noFill/>
          <a:ln/>
        </p:spPr>
        <p:txBody>
          <a:bodyPr wrap="square" lIns="0" tIns="0" rIns="0" bIns="0" rtlCol="0" anchor="ctr"/>
          <a:lstStyle/>
          <a:p>
            <a:pPr marL="0" indent="0">
              <a:buNone/>
            </a:pPr>
            <a:r>
              <a:rPr lang="en-US" sz="2800" b="1" dirty="0">
                <a:solidFill>
                  <a:srgbClr val="2C3E50"/>
                </a:solidFill>
                <a:latin typeface="Cambria" pitchFamily="34" charset="0"/>
                <a:ea typeface="Cambria" pitchFamily="34" charset="-122"/>
                <a:cs typeface="Cambria" pitchFamily="34" charset="-120"/>
              </a:rPr>
              <a:t>Solow Model: Core Framework</a:t>
            </a:r>
            <a:endParaRPr lang="en-US" sz="2800" dirty="0"/>
          </a:p>
        </p:txBody>
      </p:sp>
      <p:sp>
        <p:nvSpPr>
          <p:cNvPr id="5" name="Shape 3"/>
          <p:cNvSpPr/>
          <p:nvPr/>
        </p:nvSpPr>
        <p:spPr>
          <a:xfrm>
            <a:off x="256032" y="1188720"/>
            <a:ext cx="8631936" cy="0"/>
          </a:xfrm>
          <a:prstGeom prst="line">
            <a:avLst/>
          </a:prstGeom>
          <a:noFill/>
          <a:ln w="19050">
            <a:solidFill>
              <a:srgbClr val="0D7C8F"/>
            </a:solidFill>
            <a:prstDash val="solid"/>
          </a:ln>
        </p:spPr>
      </p:sp>
      <p:sp>
        <p:nvSpPr>
          <p:cNvPr id="6" name="Text 4"/>
          <p:cNvSpPr/>
          <p:nvPr/>
        </p:nvSpPr>
        <p:spPr>
          <a:xfrm>
            <a:off x="256032" y="1325880"/>
            <a:ext cx="5029200" cy="1005840"/>
          </a:xfrm>
          <a:prstGeom prst="rect">
            <a:avLst/>
          </a:prstGeom>
          <a:noFill/>
          <a:ln/>
        </p:spPr>
        <p:txBody>
          <a:bodyPr wrap="square" lIns="0" tIns="0" rIns="0" bIns="0" rtlCol="0" anchor="ctr"/>
          <a:lstStyle/>
          <a:p>
            <a:pPr marL="0" indent="0">
              <a:buNone/>
            </a:pPr>
            <a:r>
              <a:rPr lang="en-US" sz="1300" dirty="0">
                <a:solidFill>
                  <a:srgbClr val="5A6A7A"/>
                </a:solidFill>
              </a:rPr>
              <a:t>The Solow (1956) model explains long-run growth via capital accumulation, labour growth and exogenous technological progress. The economy converges to a unique steady state determined by savings, depreciation and population growth.</a:t>
            </a:r>
            <a:endParaRPr lang="en-US" sz="1300" dirty="0"/>
          </a:p>
        </p:txBody>
      </p:sp>
      <p:sp>
        <p:nvSpPr>
          <p:cNvPr id="7" name="Shape 5"/>
          <p:cNvSpPr/>
          <p:nvPr/>
        </p:nvSpPr>
        <p:spPr>
          <a:xfrm>
            <a:off x="256032" y="2423160"/>
            <a:ext cx="5029200" cy="2423160"/>
          </a:xfrm>
          <a:prstGeom prst="rect">
            <a:avLst/>
          </a:prstGeom>
          <a:solidFill>
            <a:srgbClr val="EDF4F7"/>
          </a:solidFill>
          <a:ln w="6350">
            <a:solidFill>
              <a:srgbClr val="B0CCD8"/>
            </a:solidFill>
            <a:prstDash val="solid"/>
          </a:ln>
        </p:spPr>
      </p:sp>
      <p:sp>
        <p:nvSpPr>
          <p:cNvPr id="8" name="Text 6"/>
          <p:cNvSpPr/>
          <p:nvPr/>
        </p:nvSpPr>
        <p:spPr>
          <a:xfrm>
            <a:off x="411480" y="2487168"/>
            <a:ext cx="4663440" cy="292608"/>
          </a:xfrm>
          <a:prstGeom prst="rect">
            <a:avLst/>
          </a:prstGeom>
          <a:noFill/>
          <a:ln/>
        </p:spPr>
        <p:txBody>
          <a:bodyPr wrap="square" lIns="0" tIns="0" rIns="0" bIns="0" rtlCol="0" anchor="ctr"/>
          <a:lstStyle/>
          <a:p>
            <a:pPr marL="0" indent="0">
              <a:buNone/>
            </a:pPr>
            <a:r>
              <a:rPr lang="en-US" sz="1300" b="1" dirty="0">
                <a:solidFill>
                  <a:srgbClr val="0D7C8F"/>
                </a:solidFill>
              </a:rPr>
              <a:t>Key Equations</a:t>
            </a:r>
            <a:endParaRPr lang="en-US" sz="1300" dirty="0"/>
          </a:p>
        </p:txBody>
      </p:sp>
      <p:sp>
        <p:nvSpPr>
          <p:cNvPr id="9" name="Text 7"/>
          <p:cNvSpPr/>
          <p:nvPr/>
        </p:nvSpPr>
        <p:spPr>
          <a:xfrm>
            <a:off x="411480" y="2834640"/>
            <a:ext cx="4663440" cy="1920240"/>
          </a:xfrm>
          <a:prstGeom prst="rect">
            <a:avLst/>
          </a:prstGeom>
          <a:noFill/>
          <a:ln/>
        </p:spPr>
        <p:txBody>
          <a:bodyPr wrap="square" lIns="0" tIns="0" rIns="0" bIns="0" rtlCol="0" anchor="t"/>
          <a:lstStyle/>
          <a:p>
            <a:pPr marL="342900" indent="-342900">
              <a:buSzPct val="100000"/>
              <a:buChar char="•"/>
            </a:pPr>
            <a:r>
              <a:rPr lang="en-US" sz="1150" dirty="0">
                <a:solidFill>
                  <a:srgbClr val="2C3E50"/>
                </a:solidFill>
                <a:latin typeface="Consolas" pitchFamily="34" charset="0"/>
                <a:ea typeface="Consolas" pitchFamily="34" charset="-122"/>
                <a:cs typeface="Consolas" pitchFamily="34" charset="-120"/>
              </a:rPr>
              <a:t>Y = K^α (AL)^(1−α)      [Cobb-Douglas production]</a:t>
            </a:r>
            <a:endParaRPr lang="en-US" sz="1150" dirty="0"/>
          </a:p>
          <a:p>
            <a:pPr marL="342900" indent="-342900">
              <a:buSzPct val="100000"/>
              <a:buChar char="•"/>
            </a:pPr>
            <a:r>
              <a:rPr lang="en-US" sz="1150" dirty="0">
                <a:solidFill>
                  <a:srgbClr val="2C3E50"/>
                </a:solidFill>
                <a:latin typeface="Consolas" pitchFamily="34" charset="0"/>
                <a:ea typeface="Consolas" pitchFamily="34" charset="-122"/>
                <a:cs typeface="Consolas" pitchFamily="34" charset="-120"/>
              </a:rPr>
              <a:t>k̇ = s·f(k) − (n+g+δ)·k  [Capital accumulation]</a:t>
            </a:r>
            <a:endParaRPr lang="en-US" sz="1150" dirty="0"/>
          </a:p>
          <a:p>
            <a:pPr marL="342900" indent="-342900">
              <a:buSzPct val="100000"/>
              <a:buChar char="•"/>
            </a:pPr>
            <a:r>
              <a:rPr lang="en-US" sz="1150" dirty="0">
                <a:solidFill>
                  <a:srgbClr val="2C3E50"/>
                </a:solidFill>
                <a:latin typeface="Consolas" pitchFamily="34" charset="0"/>
                <a:ea typeface="Consolas" pitchFamily="34" charset="-122"/>
                <a:cs typeface="Consolas" pitchFamily="34" charset="-120"/>
              </a:rPr>
              <a:t>k* = [s / (n+g+δ)]^(1/(1−α))  [Steady-state capital]</a:t>
            </a:r>
            <a:endParaRPr lang="en-US" sz="1150" dirty="0"/>
          </a:p>
          <a:p>
            <a:pPr marL="342900" indent="-342900">
              <a:buSzPct val="100000"/>
              <a:buChar char="•"/>
            </a:pPr>
            <a:r>
              <a:rPr lang="en-US" sz="1150" dirty="0">
                <a:solidFill>
                  <a:srgbClr val="2C3E50"/>
                </a:solidFill>
                <a:latin typeface="Consolas" pitchFamily="34" charset="0"/>
                <a:ea typeface="Consolas" pitchFamily="34" charset="-122"/>
                <a:cs typeface="Consolas" pitchFamily="34" charset="-120"/>
              </a:rPr>
              <a:t>Convergence: β = −(1−α)(n+g+δ)  [Speed]</a:t>
            </a:r>
            <a:endParaRPr lang="en-US" sz="1150" dirty="0"/>
          </a:p>
        </p:txBody>
      </p:sp>
      <p:sp>
        <p:nvSpPr>
          <p:cNvPr id="10" name="Shape 8"/>
          <p:cNvSpPr/>
          <p:nvPr/>
        </p:nvSpPr>
        <p:spPr>
          <a:xfrm>
            <a:off x="5486400" y="1325880"/>
            <a:ext cx="3429000" cy="3520440"/>
          </a:xfrm>
          <a:prstGeom prst="rect">
            <a:avLst/>
          </a:prstGeom>
          <a:solidFill>
            <a:srgbClr val="FFF8EE"/>
          </a:solidFill>
          <a:ln w="6350">
            <a:solidFill>
              <a:srgbClr val="E0C888"/>
            </a:solidFill>
            <a:prstDash val="solid"/>
          </a:ln>
        </p:spPr>
      </p:sp>
      <p:sp>
        <p:nvSpPr>
          <p:cNvPr id="11" name="Shape 9"/>
          <p:cNvSpPr/>
          <p:nvPr/>
        </p:nvSpPr>
        <p:spPr>
          <a:xfrm>
            <a:off x="5486400" y="1325880"/>
            <a:ext cx="3429000" cy="384048"/>
          </a:xfrm>
          <a:prstGeom prst="rect">
            <a:avLst/>
          </a:prstGeom>
          <a:solidFill>
            <a:srgbClr val="C8952A"/>
          </a:solidFill>
          <a:ln w="12700">
            <a:solidFill>
              <a:srgbClr val="C8952A"/>
            </a:solidFill>
            <a:prstDash val="solid"/>
          </a:ln>
        </p:spPr>
      </p:sp>
      <p:sp>
        <p:nvSpPr>
          <p:cNvPr id="12" name="Text 10"/>
          <p:cNvSpPr/>
          <p:nvPr/>
        </p:nvSpPr>
        <p:spPr>
          <a:xfrm>
            <a:off x="5486400" y="1325880"/>
            <a:ext cx="3429000" cy="384048"/>
          </a:xfrm>
          <a:prstGeom prst="rect">
            <a:avLst/>
          </a:prstGeom>
          <a:noFill/>
          <a:ln/>
        </p:spPr>
        <p:txBody>
          <a:bodyPr wrap="square" lIns="0" tIns="0" rIns="0" bIns="0" rtlCol="0" anchor="ctr"/>
          <a:lstStyle/>
          <a:p>
            <a:pPr marL="0" indent="0" algn="ctr">
              <a:buNone/>
            </a:pPr>
            <a:r>
              <a:rPr lang="en-US" sz="1300" b="1" dirty="0">
                <a:solidFill>
                  <a:srgbClr val="FFFFFF"/>
                </a:solidFill>
              </a:rPr>
              <a:t>South Korea Lens</a:t>
            </a:r>
            <a:endParaRPr lang="en-US" sz="1300" dirty="0"/>
          </a:p>
        </p:txBody>
      </p:sp>
      <p:sp>
        <p:nvSpPr>
          <p:cNvPr id="13" name="Text 11"/>
          <p:cNvSpPr/>
          <p:nvPr/>
        </p:nvSpPr>
        <p:spPr>
          <a:xfrm>
            <a:off x="5577840" y="1801368"/>
            <a:ext cx="3246120" cy="2926080"/>
          </a:xfrm>
          <a:prstGeom prst="rect">
            <a:avLst/>
          </a:prstGeom>
          <a:noFill/>
          <a:ln/>
        </p:spPr>
        <p:txBody>
          <a:bodyPr wrap="square" lIns="0" tIns="0" rIns="0" bIns="0" rtlCol="0" anchor="t"/>
          <a:lstStyle/>
          <a:p>
            <a:pPr marL="342900" indent="-342900">
              <a:buSzPct val="100000"/>
              <a:buChar char="•"/>
            </a:pPr>
            <a:r>
              <a:rPr lang="en-US" sz="1200" dirty="0">
                <a:solidFill>
                  <a:srgbClr val="5A6A7A"/>
                </a:solidFill>
              </a:rPr>
              <a:t>High s ≈ 30–38% drove rapid k* ascent</a:t>
            </a:r>
            <a:endParaRPr lang="en-US" sz="1200" dirty="0"/>
          </a:p>
          <a:p>
            <a:pPr marL="342900" indent="-342900">
              <a:buSzPct val="100000"/>
              <a:buChar char="•"/>
            </a:pPr>
            <a:r>
              <a:rPr lang="en-US" sz="1200" dirty="0">
                <a:solidFill>
                  <a:srgbClr val="5A6A7A"/>
                </a:solidFill>
              </a:rPr>
              <a:t>n declined from ~3% to ~0.4%</a:t>
            </a:r>
            <a:endParaRPr lang="en-US" sz="1200" dirty="0"/>
          </a:p>
          <a:p>
            <a:pPr marL="342900" indent="-342900">
              <a:buSzPct val="100000"/>
              <a:buChar char="•"/>
            </a:pPr>
            <a:r>
              <a:rPr lang="en-US" sz="1200" dirty="0">
                <a:solidFill>
                  <a:srgbClr val="5A6A7A"/>
                </a:solidFill>
              </a:rPr>
              <a:t>α estimated ~0.35–0.40 for SK</a:t>
            </a:r>
            <a:endParaRPr lang="en-US" sz="1200" dirty="0"/>
          </a:p>
          <a:p>
            <a:pPr marL="342900" indent="-342900">
              <a:buSzPct val="100000"/>
              <a:buChar char="•"/>
            </a:pPr>
            <a:r>
              <a:rPr lang="en-US" sz="1200" dirty="0">
                <a:solidFill>
                  <a:srgbClr val="5A6A7A"/>
                </a:solidFill>
              </a:rPr>
              <a:t>Conditional convergence confirmed vs OECD</a:t>
            </a:r>
            <a:endParaRPr lang="en-US" sz="1200" dirty="0"/>
          </a:p>
          <a:p>
            <a:pPr marL="342900" indent="-342900">
              <a:buSzPct val="100000"/>
              <a:buChar char="•"/>
            </a:pPr>
            <a:r>
              <a:rPr lang="en-US" sz="1200" dirty="0">
                <a:solidFill>
                  <a:srgbClr val="5A6A7A"/>
                </a:solidFill>
              </a:rPr>
              <a:t>TFP residual large pre-1990s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C8F"/>
          </a:solidFill>
          <a:ln w="12700">
            <a:solidFill>
              <a:srgbClr val="0D7C8F"/>
            </a:solidFill>
            <a:prstDash val="solid"/>
          </a:ln>
        </p:spPr>
      </p:sp>
      <p:sp>
        <p:nvSpPr>
          <p:cNvPr id="3" name="Text 1"/>
          <p:cNvSpPr/>
          <p:nvPr/>
        </p:nvSpPr>
        <p:spPr>
          <a:xfrm>
            <a:off x="256032" y="164592"/>
            <a:ext cx="5486400" cy="256032"/>
          </a:xfrm>
          <a:prstGeom prst="rect">
            <a:avLst/>
          </a:prstGeom>
          <a:noFill/>
          <a:ln/>
        </p:spPr>
        <p:txBody>
          <a:bodyPr wrap="square" lIns="0" tIns="0" rIns="0" bIns="0" rtlCol="0" anchor="ctr"/>
          <a:lstStyle/>
          <a:p>
            <a:pPr marL="0" indent="0">
              <a:buNone/>
            </a:pPr>
            <a:r>
              <a:rPr lang="en-US" sz="800" b="1" kern="0" spc="300" dirty="0">
                <a:solidFill>
                  <a:srgbClr val="0D7C8F"/>
                </a:solidFill>
              </a:rPr>
              <a:t>SOLOW — RESULTS</a:t>
            </a:r>
            <a:endParaRPr lang="en-US" sz="800" dirty="0"/>
          </a:p>
        </p:txBody>
      </p:sp>
      <p:sp>
        <p:nvSpPr>
          <p:cNvPr id="4" name="Text 2"/>
          <p:cNvSpPr/>
          <p:nvPr/>
        </p:nvSpPr>
        <p:spPr>
          <a:xfrm>
            <a:off x="256032" y="502920"/>
            <a:ext cx="8631936" cy="594360"/>
          </a:xfrm>
          <a:prstGeom prst="rect">
            <a:avLst/>
          </a:prstGeom>
          <a:noFill/>
          <a:ln/>
        </p:spPr>
        <p:txBody>
          <a:bodyPr wrap="square" lIns="0" tIns="0" rIns="0" bIns="0" rtlCol="0" anchor="ctr"/>
          <a:lstStyle/>
          <a:p>
            <a:pPr marL="0" indent="0">
              <a:buNone/>
            </a:pPr>
            <a:r>
              <a:rPr lang="en-US" sz="2800" b="1" dirty="0">
                <a:solidFill>
                  <a:srgbClr val="2C3E50"/>
                </a:solidFill>
                <a:latin typeface="Cambria" pitchFamily="34" charset="0"/>
                <a:ea typeface="Cambria" pitchFamily="34" charset="-122"/>
                <a:cs typeface="Cambria" pitchFamily="34" charset="-120"/>
              </a:rPr>
              <a:t>Solow Phase Diagram &amp; Steady-State Paths</a:t>
            </a:r>
            <a:endParaRPr lang="en-US" sz="2800" dirty="0"/>
          </a:p>
        </p:txBody>
      </p:sp>
      <p:sp>
        <p:nvSpPr>
          <p:cNvPr id="5" name="Shape 3"/>
          <p:cNvSpPr/>
          <p:nvPr/>
        </p:nvSpPr>
        <p:spPr>
          <a:xfrm>
            <a:off x="256032" y="1188720"/>
            <a:ext cx="8631936" cy="0"/>
          </a:xfrm>
          <a:prstGeom prst="line">
            <a:avLst/>
          </a:prstGeom>
          <a:noFill/>
          <a:ln w="19050">
            <a:solidFill>
              <a:srgbClr val="0D7C8F"/>
            </a:solidFill>
            <a:prstDash val="solid"/>
          </a:ln>
        </p:spPr>
      </p:sp>
      <p:pic>
        <p:nvPicPr>
          <p:cNvPr id="6" name="Image 0" descr="/home/claude/plots_extracted/plots/solow_plot_line.png"/>
          <p:cNvPicPr>
            <a:picLocks noChangeAspect="1"/>
          </p:cNvPicPr>
          <p:nvPr/>
        </p:nvPicPr>
        <p:blipFill>
          <a:blip r:embed="rId3"/>
          <a:srcRect/>
          <a:stretch/>
        </p:blipFill>
        <p:spPr>
          <a:xfrm>
            <a:off x="256032" y="1280160"/>
            <a:ext cx="4297680" cy="3108960"/>
          </a:xfrm>
          <a:prstGeom prst="rect">
            <a:avLst/>
          </a:prstGeom>
        </p:spPr>
      </p:pic>
      <p:pic>
        <p:nvPicPr>
          <p:cNvPr id="7" name="Image 1" descr="/home/claude/plots_extracted/plots/solow_time_plot_line.png"/>
          <p:cNvPicPr>
            <a:picLocks noChangeAspect="1"/>
          </p:cNvPicPr>
          <p:nvPr/>
        </p:nvPicPr>
        <p:blipFill>
          <a:blip r:embed="rId4"/>
          <a:srcRect/>
          <a:stretch/>
        </p:blipFill>
        <p:spPr>
          <a:xfrm>
            <a:off x="4663440" y="1280160"/>
            <a:ext cx="4297680" cy="3108960"/>
          </a:xfrm>
          <a:prstGeom prst="rect">
            <a:avLst/>
          </a:prstGeom>
        </p:spPr>
      </p:pic>
      <p:sp>
        <p:nvSpPr>
          <p:cNvPr id="8" name="Shape 4"/>
          <p:cNvSpPr/>
          <p:nvPr/>
        </p:nvSpPr>
        <p:spPr>
          <a:xfrm>
            <a:off x="256032" y="4480560"/>
            <a:ext cx="4297680" cy="365760"/>
          </a:xfrm>
          <a:prstGeom prst="rect">
            <a:avLst/>
          </a:prstGeom>
          <a:solidFill>
            <a:srgbClr val="EDF4F7"/>
          </a:solidFill>
          <a:ln w="12700">
            <a:solidFill>
              <a:srgbClr val="B0CCD8"/>
            </a:solidFill>
            <a:prstDash val="solid"/>
          </a:ln>
        </p:spPr>
      </p:sp>
      <p:sp>
        <p:nvSpPr>
          <p:cNvPr id="9" name="Text 5"/>
          <p:cNvSpPr/>
          <p:nvPr/>
        </p:nvSpPr>
        <p:spPr>
          <a:xfrm>
            <a:off x="256032" y="4480560"/>
            <a:ext cx="4297680" cy="365760"/>
          </a:xfrm>
          <a:prstGeom prst="rect">
            <a:avLst/>
          </a:prstGeom>
          <a:noFill/>
          <a:ln/>
        </p:spPr>
        <p:txBody>
          <a:bodyPr wrap="square" lIns="0" tIns="0" rIns="0" bIns="0" rtlCol="0" anchor="ctr"/>
          <a:lstStyle/>
          <a:p>
            <a:pPr marL="0" indent="0" algn="ctr">
              <a:buNone/>
            </a:pPr>
            <a:r>
              <a:rPr lang="en-US" sz="1000" dirty="0">
                <a:solidFill>
                  <a:srgbClr val="5A6A7A"/>
                </a:solidFill>
              </a:rPr>
              <a:t>Phase diagram: k* convergence with SK savings rate</a:t>
            </a:r>
            <a:endParaRPr lang="en-US" sz="1000" dirty="0"/>
          </a:p>
        </p:txBody>
      </p:sp>
      <p:sp>
        <p:nvSpPr>
          <p:cNvPr id="10" name="Shape 6"/>
          <p:cNvSpPr/>
          <p:nvPr/>
        </p:nvSpPr>
        <p:spPr>
          <a:xfrm>
            <a:off x="4663440" y="4480560"/>
            <a:ext cx="4297680" cy="365760"/>
          </a:xfrm>
          <a:prstGeom prst="rect">
            <a:avLst/>
          </a:prstGeom>
          <a:solidFill>
            <a:srgbClr val="EDF4F7"/>
          </a:solidFill>
          <a:ln w="12700">
            <a:solidFill>
              <a:srgbClr val="B0CCD8"/>
            </a:solidFill>
            <a:prstDash val="solid"/>
          </a:ln>
        </p:spPr>
      </p:sp>
      <p:sp>
        <p:nvSpPr>
          <p:cNvPr id="11" name="Text 7"/>
          <p:cNvSpPr/>
          <p:nvPr/>
        </p:nvSpPr>
        <p:spPr>
          <a:xfrm>
            <a:off x="4663440" y="4480560"/>
            <a:ext cx="4297680" cy="365760"/>
          </a:xfrm>
          <a:prstGeom prst="rect">
            <a:avLst/>
          </a:prstGeom>
          <a:noFill/>
          <a:ln/>
        </p:spPr>
        <p:txBody>
          <a:bodyPr wrap="square" lIns="0" tIns="0" rIns="0" bIns="0" rtlCol="0" anchor="ctr"/>
          <a:lstStyle/>
          <a:p>
            <a:pPr marL="0" indent="0" algn="ctr">
              <a:buNone/>
            </a:pPr>
            <a:r>
              <a:rPr lang="en-US" sz="1000" dirty="0">
                <a:solidFill>
                  <a:srgbClr val="5A6A7A"/>
                </a:solidFill>
              </a:rPr>
              <a:t>Time path: simulated capital &amp; output convergence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a:extLst>
            <a:ext uri="{FF2B5EF4-FFF2-40B4-BE49-F238E27FC236}">
              <a16:creationId xmlns:a16="http://schemas.microsoft.com/office/drawing/2014/main" id="{B3C14EBB-7FC9-F934-FC77-5AC2BC3914A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FA83439-6EF6-EB03-0920-2040274936A1}"/>
              </a:ext>
            </a:extLst>
          </p:cNvPr>
          <p:cNvSpPr/>
          <p:nvPr/>
        </p:nvSpPr>
        <p:spPr>
          <a:xfrm>
            <a:off x="0" y="0"/>
            <a:ext cx="164592" cy="5143500"/>
          </a:xfrm>
          <a:prstGeom prst="rect">
            <a:avLst/>
          </a:prstGeom>
          <a:solidFill>
            <a:srgbClr val="0D7C8F"/>
          </a:solidFill>
          <a:ln w="12700">
            <a:solidFill>
              <a:srgbClr val="0D7C8F"/>
            </a:solidFill>
            <a:prstDash val="solid"/>
          </a:ln>
        </p:spPr>
      </p:sp>
      <p:sp>
        <p:nvSpPr>
          <p:cNvPr id="3" name="Text 1">
            <a:extLst>
              <a:ext uri="{FF2B5EF4-FFF2-40B4-BE49-F238E27FC236}">
                <a16:creationId xmlns:a16="http://schemas.microsoft.com/office/drawing/2014/main" id="{6F248B60-EF88-53AC-DE12-7E07018A67D2}"/>
              </a:ext>
            </a:extLst>
          </p:cNvPr>
          <p:cNvSpPr/>
          <p:nvPr/>
        </p:nvSpPr>
        <p:spPr>
          <a:xfrm>
            <a:off x="256032" y="164592"/>
            <a:ext cx="5486400" cy="256032"/>
          </a:xfrm>
          <a:prstGeom prst="rect">
            <a:avLst/>
          </a:prstGeom>
          <a:noFill/>
          <a:ln/>
        </p:spPr>
        <p:txBody>
          <a:bodyPr wrap="square" lIns="0" tIns="0" rIns="0" bIns="0" rtlCol="0" anchor="ctr"/>
          <a:lstStyle/>
          <a:p>
            <a:pPr marL="0" indent="0">
              <a:buNone/>
            </a:pPr>
            <a:r>
              <a:rPr lang="en-US" sz="800" b="1" kern="0" spc="300" dirty="0">
                <a:solidFill>
                  <a:srgbClr val="0D7C8F"/>
                </a:solidFill>
              </a:rPr>
              <a:t>SOLOW — RESULTS</a:t>
            </a:r>
            <a:endParaRPr lang="en-US" sz="800" dirty="0"/>
          </a:p>
        </p:txBody>
      </p:sp>
      <p:sp>
        <p:nvSpPr>
          <p:cNvPr id="4" name="Text 2">
            <a:extLst>
              <a:ext uri="{FF2B5EF4-FFF2-40B4-BE49-F238E27FC236}">
                <a16:creationId xmlns:a16="http://schemas.microsoft.com/office/drawing/2014/main" id="{CE38D011-5E5C-56AC-F082-C7E844270431}"/>
              </a:ext>
            </a:extLst>
          </p:cNvPr>
          <p:cNvSpPr/>
          <p:nvPr/>
        </p:nvSpPr>
        <p:spPr>
          <a:xfrm>
            <a:off x="256032" y="502920"/>
            <a:ext cx="8631936" cy="594360"/>
          </a:xfrm>
          <a:prstGeom prst="rect">
            <a:avLst/>
          </a:prstGeom>
          <a:noFill/>
          <a:ln/>
        </p:spPr>
        <p:txBody>
          <a:bodyPr wrap="square" lIns="0" tIns="0" rIns="0" bIns="0" rtlCol="0" anchor="ctr"/>
          <a:lstStyle/>
          <a:p>
            <a:pPr marL="0" indent="0">
              <a:buNone/>
            </a:pPr>
            <a:r>
              <a:rPr lang="en-US" sz="2800" b="1" dirty="0">
                <a:solidFill>
                  <a:srgbClr val="2C3E50"/>
                </a:solidFill>
                <a:latin typeface="Cambria" pitchFamily="34" charset="0"/>
                <a:ea typeface="Cambria" pitchFamily="34" charset="-122"/>
                <a:cs typeface="Cambria" pitchFamily="34" charset="-120"/>
              </a:rPr>
              <a:t>Solow Phase Diagram &amp; Steady-State Paths (Smooth)</a:t>
            </a:r>
            <a:endParaRPr lang="en-US" sz="2800" dirty="0"/>
          </a:p>
        </p:txBody>
      </p:sp>
      <p:sp>
        <p:nvSpPr>
          <p:cNvPr id="5" name="Shape 3">
            <a:extLst>
              <a:ext uri="{FF2B5EF4-FFF2-40B4-BE49-F238E27FC236}">
                <a16:creationId xmlns:a16="http://schemas.microsoft.com/office/drawing/2014/main" id="{8E769203-0E48-75D9-2297-616815C4ADD2}"/>
              </a:ext>
            </a:extLst>
          </p:cNvPr>
          <p:cNvSpPr/>
          <p:nvPr/>
        </p:nvSpPr>
        <p:spPr>
          <a:xfrm>
            <a:off x="256032" y="1188720"/>
            <a:ext cx="8631936" cy="0"/>
          </a:xfrm>
          <a:prstGeom prst="line">
            <a:avLst/>
          </a:prstGeom>
          <a:noFill/>
          <a:ln w="19050">
            <a:solidFill>
              <a:srgbClr val="0D7C8F"/>
            </a:solidFill>
            <a:prstDash val="solid"/>
          </a:ln>
        </p:spPr>
      </p:sp>
      <p:sp>
        <p:nvSpPr>
          <p:cNvPr id="8" name="Shape 4">
            <a:extLst>
              <a:ext uri="{FF2B5EF4-FFF2-40B4-BE49-F238E27FC236}">
                <a16:creationId xmlns:a16="http://schemas.microsoft.com/office/drawing/2014/main" id="{41BE0DF8-E518-B08B-4531-8F0669380D1E}"/>
              </a:ext>
            </a:extLst>
          </p:cNvPr>
          <p:cNvSpPr/>
          <p:nvPr/>
        </p:nvSpPr>
        <p:spPr>
          <a:xfrm>
            <a:off x="256032" y="4480560"/>
            <a:ext cx="4297680" cy="365760"/>
          </a:xfrm>
          <a:prstGeom prst="rect">
            <a:avLst/>
          </a:prstGeom>
          <a:solidFill>
            <a:srgbClr val="EDF4F7"/>
          </a:solidFill>
          <a:ln w="12700">
            <a:solidFill>
              <a:srgbClr val="B0CCD8"/>
            </a:solidFill>
            <a:prstDash val="solid"/>
          </a:ln>
        </p:spPr>
        <p:txBody>
          <a:bodyPr/>
          <a:lstStyle/>
          <a:p>
            <a:endParaRPr lang="en-IN" dirty="0"/>
          </a:p>
        </p:txBody>
      </p:sp>
      <p:sp>
        <p:nvSpPr>
          <p:cNvPr id="9" name="Text 5">
            <a:extLst>
              <a:ext uri="{FF2B5EF4-FFF2-40B4-BE49-F238E27FC236}">
                <a16:creationId xmlns:a16="http://schemas.microsoft.com/office/drawing/2014/main" id="{0C98D1D4-E691-4E19-4C11-9F15AA12258F}"/>
              </a:ext>
            </a:extLst>
          </p:cNvPr>
          <p:cNvSpPr/>
          <p:nvPr/>
        </p:nvSpPr>
        <p:spPr>
          <a:xfrm>
            <a:off x="256032" y="4480560"/>
            <a:ext cx="4297680" cy="365760"/>
          </a:xfrm>
          <a:prstGeom prst="rect">
            <a:avLst/>
          </a:prstGeom>
          <a:noFill/>
          <a:ln/>
        </p:spPr>
        <p:txBody>
          <a:bodyPr wrap="square" lIns="0" tIns="0" rIns="0" bIns="0" rtlCol="0" anchor="ctr"/>
          <a:lstStyle/>
          <a:p>
            <a:pPr marL="0" indent="0" algn="ctr">
              <a:buNone/>
            </a:pPr>
            <a:r>
              <a:rPr lang="en-US" sz="1000" dirty="0">
                <a:solidFill>
                  <a:srgbClr val="5A6A7A"/>
                </a:solidFill>
              </a:rPr>
              <a:t>Phase diagram: k* convergence with SK savings rate (smoothened)</a:t>
            </a:r>
            <a:endParaRPr lang="en-US" sz="1000" dirty="0"/>
          </a:p>
        </p:txBody>
      </p:sp>
      <p:sp>
        <p:nvSpPr>
          <p:cNvPr id="10" name="Shape 6">
            <a:extLst>
              <a:ext uri="{FF2B5EF4-FFF2-40B4-BE49-F238E27FC236}">
                <a16:creationId xmlns:a16="http://schemas.microsoft.com/office/drawing/2014/main" id="{32021905-5DEE-980D-4E5D-B46740A58B61}"/>
              </a:ext>
            </a:extLst>
          </p:cNvPr>
          <p:cNvSpPr/>
          <p:nvPr/>
        </p:nvSpPr>
        <p:spPr>
          <a:xfrm>
            <a:off x="4663440" y="4480560"/>
            <a:ext cx="4297680" cy="365760"/>
          </a:xfrm>
          <a:prstGeom prst="rect">
            <a:avLst/>
          </a:prstGeom>
          <a:solidFill>
            <a:srgbClr val="EDF4F7"/>
          </a:solidFill>
          <a:ln w="12700">
            <a:solidFill>
              <a:srgbClr val="B0CCD8"/>
            </a:solidFill>
            <a:prstDash val="solid"/>
          </a:ln>
        </p:spPr>
      </p:sp>
      <p:sp>
        <p:nvSpPr>
          <p:cNvPr id="11" name="Text 7">
            <a:extLst>
              <a:ext uri="{FF2B5EF4-FFF2-40B4-BE49-F238E27FC236}">
                <a16:creationId xmlns:a16="http://schemas.microsoft.com/office/drawing/2014/main" id="{76495C43-4C92-CC4B-B5F0-B8D9043AE126}"/>
              </a:ext>
            </a:extLst>
          </p:cNvPr>
          <p:cNvSpPr/>
          <p:nvPr/>
        </p:nvSpPr>
        <p:spPr>
          <a:xfrm>
            <a:off x="4663440" y="4480560"/>
            <a:ext cx="4297680" cy="365760"/>
          </a:xfrm>
          <a:prstGeom prst="rect">
            <a:avLst/>
          </a:prstGeom>
          <a:noFill/>
          <a:ln/>
        </p:spPr>
        <p:txBody>
          <a:bodyPr wrap="square" lIns="0" tIns="0" rIns="0" bIns="0" rtlCol="0" anchor="ctr"/>
          <a:lstStyle/>
          <a:p>
            <a:pPr marL="0" indent="0" algn="ctr">
              <a:buNone/>
            </a:pPr>
            <a:r>
              <a:rPr lang="en-US" sz="1000" dirty="0">
                <a:solidFill>
                  <a:srgbClr val="5A6A7A"/>
                </a:solidFill>
              </a:rPr>
              <a:t>Time path: simulated capital &amp; output convergence (smoothened)</a:t>
            </a:r>
            <a:endParaRPr lang="en-US" sz="1000" dirty="0"/>
          </a:p>
        </p:txBody>
      </p:sp>
      <p:pic>
        <p:nvPicPr>
          <p:cNvPr id="13" name="Picture 12">
            <a:extLst>
              <a:ext uri="{FF2B5EF4-FFF2-40B4-BE49-F238E27FC236}">
                <a16:creationId xmlns:a16="http://schemas.microsoft.com/office/drawing/2014/main" id="{EFD6D7C6-F356-3952-4B55-9A1932C3D479}"/>
              </a:ext>
            </a:extLst>
          </p:cNvPr>
          <p:cNvPicPr>
            <a:picLocks noChangeAspect="1"/>
          </p:cNvPicPr>
          <p:nvPr/>
        </p:nvPicPr>
        <p:blipFill>
          <a:blip r:embed="rId3"/>
          <a:stretch>
            <a:fillRect/>
          </a:stretch>
        </p:blipFill>
        <p:spPr>
          <a:xfrm>
            <a:off x="256032" y="1395298"/>
            <a:ext cx="4297680" cy="2993821"/>
          </a:xfrm>
          <a:prstGeom prst="rect">
            <a:avLst/>
          </a:prstGeom>
        </p:spPr>
      </p:pic>
      <p:pic>
        <p:nvPicPr>
          <p:cNvPr id="15" name="Picture 14">
            <a:extLst>
              <a:ext uri="{FF2B5EF4-FFF2-40B4-BE49-F238E27FC236}">
                <a16:creationId xmlns:a16="http://schemas.microsoft.com/office/drawing/2014/main" id="{9869D71F-6FBA-8980-5D2D-9751231549F2}"/>
              </a:ext>
            </a:extLst>
          </p:cNvPr>
          <p:cNvPicPr>
            <a:picLocks noChangeAspect="1"/>
          </p:cNvPicPr>
          <p:nvPr/>
        </p:nvPicPr>
        <p:blipFill>
          <a:blip r:embed="rId4"/>
          <a:stretch>
            <a:fillRect/>
          </a:stretch>
        </p:blipFill>
        <p:spPr>
          <a:xfrm>
            <a:off x="4663440" y="1395297"/>
            <a:ext cx="4159818" cy="2993821"/>
          </a:xfrm>
          <a:prstGeom prst="rect">
            <a:avLst/>
          </a:prstGeom>
        </p:spPr>
      </p:pic>
    </p:spTree>
    <p:extLst>
      <p:ext uri="{BB962C8B-B14F-4D97-AF65-F5344CB8AC3E}">
        <p14:creationId xmlns:p14="http://schemas.microsoft.com/office/powerpoint/2010/main" val="314797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C8F"/>
          </a:solidFill>
          <a:ln w="12700">
            <a:solidFill>
              <a:srgbClr val="0D7C8F"/>
            </a:solidFill>
            <a:prstDash val="solid"/>
          </a:ln>
        </p:spPr>
      </p:sp>
      <p:sp>
        <p:nvSpPr>
          <p:cNvPr id="3" name="Text 1"/>
          <p:cNvSpPr/>
          <p:nvPr/>
        </p:nvSpPr>
        <p:spPr>
          <a:xfrm>
            <a:off x="256032" y="164592"/>
            <a:ext cx="5486400" cy="256032"/>
          </a:xfrm>
          <a:prstGeom prst="rect">
            <a:avLst/>
          </a:prstGeom>
          <a:noFill/>
          <a:ln/>
        </p:spPr>
        <p:txBody>
          <a:bodyPr wrap="square" lIns="0" tIns="0" rIns="0" bIns="0" rtlCol="0" anchor="ctr"/>
          <a:lstStyle/>
          <a:p>
            <a:pPr marL="0" indent="0">
              <a:buNone/>
            </a:pPr>
            <a:r>
              <a:rPr lang="en-US" sz="800" b="1" kern="0" spc="300" dirty="0">
                <a:solidFill>
                  <a:srgbClr val="0D7C8F"/>
                </a:solidFill>
              </a:rPr>
              <a:t>RESULTS</a:t>
            </a:r>
            <a:endParaRPr lang="en-US" sz="800" dirty="0"/>
          </a:p>
        </p:txBody>
      </p:sp>
      <p:sp>
        <p:nvSpPr>
          <p:cNvPr id="4" name="Text 2"/>
          <p:cNvSpPr/>
          <p:nvPr/>
        </p:nvSpPr>
        <p:spPr>
          <a:xfrm>
            <a:off x="256032" y="502920"/>
            <a:ext cx="8631936" cy="594360"/>
          </a:xfrm>
          <a:prstGeom prst="rect">
            <a:avLst/>
          </a:prstGeom>
          <a:noFill/>
          <a:ln/>
        </p:spPr>
        <p:txBody>
          <a:bodyPr wrap="square" lIns="0" tIns="0" rIns="0" bIns="0" rtlCol="0" anchor="ctr"/>
          <a:lstStyle/>
          <a:p>
            <a:pPr marL="0" indent="0">
              <a:buNone/>
            </a:pPr>
            <a:r>
              <a:rPr lang="en-US" sz="2800" b="1" dirty="0">
                <a:solidFill>
                  <a:srgbClr val="2C3E50"/>
                </a:solidFill>
                <a:latin typeface="Cambria" pitchFamily="34" charset="0"/>
                <a:ea typeface="Cambria" pitchFamily="34" charset="-122"/>
                <a:cs typeface="Cambria" pitchFamily="34" charset="-120"/>
              </a:rPr>
              <a:t>Barro Regressions: Unconditional &amp; Conditional Convergence</a:t>
            </a:r>
            <a:endParaRPr lang="en-US" sz="2800" dirty="0"/>
          </a:p>
        </p:txBody>
      </p:sp>
      <p:sp>
        <p:nvSpPr>
          <p:cNvPr id="5" name="Shape 3"/>
          <p:cNvSpPr/>
          <p:nvPr/>
        </p:nvSpPr>
        <p:spPr>
          <a:xfrm>
            <a:off x="256032" y="1194816"/>
            <a:ext cx="8631936" cy="0"/>
          </a:xfrm>
          <a:prstGeom prst="line">
            <a:avLst/>
          </a:prstGeom>
          <a:noFill/>
          <a:ln w="19050">
            <a:solidFill>
              <a:srgbClr val="0D7C8F"/>
            </a:solidFill>
            <a:prstDash val="solid"/>
          </a:ln>
        </p:spPr>
      </p:sp>
      <p:pic>
        <p:nvPicPr>
          <p:cNvPr id="9" name="Picture 8">
            <a:extLst>
              <a:ext uri="{FF2B5EF4-FFF2-40B4-BE49-F238E27FC236}">
                <a16:creationId xmlns:a16="http://schemas.microsoft.com/office/drawing/2014/main" id="{0DDF0661-57FC-0455-5C2E-0CA8C26E46DF}"/>
              </a:ext>
            </a:extLst>
          </p:cNvPr>
          <p:cNvPicPr>
            <a:picLocks noChangeAspect="1"/>
          </p:cNvPicPr>
          <p:nvPr/>
        </p:nvPicPr>
        <p:blipFill>
          <a:blip r:embed="rId3"/>
          <a:stretch>
            <a:fillRect/>
          </a:stretch>
        </p:blipFill>
        <p:spPr>
          <a:xfrm>
            <a:off x="4619196" y="1566143"/>
            <a:ext cx="3544714" cy="3232981"/>
          </a:xfrm>
          <a:prstGeom prst="rect">
            <a:avLst/>
          </a:prstGeom>
        </p:spPr>
      </p:pic>
      <p:pic>
        <p:nvPicPr>
          <p:cNvPr id="15" name="Picture 14">
            <a:extLst>
              <a:ext uri="{FF2B5EF4-FFF2-40B4-BE49-F238E27FC236}">
                <a16:creationId xmlns:a16="http://schemas.microsoft.com/office/drawing/2014/main" id="{08D66296-7CF1-346F-CF8E-0D36F97AD1CD}"/>
              </a:ext>
            </a:extLst>
          </p:cNvPr>
          <p:cNvPicPr>
            <a:picLocks noChangeAspect="1"/>
          </p:cNvPicPr>
          <p:nvPr/>
        </p:nvPicPr>
        <p:blipFill>
          <a:blip r:embed="rId4"/>
          <a:stretch>
            <a:fillRect/>
          </a:stretch>
        </p:blipFill>
        <p:spPr>
          <a:xfrm>
            <a:off x="351662" y="1566144"/>
            <a:ext cx="4080464" cy="1743728"/>
          </a:xfrm>
          <a:prstGeom prst="rect">
            <a:avLst/>
          </a:prstGeom>
        </p:spPr>
      </p:pic>
      <p:sp>
        <p:nvSpPr>
          <p:cNvPr id="17" name="Shape 5">
            <a:extLst>
              <a:ext uri="{FF2B5EF4-FFF2-40B4-BE49-F238E27FC236}">
                <a16:creationId xmlns:a16="http://schemas.microsoft.com/office/drawing/2014/main" id="{837377AE-5508-2785-1D35-851E1D9F884E}"/>
              </a:ext>
            </a:extLst>
          </p:cNvPr>
          <p:cNvSpPr/>
          <p:nvPr/>
        </p:nvSpPr>
        <p:spPr>
          <a:xfrm>
            <a:off x="351662" y="3433424"/>
            <a:ext cx="4080464" cy="1365700"/>
          </a:xfrm>
          <a:prstGeom prst="rect">
            <a:avLst/>
          </a:prstGeom>
          <a:solidFill>
            <a:srgbClr val="EDF4F7"/>
          </a:solidFill>
          <a:ln w="6350">
            <a:solidFill>
              <a:srgbClr val="B0CCD8"/>
            </a:solidFill>
            <a:prstDash val="solid"/>
          </a:ln>
        </p:spPr>
        <p:txBody>
          <a:bodyPr/>
          <a:lstStyle/>
          <a:p>
            <a:pPr marL="285750" indent="-285750">
              <a:buFont typeface="Arial" panose="020B0604020202020204" pitchFamily="34" charset="0"/>
              <a:buChar char="•"/>
            </a:pPr>
            <a:r>
              <a:rPr lang="en-IN" sz="1400" dirty="0">
                <a:solidFill>
                  <a:schemeClr val="tx2"/>
                </a:solidFill>
              </a:rPr>
              <a:t>Unconditional regression shows text book convergence</a:t>
            </a:r>
          </a:p>
          <a:p>
            <a:pPr marL="285750" indent="-285750">
              <a:buFont typeface="Arial" panose="020B0604020202020204" pitchFamily="34" charset="0"/>
              <a:buChar char="•"/>
            </a:pPr>
            <a:r>
              <a:rPr lang="en-IN" sz="1400" dirty="0">
                <a:solidFill>
                  <a:schemeClr val="tx2"/>
                </a:solidFill>
              </a:rPr>
              <a:t>Conditional regression clearly explains more of the variation in growth rate than conditional. </a:t>
            </a:r>
          </a:p>
          <a:p>
            <a:pPr marL="285750" indent="-285750">
              <a:buFont typeface="Arial" panose="020B0604020202020204" pitchFamily="34" charset="0"/>
              <a:buChar char="•"/>
            </a:pPr>
            <a:r>
              <a:rPr lang="en-IN" sz="1400" dirty="0">
                <a:solidFill>
                  <a:schemeClr val="tx2"/>
                </a:solidFill>
              </a:rPr>
              <a:t>However, this cannot be considered a traditional barro reg. as it’s not using cross-sectional data.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C8F"/>
          </a:solidFill>
          <a:ln w="12700">
            <a:solidFill>
              <a:srgbClr val="0D7C8F"/>
            </a:solidFill>
            <a:prstDash val="solid"/>
          </a:ln>
        </p:spPr>
      </p:sp>
      <p:sp>
        <p:nvSpPr>
          <p:cNvPr id="3" name="Text 1"/>
          <p:cNvSpPr/>
          <p:nvPr/>
        </p:nvSpPr>
        <p:spPr>
          <a:xfrm>
            <a:off x="256032" y="164592"/>
            <a:ext cx="5486400" cy="256032"/>
          </a:xfrm>
          <a:prstGeom prst="rect">
            <a:avLst/>
          </a:prstGeom>
          <a:noFill/>
          <a:ln/>
        </p:spPr>
        <p:txBody>
          <a:bodyPr wrap="square" lIns="0" tIns="0" rIns="0" bIns="0" rtlCol="0" anchor="ctr"/>
          <a:lstStyle/>
          <a:p>
            <a:pPr marL="0" indent="0">
              <a:buNone/>
            </a:pPr>
            <a:r>
              <a:rPr lang="en-US" sz="800" b="1" kern="0" spc="300" dirty="0">
                <a:solidFill>
                  <a:srgbClr val="0D7C8F"/>
                </a:solidFill>
              </a:rPr>
              <a:t>SOLOW — RESULTS</a:t>
            </a:r>
            <a:endParaRPr lang="en-US" sz="800" dirty="0"/>
          </a:p>
        </p:txBody>
      </p:sp>
      <p:sp>
        <p:nvSpPr>
          <p:cNvPr id="4" name="Text 2"/>
          <p:cNvSpPr/>
          <p:nvPr/>
        </p:nvSpPr>
        <p:spPr>
          <a:xfrm>
            <a:off x="256032" y="502920"/>
            <a:ext cx="8631936" cy="594360"/>
          </a:xfrm>
          <a:prstGeom prst="rect">
            <a:avLst/>
          </a:prstGeom>
          <a:noFill/>
          <a:ln/>
        </p:spPr>
        <p:txBody>
          <a:bodyPr wrap="square" lIns="0" tIns="0" rIns="0" bIns="0" rtlCol="0" anchor="ctr"/>
          <a:lstStyle/>
          <a:p>
            <a:pPr marL="0" indent="0">
              <a:buNone/>
            </a:pPr>
            <a:r>
              <a:rPr lang="en-US" sz="2800" b="1" dirty="0">
                <a:solidFill>
                  <a:srgbClr val="2C3E50"/>
                </a:solidFill>
                <a:latin typeface="Cambria" pitchFamily="34" charset="0"/>
                <a:ea typeface="Cambria" pitchFamily="34" charset="-122"/>
                <a:cs typeface="Cambria" pitchFamily="34" charset="-120"/>
              </a:rPr>
              <a:t>Barro Regressions: Unconditional &amp; Conditional Convergence</a:t>
            </a:r>
            <a:endParaRPr lang="en-US" sz="2800" dirty="0"/>
          </a:p>
        </p:txBody>
      </p:sp>
      <p:sp>
        <p:nvSpPr>
          <p:cNvPr id="5" name="Shape 3"/>
          <p:cNvSpPr/>
          <p:nvPr/>
        </p:nvSpPr>
        <p:spPr>
          <a:xfrm>
            <a:off x="256032" y="1188720"/>
            <a:ext cx="8631936" cy="0"/>
          </a:xfrm>
          <a:prstGeom prst="line">
            <a:avLst/>
          </a:prstGeom>
          <a:noFill/>
          <a:ln w="19050">
            <a:solidFill>
              <a:srgbClr val="0D7C8F"/>
            </a:solidFill>
            <a:prstDash val="solid"/>
          </a:ln>
        </p:spPr>
      </p:sp>
      <p:pic>
        <p:nvPicPr>
          <p:cNvPr id="6" name="Image 0" descr="/home/claude/plots_extracted/plots/barro_unconditional_regression_predict.png"/>
          <p:cNvPicPr>
            <a:picLocks noChangeAspect="1"/>
          </p:cNvPicPr>
          <p:nvPr/>
        </p:nvPicPr>
        <p:blipFill>
          <a:blip r:embed="rId3"/>
          <a:srcRect/>
          <a:stretch/>
        </p:blipFill>
        <p:spPr>
          <a:xfrm>
            <a:off x="256032" y="1280160"/>
            <a:ext cx="4251960" cy="3017520"/>
          </a:xfrm>
          <a:prstGeom prst="rect">
            <a:avLst/>
          </a:prstGeom>
        </p:spPr>
      </p:pic>
      <p:pic>
        <p:nvPicPr>
          <p:cNvPr id="7" name="Image 1" descr="/home/claude/plots_extracted/plots/barrow_conditional_regression_predict.png"/>
          <p:cNvPicPr>
            <a:picLocks noChangeAspect="1"/>
          </p:cNvPicPr>
          <p:nvPr/>
        </p:nvPicPr>
        <p:blipFill>
          <a:blip r:embed="rId4"/>
          <a:srcRect/>
          <a:stretch/>
        </p:blipFill>
        <p:spPr>
          <a:xfrm>
            <a:off x="4617720" y="1280160"/>
            <a:ext cx="4251960" cy="3017520"/>
          </a:xfrm>
          <a:prstGeom prst="rect">
            <a:avLst/>
          </a:prstGeom>
        </p:spPr>
      </p:pic>
      <p:sp>
        <p:nvSpPr>
          <p:cNvPr id="8" name="Text 4"/>
          <p:cNvSpPr/>
          <p:nvPr/>
        </p:nvSpPr>
        <p:spPr>
          <a:xfrm>
            <a:off x="256032" y="4370832"/>
            <a:ext cx="8631936" cy="502920"/>
          </a:xfrm>
          <a:prstGeom prst="rect">
            <a:avLst/>
          </a:prstGeom>
          <a:noFill/>
          <a:ln/>
        </p:spPr>
        <p:txBody>
          <a:bodyPr wrap="square" lIns="0" tIns="0" rIns="0" bIns="0" rtlCol="0" anchor="ctr"/>
          <a:lstStyle/>
          <a:p>
            <a:pPr marL="0" indent="0">
              <a:buNone/>
            </a:pPr>
            <a:r>
              <a:rPr lang="en-US" sz="1100" i="1" dirty="0">
                <a:solidFill>
                  <a:srgbClr val="5A6A7A"/>
                </a:solidFill>
              </a:rPr>
              <a:t>SK sits above the unconditional convergence line — confirming high steady-state income relative to initial conditions. Conditional convergence (controlling for investment, human capital) shows SK's fast β-convergence is consistent with the augmented Solow model.</a:t>
            </a:r>
            <a:endParaRPr lang="en-US" sz="1100" dirty="0"/>
          </a:p>
        </p:txBody>
      </p:sp>
    </p:spTree>
    <p:extLst>
      <p:ext uri="{BB962C8B-B14F-4D97-AF65-F5344CB8AC3E}">
        <p14:creationId xmlns:p14="http://schemas.microsoft.com/office/powerpoint/2010/main" val="28657026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C8F"/>
          </a:solidFill>
          <a:ln w="12700">
            <a:solidFill>
              <a:srgbClr val="0D7C8F"/>
            </a:solidFill>
            <a:prstDash val="solid"/>
          </a:ln>
        </p:spPr>
      </p:sp>
      <p:sp>
        <p:nvSpPr>
          <p:cNvPr id="3" name="Text 1"/>
          <p:cNvSpPr/>
          <p:nvPr/>
        </p:nvSpPr>
        <p:spPr>
          <a:xfrm>
            <a:off x="256032" y="164592"/>
            <a:ext cx="5486400" cy="256032"/>
          </a:xfrm>
          <a:prstGeom prst="rect">
            <a:avLst/>
          </a:prstGeom>
          <a:noFill/>
          <a:ln/>
        </p:spPr>
        <p:txBody>
          <a:bodyPr wrap="square" lIns="0" tIns="0" rIns="0" bIns="0" rtlCol="0" anchor="ctr"/>
          <a:lstStyle/>
          <a:p>
            <a:pPr marL="0" indent="0">
              <a:buNone/>
            </a:pPr>
            <a:r>
              <a:rPr lang="en-US" sz="800" b="1" kern="0" spc="300" dirty="0">
                <a:solidFill>
                  <a:srgbClr val="0D7C8F"/>
                </a:solidFill>
              </a:rPr>
              <a:t>SOLOW — RESULTS</a:t>
            </a:r>
            <a:endParaRPr lang="en-US" sz="800" dirty="0"/>
          </a:p>
        </p:txBody>
      </p:sp>
      <p:sp>
        <p:nvSpPr>
          <p:cNvPr id="4" name="Text 2"/>
          <p:cNvSpPr/>
          <p:nvPr/>
        </p:nvSpPr>
        <p:spPr>
          <a:xfrm>
            <a:off x="256032" y="502920"/>
            <a:ext cx="8631936" cy="594360"/>
          </a:xfrm>
          <a:prstGeom prst="rect">
            <a:avLst/>
          </a:prstGeom>
          <a:noFill/>
          <a:ln/>
        </p:spPr>
        <p:txBody>
          <a:bodyPr wrap="square" lIns="0" tIns="0" rIns="0" bIns="0" rtlCol="0" anchor="ctr"/>
          <a:lstStyle/>
          <a:p>
            <a:pPr marL="0" indent="0">
              <a:buNone/>
            </a:pPr>
            <a:r>
              <a:rPr lang="en-US" sz="2800" b="1" dirty="0">
                <a:solidFill>
                  <a:srgbClr val="2C3E50"/>
                </a:solidFill>
                <a:latin typeface="Cambria" pitchFamily="34" charset="0"/>
                <a:ea typeface="Cambria" pitchFamily="34" charset="-122"/>
                <a:cs typeface="Cambria" pitchFamily="34" charset="-120"/>
              </a:rPr>
              <a:t>Actual vs Model-Fitted Output &amp; HDI Regression</a:t>
            </a:r>
            <a:endParaRPr lang="en-US" sz="2800" dirty="0"/>
          </a:p>
        </p:txBody>
      </p:sp>
      <p:sp>
        <p:nvSpPr>
          <p:cNvPr id="5" name="Shape 3"/>
          <p:cNvSpPr/>
          <p:nvPr/>
        </p:nvSpPr>
        <p:spPr>
          <a:xfrm>
            <a:off x="256032" y="1188720"/>
            <a:ext cx="8631936" cy="0"/>
          </a:xfrm>
          <a:prstGeom prst="line">
            <a:avLst/>
          </a:prstGeom>
          <a:noFill/>
          <a:ln w="19050">
            <a:solidFill>
              <a:srgbClr val="0D7C8F"/>
            </a:solidFill>
            <a:prstDash val="solid"/>
          </a:ln>
        </p:spPr>
      </p:sp>
      <p:pic>
        <p:nvPicPr>
          <p:cNvPr id="6" name="Image 0" descr="/home/claude/plots_extracted/plots/actual_vs_cobb_douglass.png"/>
          <p:cNvPicPr>
            <a:picLocks noChangeAspect="1"/>
          </p:cNvPicPr>
          <p:nvPr/>
        </p:nvPicPr>
        <p:blipFill>
          <a:blip r:embed="rId3"/>
          <a:srcRect/>
          <a:stretch/>
        </p:blipFill>
        <p:spPr>
          <a:xfrm>
            <a:off x="256032" y="1280160"/>
            <a:ext cx="4251960" cy="2926080"/>
          </a:xfrm>
          <a:prstGeom prst="rect">
            <a:avLst/>
          </a:prstGeom>
        </p:spPr>
      </p:pic>
      <p:pic>
        <p:nvPicPr>
          <p:cNvPr id="7" name="Image 1" descr="/home/claude/plots_extracted/plots/Barrow_conditional_regression_HDI.png"/>
          <p:cNvPicPr>
            <a:picLocks noChangeAspect="1"/>
          </p:cNvPicPr>
          <p:nvPr/>
        </p:nvPicPr>
        <p:blipFill>
          <a:blip r:embed="rId4"/>
          <a:srcRect/>
          <a:stretch/>
        </p:blipFill>
        <p:spPr>
          <a:xfrm>
            <a:off x="4617720" y="1280160"/>
            <a:ext cx="4251960" cy="2926080"/>
          </a:xfrm>
          <a:prstGeom prst="rect">
            <a:avLst/>
          </a:prstGeom>
        </p:spPr>
      </p:pic>
      <p:sp>
        <p:nvSpPr>
          <p:cNvPr id="8" name="Shape 4"/>
          <p:cNvSpPr/>
          <p:nvPr/>
        </p:nvSpPr>
        <p:spPr>
          <a:xfrm>
            <a:off x="256032" y="4297680"/>
            <a:ext cx="8631936" cy="548640"/>
          </a:xfrm>
          <a:prstGeom prst="rect">
            <a:avLst/>
          </a:prstGeom>
          <a:solidFill>
            <a:srgbClr val="FFF8EE"/>
          </a:solidFill>
          <a:ln w="6350">
            <a:solidFill>
              <a:srgbClr val="E0C888"/>
            </a:solidFill>
            <a:prstDash val="solid"/>
          </a:ln>
        </p:spPr>
      </p:sp>
      <p:sp>
        <p:nvSpPr>
          <p:cNvPr id="9" name="Text 5"/>
          <p:cNvSpPr/>
          <p:nvPr/>
        </p:nvSpPr>
        <p:spPr>
          <a:xfrm>
            <a:off x="411480" y="4325112"/>
            <a:ext cx="8321040" cy="475488"/>
          </a:xfrm>
          <a:prstGeom prst="rect">
            <a:avLst/>
          </a:prstGeom>
          <a:noFill/>
          <a:ln/>
        </p:spPr>
        <p:txBody>
          <a:bodyPr wrap="square" lIns="0" tIns="0" rIns="0" bIns="0" rtlCol="0" anchor="ctr"/>
          <a:lstStyle/>
          <a:p>
            <a:pPr marL="0" indent="0">
              <a:buNone/>
            </a:pPr>
            <a:r>
              <a:rPr lang="en-US" sz="1100" i="1" dirty="0">
                <a:solidFill>
                  <a:srgbClr val="2C3E50"/>
                </a:solidFill>
              </a:rPr>
              <a:t>Key finding: Cobb-Douglas model tracks actual SK output well up to ~1995; the persistent residual thereafter reflects TFP acceleration and structural transformation beyond the basic Solow framework.</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1A2B4A"/>
        </a:solidFill>
        <a:effectLst/>
      </p:bgPr>
    </p:bg>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0D7C8F"/>
          </a:solidFill>
          <a:ln w="12700">
            <a:solidFill>
              <a:srgbClr val="0D7C8F"/>
            </a:solidFill>
            <a:prstDash val="solid"/>
          </a:ln>
        </p:spPr>
      </p:sp>
      <p:sp>
        <p:nvSpPr>
          <p:cNvPr id="3" name="Text 1"/>
          <p:cNvSpPr/>
          <p:nvPr/>
        </p:nvSpPr>
        <p:spPr>
          <a:xfrm>
            <a:off x="274320" y="1645920"/>
            <a:ext cx="2377440" cy="1371600"/>
          </a:xfrm>
          <a:prstGeom prst="rect">
            <a:avLst/>
          </a:prstGeom>
          <a:noFill/>
          <a:ln/>
        </p:spPr>
        <p:txBody>
          <a:bodyPr wrap="square" lIns="0" tIns="0" rIns="0" bIns="0" rtlCol="0" anchor="ctr"/>
          <a:lstStyle/>
          <a:p>
            <a:pPr marL="0" indent="0" algn="ctr">
              <a:buNone/>
            </a:pPr>
            <a:r>
              <a:rPr lang="en-US" sz="8000" b="1" dirty="0">
                <a:solidFill>
                  <a:srgbClr val="FFFFFF"/>
                </a:solidFill>
                <a:latin typeface="Cambria" pitchFamily="34" charset="0"/>
                <a:ea typeface="Cambria" pitchFamily="34" charset="-122"/>
                <a:cs typeface="Cambria" pitchFamily="34" charset="-120"/>
              </a:rPr>
              <a:t>02</a:t>
            </a:r>
            <a:endParaRPr lang="en-US" sz="8000" dirty="0"/>
          </a:p>
        </p:txBody>
      </p:sp>
      <p:sp>
        <p:nvSpPr>
          <p:cNvPr id="4" name="Text 2"/>
          <p:cNvSpPr/>
          <p:nvPr/>
        </p:nvSpPr>
        <p:spPr>
          <a:xfrm>
            <a:off x="3200400" y="1554480"/>
            <a:ext cx="5669280" cy="9144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Ramsey–Cass–Koopmans Model</a:t>
            </a:r>
            <a:endParaRPr lang="en-US" sz="3200" dirty="0"/>
          </a:p>
        </p:txBody>
      </p:sp>
      <p:sp>
        <p:nvSpPr>
          <p:cNvPr id="5" name="Text 3"/>
          <p:cNvSpPr/>
          <p:nvPr/>
        </p:nvSpPr>
        <p:spPr>
          <a:xfrm>
            <a:off x="3200400" y="2514600"/>
            <a:ext cx="5669280" cy="548640"/>
          </a:xfrm>
          <a:prstGeom prst="rect">
            <a:avLst/>
          </a:prstGeom>
          <a:noFill/>
          <a:ln/>
        </p:spPr>
        <p:txBody>
          <a:bodyPr wrap="square" lIns="0" tIns="0" rIns="0" bIns="0" rtlCol="0" anchor="ctr"/>
          <a:lstStyle/>
          <a:p>
            <a:pPr marL="0" indent="0">
              <a:buNone/>
            </a:pPr>
            <a:r>
              <a:rPr lang="en-US" sz="1400" dirty="0">
                <a:solidFill>
                  <a:srgbClr val="A8C8D8"/>
                </a:solidFill>
              </a:rPr>
              <a:t>Optimal Consumption &amp; Intertemporal Choice — South Korea</a:t>
            </a:r>
            <a:endParaRPr lang="en-US" sz="1400" dirty="0"/>
          </a:p>
        </p:txBody>
      </p:sp>
      <p:sp>
        <p:nvSpPr>
          <p:cNvPr id="6" name="Preview 6"/>
          <p:cNvSpPr/>
          <p:nvPr/>
        </p:nvSpPr>
        <p:spPr>
          <a:xfrm>
            <a:off x="3200400" y="3200400"/>
            <a:ext cx="5578080" cy="1371600"/>
          </a:xfrm>
          <a:prstGeom prst="rect">
            <a:avLst/>
          </a:prstGeom>
          <a:noFill/>
          <a:ln/>
        </p:spPr>
        <p:txBody>
          <a:bodyPr wrap="square" lIns="0" tIns="0" rIns="0" bIns="0" rtlCol="0" anchor="t"/>
          <a:lstStyle/>
          <a:p>
            <a:pPr marL="228600" indent="0">
              <a:buChar char="→"/>
            </a:pPr>
            <a:r>
              <a:rPr lang="en-US" sz="1100" dirty="0">
                <a:solidFill>
                  <a:srgbClr val="7EC8D8"/>
                </a:solidFill>
              </a:rPr>
              <a:t>Euler equation &amp; optimal consumption theory</a:t>
            </a:r>
          </a:p>
          <a:p>
            <a:pPr marL="228600" indent="0">
              <a:buChar char="→"/>
            </a:pPr>
            <a:r>
              <a:rPr lang="en-US" sz="1100" dirty="0">
                <a:solidFill>
                  <a:srgbClr val="7EC8D8"/>
                </a:solidFill>
              </a:rPr>
              <a:t>RCK phase diagram &amp; saddle path derivation</a:t>
            </a:r>
          </a:p>
          <a:p>
            <a:pPr marL="228600" indent="0">
              <a:buChar char="→"/>
            </a:pPr>
            <a:r>
              <a:rPr lang="en-US" sz="1100" dirty="0">
                <a:solidFill>
                  <a:srgbClr val="7EC8D8"/>
                </a:solidFill>
              </a:rPr>
              <a:t>Time dynamics: capital &amp; consumption paths</a:t>
            </a:r>
          </a:p>
          <a:p>
            <a:pPr marL="228600" indent="0">
              <a:buChar char="→"/>
            </a:pPr>
            <a:r>
              <a:rPr lang="en-US" sz="1100" dirty="0">
                <a:solidFill>
                  <a:srgbClr val="7EC8D8"/>
                </a:solidFill>
              </a:rPr>
              <a:t>Real vs RCK-simulated output comparison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a:extLst>
            <a:ext uri="{FF2B5EF4-FFF2-40B4-BE49-F238E27FC236}">
              <a16:creationId xmlns:a16="http://schemas.microsoft.com/office/drawing/2014/main" id="{31325531-DCE8-2D2E-6A53-989919787E8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1F701CD-463E-0022-F5CE-B8491FE4D749}"/>
              </a:ext>
            </a:extLst>
          </p:cNvPr>
          <p:cNvSpPr/>
          <p:nvPr/>
        </p:nvSpPr>
        <p:spPr>
          <a:xfrm>
            <a:off x="0" y="0"/>
            <a:ext cx="164592" cy="5143500"/>
          </a:xfrm>
          <a:prstGeom prst="rect">
            <a:avLst/>
          </a:prstGeom>
          <a:solidFill>
            <a:srgbClr val="0D7C8F"/>
          </a:solidFill>
          <a:ln w="12700">
            <a:solidFill>
              <a:srgbClr val="0D7C8F"/>
            </a:solidFill>
            <a:prstDash val="solid"/>
          </a:ln>
        </p:spPr>
      </p:sp>
      <p:sp>
        <p:nvSpPr>
          <p:cNvPr id="3" name="Text 1">
            <a:extLst>
              <a:ext uri="{FF2B5EF4-FFF2-40B4-BE49-F238E27FC236}">
                <a16:creationId xmlns:a16="http://schemas.microsoft.com/office/drawing/2014/main" id="{EE51DA0B-70DE-C9A8-0677-EBD1682BD72F}"/>
              </a:ext>
            </a:extLst>
          </p:cNvPr>
          <p:cNvSpPr/>
          <p:nvPr/>
        </p:nvSpPr>
        <p:spPr>
          <a:xfrm>
            <a:off x="256032" y="164592"/>
            <a:ext cx="5486400" cy="256032"/>
          </a:xfrm>
          <a:prstGeom prst="rect">
            <a:avLst/>
          </a:prstGeom>
          <a:noFill/>
          <a:ln/>
        </p:spPr>
        <p:txBody>
          <a:bodyPr wrap="square" lIns="0" tIns="0" rIns="0" bIns="0" rtlCol="0" anchor="ctr"/>
          <a:lstStyle/>
          <a:p>
            <a:pPr marL="0" indent="0">
              <a:buNone/>
            </a:pPr>
            <a:endParaRPr lang="en-US" sz="800" dirty="0"/>
          </a:p>
        </p:txBody>
      </p:sp>
      <p:sp>
        <p:nvSpPr>
          <p:cNvPr id="4" name="Text 2">
            <a:extLst>
              <a:ext uri="{FF2B5EF4-FFF2-40B4-BE49-F238E27FC236}">
                <a16:creationId xmlns:a16="http://schemas.microsoft.com/office/drawing/2014/main" id="{64DDEEA0-4E38-B7DB-A959-A442254528FA}"/>
              </a:ext>
            </a:extLst>
          </p:cNvPr>
          <p:cNvSpPr/>
          <p:nvPr/>
        </p:nvSpPr>
        <p:spPr>
          <a:xfrm>
            <a:off x="246888" y="123444"/>
            <a:ext cx="8631936" cy="594360"/>
          </a:xfrm>
          <a:prstGeom prst="rect">
            <a:avLst/>
          </a:prstGeom>
          <a:noFill/>
          <a:ln/>
        </p:spPr>
        <p:txBody>
          <a:bodyPr wrap="square" lIns="0" tIns="0" rIns="0" bIns="0" rtlCol="0" anchor="ctr"/>
          <a:lstStyle/>
          <a:p>
            <a:pPr marL="0" indent="0">
              <a:buNone/>
            </a:pPr>
            <a:r>
              <a:rPr lang="en-US" sz="2800" b="1" dirty="0">
                <a:solidFill>
                  <a:srgbClr val="2C3E50"/>
                </a:solidFill>
                <a:latin typeface="Cambria" pitchFamily="34" charset="0"/>
                <a:ea typeface="Cambria" pitchFamily="34" charset="-122"/>
                <a:cs typeface="Cambria" pitchFamily="34" charset="-120"/>
              </a:rPr>
              <a:t>RCK: A Theory Overview with respect to South Korea </a:t>
            </a:r>
            <a:endParaRPr lang="en-US" sz="2800" dirty="0"/>
          </a:p>
        </p:txBody>
      </p:sp>
      <p:sp>
        <p:nvSpPr>
          <p:cNvPr id="7" name="Shape 5">
            <a:extLst>
              <a:ext uri="{FF2B5EF4-FFF2-40B4-BE49-F238E27FC236}">
                <a16:creationId xmlns:a16="http://schemas.microsoft.com/office/drawing/2014/main" id="{ED147D1E-A875-B799-35BE-0A54F9BA818C}"/>
              </a:ext>
            </a:extLst>
          </p:cNvPr>
          <p:cNvSpPr/>
          <p:nvPr/>
        </p:nvSpPr>
        <p:spPr>
          <a:xfrm>
            <a:off x="317675" y="747348"/>
            <a:ext cx="3923860" cy="2011106"/>
          </a:xfrm>
          <a:prstGeom prst="rect">
            <a:avLst/>
          </a:prstGeom>
          <a:solidFill>
            <a:srgbClr val="EDF4F7"/>
          </a:solidFill>
          <a:ln w="6350">
            <a:solidFill>
              <a:srgbClr val="B0CCD8"/>
            </a:solidFill>
            <a:prstDash val="solid"/>
          </a:ln>
        </p:spPr>
      </p:sp>
      <p:sp>
        <p:nvSpPr>
          <p:cNvPr id="8" name="Shape 6">
            <a:extLst>
              <a:ext uri="{FF2B5EF4-FFF2-40B4-BE49-F238E27FC236}">
                <a16:creationId xmlns:a16="http://schemas.microsoft.com/office/drawing/2014/main" id="{4C528FE5-71D6-437D-E9D5-FFE8CD33EA76}"/>
              </a:ext>
            </a:extLst>
          </p:cNvPr>
          <p:cNvSpPr/>
          <p:nvPr/>
        </p:nvSpPr>
        <p:spPr>
          <a:xfrm>
            <a:off x="317675" y="770061"/>
            <a:ext cx="3923858" cy="341205"/>
          </a:xfrm>
          <a:prstGeom prst="rect">
            <a:avLst/>
          </a:prstGeom>
          <a:solidFill>
            <a:srgbClr val="0D7C8F"/>
          </a:solidFill>
          <a:ln w="12700">
            <a:solidFill>
              <a:srgbClr val="0D7C8F"/>
            </a:solidFill>
            <a:prstDash val="solid"/>
          </a:ln>
        </p:spPr>
      </p:sp>
      <p:sp>
        <p:nvSpPr>
          <p:cNvPr id="9" name="Text 7">
            <a:extLst>
              <a:ext uri="{FF2B5EF4-FFF2-40B4-BE49-F238E27FC236}">
                <a16:creationId xmlns:a16="http://schemas.microsoft.com/office/drawing/2014/main" id="{3E8FAE8C-E1C5-B314-0F0E-18C1EAD83304}"/>
              </a:ext>
            </a:extLst>
          </p:cNvPr>
          <p:cNvSpPr/>
          <p:nvPr/>
        </p:nvSpPr>
        <p:spPr>
          <a:xfrm>
            <a:off x="256032" y="2331720"/>
            <a:ext cx="4206240" cy="365760"/>
          </a:xfrm>
          <a:prstGeom prst="rect">
            <a:avLst/>
          </a:prstGeom>
          <a:noFill/>
          <a:ln/>
        </p:spPr>
        <p:txBody>
          <a:bodyPr wrap="square" lIns="0" tIns="0" rIns="0" bIns="0" rtlCol="0" anchor="ctr"/>
          <a:lstStyle/>
          <a:p>
            <a:pPr marL="0" indent="0" algn="ctr">
              <a:buNone/>
            </a:pPr>
            <a:endParaRPr lang="en-US" sz="1300" dirty="0"/>
          </a:p>
        </p:txBody>
      </p:sp>
      <p:sp>
        <p:nvSpPr>
          <p:cNvPr id="10" name="Text 8">
            <a:extLst>
              <a:ext uri="{FF2B5EF4-FFF2-40B4-BE49-F238E27FC236}">
                <a16:creationId xmlns:a16="http://schemas.microsoft.com/office/drawing/2014/main" id="{ADB4EFBB-A6D1-F199-418A-340FA2F13B09}"/>
              </a:ext>
            </a:extLst>
          </p:cNvPr>
          <p:cNvSpPr/>
          <p:nvPr/>
        </p:nvSpPr>
        <p:spPr>
          <a:xfrm>
            <a:off x="454835" y="1086859"/>
            <a:ext cx="3667957" cy="1403124"/>
          </a:xfrm>
          <a:prstGeom prst="rect">
            <a:avLst/>
          </a:prstGeom>
          <a:noFill/>
          <a:ln/>
        </p:spPr>
        <p:txBody>
          <a:bodyPr wrap="square" lIns="0" tIns="0" rIns="0" bIns="0" rtlCol="0" anchor="t"/>
          <a:lstStyle/>
          <a:p>
            <a:endParaRPr lang="en-US" sz="1200" b="1" dirty="0">
              <a:latin typeface="Bahnschrift" panose="020B0502040204020203" pitchFamily="34" charset="0"/>
            </a:endParaRPr>
          </a:p>
          <a:p>
            <a:pPr marL="171450" indent="-171450">
              <a:buFont typeface="Wingdings" panose="05000000000000000000" pitchFamily="2" charset="2"/>
              <a:buChar char="§"/>
            </a:pPr>
            <a:r>
              <a:rPr lang="en-US" sz="1200" dirty="0">
                <a:latin typeface="Bahnschrift" panose="020B0502040204020203" pitchFamily="34" charset="0"/>
              </a:rPr>
              <a:t>Household saving rate rose from </a:t>
            </a:r>
            <a:r>
              <a:rPr lang="en-US" sz="1200" b="1" dirty="0">
                <a:latin typeface="Bahnschrift" panose="020B0502040204020203" pitchFamily="34" charset="0"/>
              </a:rPr>
              <a:t>~10% (1960s)</a:t>
            </a:r>
            <a:r>
              <a:rPr lang="en-US" sz="1200" dirty="0">
                <a:latin typeface="Bahnschrift" panose="020B0502040204020203" pitchFamily="34" charset="0"/>
              </a:rPr>
              <a:t> → </a:t>
            </a:r>
            <a:r>
              <a:rPr lang="en-US" sz="1200" b="1" dirty="0">
                <a:latin typeface="Bahnschrift" panose="020B0502040204020203" pitchFamily="34" charset="0"/>
              </a:rPr>
              <a:t>30–40% (1980s–90s)</a:t>
            </a:r>
            <a:r>
              <a:rPr lang="en-US" sz="1200" dirty="0">
                <a:latin typeface="Bahnschrift" panose="020B0502040204020203" pitchFamily="34" charset="0"/>
              </a:rPr>
              <a:t> </a:t>
            </a:r>
          </a:p>
          <a:p>
            <a:pPr marL="171450" indent="-171450">
              <a:buFont typeface="Wingdings" panose="05000000000000000000" pitchFamily="2" charset="2"/>
              <a:buChar char="§"/>
            </a:pPr>
            <a:r>
              <a:rPr lang="en-US" sz="1200" dirty="0">
                <a:latin typeface="Bahnschrift" panose="020B0502040204020203" pitchFamily="34" charset="0"/>
              </a:rPr>
              <a:t>Among the </a:t>
            </a:r>
            <a:r>
              <a:rPr lang="en-US" sz="1200" b="1" dirty="0">
                <a:latin typeface="Bahnschrift" panose="020B0502040204020203" pitchFamily="34" charset="0"/>
              </a:rPr>
              <a:t>highest saving rates globally during high-growth phase</a:t>
            </a:r>
            <a:r>
              <a:rPr lang="en-US" sz="1200" dirty="0">
                <a:latin typeface="Bahnschrift" panose="020B0502040204020203" pitchFamily="34" charset="0"/>
              </a:rPr>
              <a:t> </a:t>
            </a:r>
          </a:p>
          <a:p>
            <a:pPr marL="171450" indent="-171450">
              <a:buFont typeface="Wingdings" panose="05000000000000000000" pitchFamily="2" charset="2"/>
              <a:buChar char="§"/>
            </a:pPr>
            <a:r>
              <a:rPr lang="en-US" sz="1200" dirty="0">
                <a:latin typeface="Bahnschrift" panose="020B0502040204020203" pitchFamily="34" charset="0"/>
              </a:rPr>
              <a:t>Extremely high </a:t>
            </a:r>
            <a:r>
              <a:rPr lang="en-US" sz="1200" b="1" dirty="0">
                <a:latin typeface="Bahnschrift" panose="020B0502040204020203" pitchFamily="34" charset="0"/>
              </a:rPr>
              <a:t>private spending on education (hagwons culture)</a:t>
            </a:r>
            <a:r>
              <a:rPr lang="en-US" sz="1200" dirty="0">
                <a:latin typeface="Bahnschrift" panose="020B0502040204020203" pitchFamily="34" charset="0"/>
              </a:rPr>
              <a:t> </a:t>
            </a:r>
          </a:p>
        </p:txBody>
      </p:sp>
      <p:sp>
        <p:nvSpPr>
          <p:cNvPr id="11" name="Shape 9">
            <a:extLst>
              <a:ext uri="{FF2B5EF4-FFF2-40B4-BE49-F238E27FC236}">
                <a16:creationId xmlns:a16="http://schemas.microsoft.com/office/drawing/2014/main" id="{2B21936C-042A-0ECB-1383-379A5018A3F6}"/>
              </a:ext>
            </a:extLst>
          </p:cNvPr>
          <p:cNvSpPr/>
          <p:nvPr/>
        </p:nvSpPr>
        <p:spPr>
          <a:xfrm>
            <a:off x="4696406" y="1100156"/>
            <a:ext cx="3923860" cy="1597324"/>
          </a:xfrm>
          <a:prstGeom prst="rect">
            <a:avLst/>
          </a:prstGeom>
          <a:solidFill>
            <a:srgbClr val="FFF8EE"/>
          </a:solidFill>
          <a:ln w="6350">
            <a:solidFill>
              <a:srgbClr val="E0C888"/>
            </a:solidFill>
            <a:prstDash val="solid"/>
          </a:ln>
        </p:spPr>
        <p:txBody>
          <a:bodyPr/>
          <a:lstStyle/>
          <a:p>
            <a:endParaRPr lang="en-US" dirty="0"/>
          </a:p>
        </p:txBody>
      </p:sp>
      <p:sp>
        <p:nvSpPr>
          <p:cNvPr id="12" name="Shape 10">
            <a:extLst>
              <a:ext uri="{FF2B5EF4-FFF2-40B4-BE49-F238E27FC236}">
                <a16:creationId xmlns:a16="http://schemas.microsoft.com/office/drawing/2014/main" id="{3D5F8490-34D4-5524-6443-3B7BC374A146}"/>
              </a:ext>
            </a:extLst>
          </p:cNvPr>
          <p:cNvSpPr/>
          <p:nvPr/>
        </p:nvSpPr>
        <p:spPr>
          <a:xfrm>
            <a:off x="4705548" y="758952"/>
            <a:ext cx="3923860" cy="397158"/>
          </a:xfrm>
          <a:prstGeom prst="rect">
            <a:avLst/>
          </a:prstGeom>
          <a:solidFill>
            <a:srgbClr val="C8952A"/>
          </a:solidFill>
          <a:ln w="12700">
            <a:solidFill>
              <a:srgbClr val="C8952A"/>
            </a:solidFill>
            <a:prstDash val="solid"/>
          </a:ln>
        </p:spPr>
      </p:sp>
      <p:sp>
        <p:nvSpPr>
          <p:cNvPr id="13" name="Text 11">
            <a:extLst>
              <a:ext uri="{FF2B5EF4-FFF2-40B4-BE49-F238E27FC236}">
                <a16:creationId xmlns:a16="http://schemas.microsoft.com/office/drawing/2014/main" id="{7C16B7B5-8AE1-C698-6E46-211BE86B67B5}"/>
              </a:ext>
            </a:extLst>
          </p:cNvPr>
          <p:cNvSpPr/>
          <p:nvPr/>
        </p:nvSpPr>
        <p:spPr>
          <a:xfrm>
            <a:off x="4705548" y="758952"/>
            <a:ext cx="3923860" cy="397158"/>
          </a:xfrm>
          <a:prstGeom prst="rect">
            <a:avLst/>
          </a:prstGeom>
          <a:noFill/>
          <a:ln/>
        </p:spPr>
        <p:txBody>
          <a:bodyPr wrap="square" lIns="0" tIns="0" rIns="0" bIns="0" rtlCol="0" anchor="ctr"/>
          <a:lstStyle/>
          <a:p>
            <a:pPr marL="0" indent="0" algn="ctr">
              <a:buNone/>
            </a:pPr>
            <a:r>
              <a:rPr lang="en-US" sz="1300" b="1" dirty="0">
                <a:solidFill>
                  <a:srgbClr val="FFFFFF"/>
                </a:solidFill>
                <a:latin typeface="Bahnschrift" panose="020B0502040204020203" pitchFamily="34" charset="0"/>
              </a:rPr>
              <a:t>Capital Accumulation</a:t>
            </a:r>
            <a:endParaRPr lang="en-US" sz="1300" dirty="0">
              <a:latin typeface="Bahnschrift" panose="020B0502040204020203" pitchFamily="34" charset="0"/>
            </a:endParaRPr>
          </a:p>
        </p:txBody>
      </p:sp>
      <mc:AlternateContent xmlns:mc="http://schemas.openxmlformats.org/markup-compatibility/2006" xmlns:a14="http://schemas.microsoft.com/office/drawing/2010/main">
        <mc:Choice Requires="a14">
          <p:sp>
            <p:nvSpPr>
              <p:cNvPr id="14" name="Text 12">
                <a:extLst>
                  <a:ext uri="{FF2B5EF4-FFF2-40B4-BE49-F238E27FC236}">
                    <a16:creationId xmlns:a16="http://schemas.microsoft.com/office/drawing/2014/main" id="{61BE0C99-D707-319A-B65E-2CE9A6F29089}"/>
                  </a:ext>
                </a:extLst>
              </p:cNvPr>
              <p:cNvSpPr/>
              <p:nvPr/>
            </p:nvSpPr>
            <p:spPr>
              <a:xfrm>
                <a:off x="4842708" y="1299323"/>
                <a:ext cx="3667956" cy="2184371"/>
              </a:xfrm>
              <a:prstGeom prst="rect">
                <a:avLst/>
              </a:prstGeom>
              <a:noFill/>
              <a:ln/>
            </p:spPr>
            <p:txBody>
              <a:bodyPr wrap="square" lIns="0" tIns="0" rIns="0" bIns="0" rtlCol="0" anchor="t"/>
              <a:lstStyle/>
              <a:p>
                <a:pPr marL="342900" indent="-342900">
                  <a:buSzPct val="100000"/>
                  <a:buChar char="•"/>
                </a:pPr>
                <a14:m>
                  <m:oMath xmlns:m="http://schemas.openxmlformats.org/officeDocument/2006/math">
                    <m:acc>
                      <m:accPr>
                        <m:chr m:val="̇"/>
                        <m:ctrlPr>
                          <a:rPr lang="en-US" sz="1100" i="1">
                            <a:latin typeface="Cambria Math" panose="02040503050406030204" pitchFamily="18" charset="0"/>
                          </a:rPr>
                        </m:ctrlPr>
                      </m:accPr>
                      <m:e>
                        <m:r>
                          <a:rPr lang="en-US" sz="1100" i="1">
                            <a:latin typeface="Cambria Math" panose="02040503050406030204" pitchFamily="18" charset="0"/>
                          </a:rPr>
                          <m:t>𝑘</m:t>
                        </m:r>
                      </m:e>
                    </m:acc>
                    <m:r>
                      <a:rPr lang="en-US" sz="1100">
                        <a:latin typeface="Cambria Math" panose="02040503050406030204" pitchFamily="18" charset="0"/>
                      </a:rPr>
                      <m:t>=</m:t>
                    </m:r>
                    <m:r>
                      <a:rPr lang="en-US" sz="1100" i="1">
                        <a:latin typeface="Cambria Math" panose="02040503050406030204" pitchFamily="18" charset="0"/>
                      </a:rPr>
                      <m:t>𝑓</m:t>
                    </m:r>
                    <m:d>
                      <m:dPr>
                        <m:ctrlPr>
                          <a:rPr lang="en-US" sz="1100" i="1">
                            <a:latin typeface="Cambria Math" panose="02040503050406030204" pitchFamily="18" charset="0"/>
                          </a:rPr>
                        </m:ctrlPr>
                      </m:dPr>
                      <m:e>
                        <m:r>
                          <a:rPr lang="en-US" sz="1100" i="1">
                            <a:latin typeface="Cambria Math" panose="02040503050406030204" pitchFamily="18" charset="0"/>
                          </a:rPr>
                          <m:t>𝑘</m:t>
                        </m:r>
                      </m:e>
                    </m:d>
                    <m:r>
                      <a:rPr lang="en-US" sz="1100">
                        <a:latin typeface="Cambria Math" panose="02040503050406030204" pitchFamily="18" charset="0"/>
                      </a:rPr>
                      <m:t>−</m:t>
                    </m:r>
                    <m:r>
                      <a:rPr lang="en-US" sz="1100" i="1">
                        <a:latin typeface="Cambria Math" panose="02040503050406030204" pitchFamily="18" charset="0"/>
                      </a:rPr>
                      <m:t>𝑐</m:t>
                    </m:r>
                    <m:r>
                      <a:rPr lang="en-US" sz="1100">
                        <a:latin typeface="Cambria Math" panose="02040503050406030204" pitchFamily="18" charset="0"/>
                      </a:rPr>
                      <m:t>−</m:t>
                    </m:r>
                    <m:d>
                      <m:dPr>
                        <m:ctrlPr>
                          <a:rPr lang="en-US" sz="1100" i="1">
                            <a:latin typeface="Cambria Math" panose="02040503050406030204" pitchFamily="18" charset="0"/>
                          </a:rPr>
                        </m:ctrlPr>
                      </m:dPr>
                      <m:e>
                        <m:r>
                          <a:rPr lang="en-US" sz="1100" i="1">
                            <a:latin typeface="Cambria Math" panose="02040503050406030204" pitchFamily="18" charset="0"/>
                          </a:rPr>
                          <m:t>𝑛</m:t>
                        </m:r>
                        <m:r>
                          <a:rPr lang="en-US" sz="1100">
                            <a:latin typeface="Cambria Math" panose="02040503050406030204" pitchFamily="18" charset="0"/>
                          </a:rPr>
                          <m:t>+</m:t>
                        </m:r>
                        <m:r>
                          <a:rPr lang="en-US" sz="1100" i="1">
                            <a:latin typeface="Cambria Math" panose="02040503050406030204" pitchFamily="18" charset="0"/>
                          </a:rPr>
                          <m:t>𝑔</m:t>
                        </m:r>
                        <m:r>
                          <a:rPr lang="en-US" sz="1100">
                            <a:latin typeface="Cambria Math" panose="02040503050406030204" pitchFamily="18" charset="0"/>
                          </a:rPr>
                          <m:t>+</m:t>
                        </m:r>
                        <m:r>
                          <a:rPr lang="en-US" sz="1100" i="1">
                            <a:latin typeface="Cambria Math" panose="02040503050406030204" pitchFamily="18" charset="0"/>
                          </a:rPr>
                          <m:t>𝛿</m:t>
                        </m:r>
                      </m:e>
                    </m:d>
                    <m:r>
                      <a:rPr lang="en-US" sz="1100" i="1">
                        <a:latin typeface="Cambria Math" panose="02040503050406030204" pitchFamily="18" charset="0"/>
                      </a:rPr>
                      <m:t>𝑘</m:t>
                    </m:r>
                  </m:oMath>
                </a14:m>
                <a:endParaRPr lang="en-US" sz="1100" dirty="0">
                  <a:solidFill>
                    <a:srgbClr val="2C3E50"/>
                  </a:solidFill>
                  <a:latin typeface="Bahnschrift" panose="020B0502040204020203" pitchFamily="34" charset="0"/>
                  <a:ea typeface="Calibri" pitchFamily="34" charset="-122"/>
                  <a:cs typeface="Calibri" pitchFamily="34" charset="-120"/>
                </a:endParaRPr>
              </a:p>
              <a:p>
                <a:pPr marL="342900" indent="-342900">
                  <a:buSzPct val="100000"/>
                  <a:buChar char="•"/>
                </a:pPr>
                <a:r>
                  <a:rPr lang="en-US" sz="1150" dirty="0">
                    <a:solidFill>
                      <a:srgbClr val="2C3E50"/>
                    </a:solidFill>
                    <a:latin typeface="Bahnschrift" panose="020B0502040204020203" pitchFamily="34" charset="0"/>
                    <a:ea typeface="Calibri" pitchFamily="34" charset="-122"/>
                    <a:cs typeface="Calibri" pitchFamily="34" charset="-120"/>
                  </a:rPr>
                  <a:t>Investment rate reached ~</a:t>
                </a:r>
                <a:r>
                  <a:rPr lang="en-US" sz="1150" b="1" dirty="0">
                    <a:solidFill>
                      <a:srgbClr val="2C3E50"/>
                    </a:solidFill>
                    <a:latin typeface="Bahnschrift" panose="020B0502040204020203" pitchFamily="34" charset="0"/>
                    <a:ea typeface="Calibri" pitchFamily="34" charset="-122"/>
                    <a:cs typeface="Calibri" pitchFamily="34" charset="-120"/>
                  </a:rPr>
                  <a:t>30–35% of GDP</a:t>
                </a:r>
              </a:p>
              <a:p>
                <a:pPr marL="342900" indent="-342900">
                  <a:buSzPct val="100000"/>
                  <a:buChar char="•"/>
                </a:pPr>
                <a:r>
                  <a:rPr lang="en-US" sz="1150" dirty="0">
                    <a:solidFill>
                      <a:srgbClr val="2C3E50"/>
                    </a:solidFill>
                    <a:latin typeface="Bahnschrift" panose="020B0502040204020203" pitchFamily="34" charset="0"/>
                    <a:ea typeface="Calibri" pitchFamily="34" charset="-122"/>
                    <a:cs typeface="Calibri" pitchFamily="34" charset="-120"/>
                  </a:rPr>
                  <a:t>Government launched Five-Year Economic Plans (1962 onwards)</a:t>
                </a:r>
              </a:p>
              <a:p>
                <a:pPr marL="342900" indent="-342900">
                  <a:buSzPct val="100000"/>
                  <a:buChar char="•"/>
                </a:pPr>
                <a:r>
                  <a:rPr lang="en-US" sz="1150" dirty="0">
                    <a:solidFill>
                      <a:srgbClr val="2C3E50"/>
                    </a:solidFill>
                    <a:latin typeface="Bahnschrift" panose="020B0502040204020203" pitchFamily="34" charset="0"/>
                    <a:ea typeface="Calibri" pitchFamily="34" charset="-122"/>
                    <a:cs typeface="Calibri" pitchFamily="34" charset="-120"/>
                  </a:rPr>
                  <a:t>Rise of </a:t>
                </a:r>
                <a:r>
                  <a:rPr lang="en-US" sz="1150" b="1" dirty="0">
                    <a:solidFill>
                      <a:srgbClr val="2C3E50"/>
                    </a:solidFill>
                    <a:latin typeface="Bahnschrift" panose="020B0502040204020203" pitchFamily="34" charset="0"/>
                    <a:ea typeface="Calibri" pitchFamily="34" charset="-122"/>
                    <a:cs typeface="Calibri" pitchFamily="34" charset="-120"/>
                  </a:rPr>
                  <a:t>Samsung, Hyundai, LG</a:t>
                </a:r>
                <a:r>
                  <a:rPr lang="en-US" sz="1150" dirty="0">
                    <a:solidFill>
                      <a:srgbClr val="2C3E50"/>
                    </a:solidFill>
                    <a:latin typeface="Bahnschrift" panose="020B0502040204020203" pitchFamily="34" charset="0"/>
                    <a:ea typeface="Calibri" pitchFamily="34" charset="-122"/>
                    <a:cs typeface="Calibri" pitchFamily="34" charset="-120"/>
                  </a:rPr>
                  <a:t> led South Korea to become :Top global shipbuilder and Leading semiconductor exporter</a:t>
                </a:r>
                <a:endParaRPr lang="en-US" sz="1150" dirty="0">
                  <a:latin typeface="Bahnschrift" panose="020B0502040204020203" pitchFamily="34" charset="0"/>
                </a:endParaRPr>
              </a:p>
            </p:txBody>
          </p:sp>
        </mc:Choice>
        <mc:Fallback xmlns="">
          <p:sp>
            <p:nvSpPr>
              <p:cNvPr id="14" name="Text 12">
                <a:extLst>
                  <a:ext uri="{FF2B5EF4-FFF2-40B4-BE49-F238E27FC236}">
                    <a16:creationId xmlns:a16="http://schemas.microsoft.com/office/drawing/2014/main" id="{61BE0C99-D707-319A-B65E-2CE9A6F29089}"/>
                  </a:ext>
                </a:extLst>
              </p:cNvPr>
              <p:cNvSpPr>
                <a:spLocks noRot="1" noChangeAspect="1" noMove="1" noResize="1" noEditPoints="1" noAdjustHandles="1" noChangeArrowheads="1" noChangeShapeType="1" noTextEdit="1"/>
              </p:cNvSpPr>
              <p:nvPr/>
            </p:nvSpPr>
            <p:spPr>
              <a:xfrm>
                <a:off x="4842708" y="1299323"/>
                <a:ext cx="3667956" cy="2184371"/>
              </a:xfrm>
              <a:prstGeom prst="rect">
                <a:avLst/>
              </a:prstGeom>
              <a:blipFill>
                <a:blip r:embed="rId3"/>
                <a:stretch>
                  <a:fillRect l="-2492" t="-1955" r="-166"/>
                </a:stretch>
              </a:blipFill>
              <a:ln/>
            </p:spPr>
            <p:txBody>
              <a:bodyPr/>
              <a:lstStyle/>
              <a:p>
                <a:r>
                  <a:rPr lang="en-US">
                    <a:noFill/>
                  </a:rPr>
                  <a:t> </a:t>
                </a:r>
              </a:p>
            </p:txBody>
          </p:sp>
        </mc:Fallback>
      </mc:AlternateContent>
      <p:sp>
        <p:nvSpPr>
          <p:cNvPr id="16" name="TextBox 15">
            <a:extLst>
              <a:ext uri="{FF2B5EF4-FFF2-40B4-BE49-F238E27FC236}">
                <a16:creationId xmlns:a16="http://schemas.microsoft.com/office/drawing/2014/main" id="{E9DAAC70-8CA3-26C5-C808-4F490A04EF85}"/>
              </a:ext>
            </a:extLst>
          </p:cNvPr>
          <p:cNvSpPr txBox="1"/>
          <p:nvPr/>
        </p:nvSpPr>
        <p:spPr>
          <a:xfrm>
            <a:off x="-274222" y="786741"/>
            <a:ext cx="4575516" cy="292388"/>
          </a:xfrm>
          <a:prstGeom prst="rect">
            <a:avLst/>
          </a:prstGeom>
          <a:noFill/>
        </p:spPr>
        <p:txBody>
          <a:bodyPr wrap="square">
            <a:spAutoFit/>
          </a:bodyPr>
          <a:lstStyle/>
          <a:p>
            <a:pPr algn="ctr"/>
            <a:r>
              <a:rPr lang="en-US" sz="1300" b="1" dirty="0">
                <a:solidFill>
                  <a:srgbClr val="FFFFFF"/>
                </a:solidFill>
                <a:latin typeface="Bahnschrift" panose="020B0502040204020203" pitchFamily="34" charset="0"/>
              </a:rPr>
              <a:t>Inter-Temporal Choices</a:t>
            </a:r>
            <a:endParaRPr lang="en-US" sz="1300" dirty="0">
              <a:latin typeface="Bahnschrift" panose="020B0502040204020203" pitchFamily="34" charset="0"/>
            </a:endParaRPr>
          </a:p>
        </p:txBody>
      </p:sp>
      <p:sp>
        <p:nvSpPr>
          <p:cNvPr id="18" name="Shape 5">
            <a:extLst>
              <a:ext uri="{FF2B5EF4-FFF2-40B4-BE49-F238E27FC236}">
                <a16:creationId xmlns:a16="http://schemas.microsoft.com/office/drawing/2014/main" id="{E259DBF8-E325-D038-1EAF-C2B7522186F4}"/>
              </a:ext>
            </a:extLst>
          </p:cNvPr>
          <p:cNvSpPr/>
          <p:nvPr/>
        </p:nvSpPr>
        <p:spPr>
          <a:xfrm>
            <a:off x="317675" y="2725182"/>
            <a:ext cx="3923860" cy="1910811"/>
          </a:xfrm>
          <a:prstGeom prst="rect">
            <a:avLst/>
          </a:prstGeom>
          <a:solidFill>
            <a:srgbClr val="EDF4F7"/>
          </a:solidFill>
          <a:ln w="6350">
            <a:solidFill>
              <a:srgbClr val="B0CCD8"/>
            </a:solidFill>
            <a:prstDash val="solid"/>
          </a:ln>
        </p:spPr>
      </p:sp>
      <mc:AlternateContent xmlns:mc="http://schemas.openxmlformats.org/markup-compatibility/2006" xmlns:a14="http://schemas.microsoft.com/office/drawing/2010/main">
        <mc:Choice Requires="a14">
          <p:sp>
            <p:nvSpPr>
              <p:cNvPr id="19" name="Text 8">
                <a:extLst>
                  <a:ext uri="{FF2B5EF4-FFF2-40B4-BE49-F238E27FC236}">
                    <a16:creationId xmlns:a16="http://schemas.microsoft.com/office/drawing/2014/main" id="{5EFDC992-147B-0CB3-A299-92573BF67F79}"/>
                  </a:ext>
                </a:extLst>
              </p:cNvPr>
              <p:cNvSpPr/>
              <p:nvPr/>
            </p:nvSpPr>
            <p:spPr>
              <a:xfrm>
                <a:off x="454835" y="3064693"/>
                <a:ext cx="3667957" cy="1403124"/>
              </a:xfrm>
              <a:prstGeom prst="rect">
                <a:avLst/>
              </a:prstGeom>
              <a:noFill/>
              <a:ln/>
            </p:spPr>
            <p:txBody>
              <a:bodyPr wrap="square" lIns="0" tIns="0" rIns="0" bIns="0" rtlCol="0" anchor="t"/>
              <a:lstStyle/>
              <a:p>
                <a:endParaRPr lang="en-US" sz="1200" b="1" dirty="0">
                  <a:latin typeface="Bahnschrift" panose="020B0502040204020203" pitchFamily="34" charset="0"/>
                </a:endParaRPr>
              </a:p>
              <a:p>
                <a:pPr marL="171450" indent="-171450">
                  <a:buFont typeface="Wingdings" panose="05000000000000000000" pitchFamily="2" charset="2"/>
                  <a:buChar char="§"/>
                </a:pPr>
                <a14:m>
                  <m:oMath xmlns:m="http://schemas.openxmlformats.org/officeDocument/2006/math">
                    <m:f>
                      <m:fPr>
                        <m:ctrlPr>
                          <a:rPr lang="en-US" sz="1100" i="1">
                            <a:latin typeface="Cambria Math" panose="02040503050406030204" pitchFamily="18" charset="0"/>
                          </a:rPr>
                        </m:ctrlPr>
                      </m:fPr>
                      <m:num>
                        <m:acc>
                          <m:accPr>
                            <m:chr m:val="̇"/>
                            <m:ctrlPr>
                              <a:rPr lang="en-US" sz="1100" i="1">
                                <a:latin typeface="Cambria Math" panose="02040503050406030204" pitchFamily="18" charset="0"/>
                              </a:rPr>
                            </m:ctrlPr>
                          </m:accPr>
                          <m:e>
                            <m:r>
                              <a:rPr lang="en-US" sz="1100" i="1">
                                <a:latin typeface="Cambria Math" panose="02040503050406030204" pitchFamily="18" charset="0"/>
                              </a:rPr>
                              <m:t>𝑐</m:t>
                            </m:r>
                          </m:e>
                        </m:acc>
                      </m:num>
                      <m:den>
                        <m:r>
                          <a:rPr lang="en-US" sz="1100" i="1">
                            <a:latin typeface="Cambria Math" panose="02040503050406030204" pitchFamily="18" charset="0"/>
                          </a:rPr>
                          <m:t>𝑐</m:t>
                        </m:r>
                      </m:den>
                    </m:f>
                    <m:r>
                      <a:rPr lang="en-US" sz="1100">
                        <a:latin typeface="Cambria Math" panose="02040503050406030204" pitchFamily="18" charset="0"/>
                      </a:rPr>
                      <m:t>=</m:t>
                    </m:r>
                    <m:f>
                      <m:fPr>
                        <m:ctrlPr>
                          <a:rPr lang="en-US" sz="1100" i="1">
                            <a:latin typeface="Cambria Math" panose="02040503050406030204" pitchFamily="18" charset="0"/>
                          </a:rPr>
                        </m:ctrlPr>
                      </m:fPr>
                      <m:num>
                        <m:r>
                          <a:rPr lang="en-US" sz="1100">
                            <a:latin typeface="Cambria Math" panose="02040503050406030204" pitchFamily="18" charset="0"/>
                          </a:rPr>
                          <m:t>1</m:t>
                        </m:r>
                      </m:num>
                      <m:den>
                        <m:r>
                          <a:rPr lang="en-US" sz="1100" i="1">
                            <a:latin typeface="Cambria Math" panose="02040503050406030204" pitchFamily="18" charset="0"/>
                          </a:rPr>
                          <m:t>𝜃</m:t>
                        </m:r>
                      </m:den>
                    </m:f>
                    <m:d>
                      <m:dPr>
                        <m:ctrlPr>
                          <a:rPr lang="en-US" sz="1100" i="1">
                            <a:latin typeface="Cambria Math" panose="02040503050406030204" pitchFamily="18" charset="0"/>
                          </a:rPr>
                        </m:ctrlPr>
                      </m:dPr>
                      <m:e>
                        <m:r>
                          <a:rPr lang="en-US" sz="1100" i="1">
                            <a:latin typeface="Cambria Math" panose="02040503050406030204" pitchFamily="18" charset="0"/>
                          </a:rPr>
                          <m:t>𝑟</m:t>
                        </m:r>
                        <m:r>
                          <a:rPr lang="en-US" sz="1100">
                            <a:latin typeface="Cambria Math" panose="02040503050406030204" pitchFamily="18" charset="0"/>
                          </a:rPr>
                          <m:t>−</m:t>
                        </m:r>
                        <m:r>
                          <a:rPr lang="en-US" sz="1100" i="1">
                            <a:latin typeface="Cambria Math" panose="02040503050406030204" pitchFamily="18" charset="0"/>
                          </a:rPr>
                          <m:t>𝜌</m:t>
                        </m:r>
                      </m:e>
                    </m:d>
                  </m:oMath>
                </a14:m>
                <a:endParaRPr lang="en-US" sz="1100" dirty="0">
                  <a:latin typeface="Bahnschrift" panose="020B0502040204020203" pitchFamily="34" charset="0"/>
                </a:endParaRPr>
              </a:p>
              <a:p>
                <a:pPr marL="171450" indent="-171450">
                  <a:buFont typeface="Wingdings" panose="05000000000000000000" pitchFamily="2" charset="2"/>
                  <a:buChar char="§"/>
                </a:pPr>
                <a:r>
                  <a:rPr lang="en-US" sz="1200" dirty="0">
                    <a:latin typeface="Bahnschrift" panose="020B0502040204020203" pitchFamily="34" charset="0"/>
                  </a:rPr>
                  <a:t>Household consumption share: Fell during high-saving phase</a:t>
                </a:r>
              </a:p>
              <a:p>
                <a:pPr marL="171450" indent="-171450">
                  <a:buFont typeface="Wingdings" panose="05000000000000000000" pitchFamily="2" charset="2"/>
                  <a:buChar char="§"/>
                </a:pPr>
                <a:r>
                  <a:rPr lang="en-US" sz="1200" dirty="0">
                    <a:latin typeface="Bahnschrift" panose="020B0502040204020203" pitchFamily="34" charset="0"/>
                  </a:rPr>
                  <a:t>Increased steadily after 1990s</a:t>
                </a:r>
              </a:p>
              <a:p>
                <a:pPr marL="171450" indent="-171450">
                  <a:buFont typeface="Wingdings" panose="05000000000000000000" pitchFamily="2" charset="2"/>
                  <a:buChar char="§"/>
                </a:pPr>
                <a:r>
                  <a:rPr lang="en-US" sz="1200" dirty="0">
                    <a:latin typeface="Bahnschrift" panose="020B0502040204020203" pitchFamily="34" charset="0"/>
                  </a:rPr>
                  <a:t>Rapid rise in: Car ownership and Smartphone penetration (led by Samsung)</a:t>
                </a:r>
              </a:p>
            </p:txBody>
          </p:sp>
        </mc:Choice>
        <mc:Fallback xmlns="">
          <p:sp>
            <p:nvSpPr>
              <p:cNvPr id="19" name="Text 8">
                <a:extLst>
                  <a:ext uri="{FF2B5EF4-FFF2-40B4-BE49-F238E27FC236}">
                    <a16:creationId xmlns:a16="http://schemas.microsoft.com/office/drawing/2014/main" id="{5EFDC992-147B-0CB3-A299-92573BF67F79}"/>
                  </a:ext>
                </a:extLst>
              </p:cNvPr>
              <p:cNvSpPr>
                <a:spLocks noRot="1" noChangeAspect="1" noMove="1" noResize="1" noEditPoints="1" noAdjustHandles="1" noChangeArrowheads="1" noChangeShapeType="1" noTextEdit="1"/>
              </p:cNvSpPr>
              <p:nvPr/>
            </p:nvSpPr>
            <p:spPr>
              <a:xfrm>
                <a:off x="454835" y="3064693"/>
                <a:ext cx="3667957" cy="1403124"/>
              </a:xfrm>
              <a:prstGeom prst="rect">
                <a:avLst/>
              </a:prstGeom>
              <a:blipFill>
                <a:blip r:embed="rId4"/>
                <a:stretch>
                  <a:fillRect l="-2662" t="-3478" b="-2174"/>
                </a:stretch>
              </a:blipFill>
              <a:ln/>
            </p:spPr>
            <p:txBody>
              <a:bodyPr/>
              <a:lstStyle/>
              <a:p>
                <a:r>
                  <a:rPr lang="en-US">
                    <a:noFill/>
                  </a:rPr>
                  <a:t> </a:t>
                </a:r>
              </a:p>
            </p:txBody>
          </p:sp>
        </mc:Fallback>
      </mc:AlternateContent>
      <p:sp>
        <p:nvSpPr>
          <p:cNvPr id="20" name="TextBox 19">
            <a:extLst>
              <a:ext uri="{FF2B5EF4-FFF2-40B4-BE49-F238E27FC236}">
                <a16:creationId xmlns:a16="http://schemas.microsoft.com/office/drawing/2014/main" id="{A121204F-F9E6-748C-7992-281CE5CFEF03}"/>
              </a:ext>
            </a:extLst>
          </p:cNvPr>
          <p:cNvSpPr txBox="1"/>
          <p:nvPr/>
        </p:nvSpPr>
        <p:spPr>
          <a:xfrm>
            <a:off x="-274222" y="2772304"/>
            <a:ext cx="4575516" cy="292388"/>
          </a:xfrm>
          <a:prstGeom prst="rect">
            <a:avLst/>
          </a:prstGeom>
          <a:noFill/>
        </p:spPr>
        <p:txBody>
          <a:bodyPr wrap="square">
            <a:spAutoFit/>
          </a:bodyPr>
          <a:lstStyle/>
          <a:p>
            <a:pPr algn="ctr"/>
            <a:r>
              <a:rPr lang="en-US" sz="1300" b="1" dirty="0">
                <a:solidFill>
                  <a:srgbClr val="FFFFFF"/>
                </a:solidFill>
              </a:rPr>
              <a:t>Inter-Temporal Choices</a:t>
            </a:r>
            <a:endParaRPr lang="en-US" sz="1300" dirty="0"/>
          </a:p>
        </p:txBody>
      </p:sp>
      <p:sp>
        <p:nvSpPr>
          <p:cNvPr id="22" name="Shape 6">
            <a:extLst>
              <a:ext uri="{FF2B5EF4-FFF2-40B4-BE49-F238E27FC236}">
                <a16:creationId xmlns:a16="http://schemas.microsoft.com/office/drawing/2014/main" id="{075627C1-3817-E41B-5DFA-10F78070A257}"/>
              </a:ext>
            </a:extLst>
          </p:cNvPr>
          <p:cNvSpPr/>
          <p:nvPr/>
        </p:nvSpPr>
        <p:spPr>
          <a:xfrm>
            <a:off x="310894" y="2709637"/>
            <a:ext cx="3923858" cy="341205"/>
          </a:xfrm>
          <a:prstGeom prst="rect">
            <a:avLst/>
          </a:prstGeom>
          <a:solidFill>
            <a:srgbClr val="0D7C8F"/>
          </a:solidFill>
          <a:ln w="12700">
            <a:solidFill>
              <a:srgbClr val="0D7C8F"/>
            </a:solidFill>
            <a:prstDash val="solid"/>
          </a:ln>
        </p:spPr>
      </p:sp>
      <p:sp>
        <p:nvSpPr>
          <p:cNvPr id="24" name="TextBox 23">
            <a:extLst>
              <a:ext uri="{FF2B5EF4-FFF2-40B4-BE49-F238E27FC236}">
                <a16:creationId xmlns:a16="http://schemas.microsoft.com/office/drawing/2014/main" id="{D33B4F86-071C-A12C-4221-AFFFC598D5AC}"/>
              </a:ext>
            </a:extLst>
          </p:cNvPr>
          <p:cNvSpPr txBox="1"/>
          <p:nvPr/>
        </p:nvSpPr>
        <p:spPr>
          <a:xfrm>
            <a:off x="-274320" y="2711367"/>
            <a:ext cx="4709160" cy="292388"/>
          </a:xfrm>
          <a:prstGeom prst="rect">
            <a:avLst/>
          </a:prstGeom>
          <a:noFill/>
        </p:spPr>
        <p:txBody>
          <a:bodyPr wrap="square">
            <a:spAutoFit/>
          </a:bodyPr>
          <a:lstStyle/>
          <a:p>
            <a:pPr algn="ctr"/>
            <a:r>
              <a:rPr lang="en-US" sz="1300" b="1" dirty="0">
                <a:solidFill>
                  <a:srgbClr val="FFFFFF"/>
                </a:solidFill>
                <a:latin typeface="Bahnschrift" panose="020B0502040204020203" pitchFamily="34" charset="0"/>
              </a:rPr>
              <a:t>Consumption Dynamics</a:t>
            </a:r>
            <a:endParaRPr lang="en-US" sz="1300" dirty="0">
              <a:latin typeface="Bahnschrift" panose="020B0502040204020203" pitchFamily="34" charset="0"/>
            </a:endParaRPr>
          </a:p>
        </p:txBody>
      </p:sp>
      <p:sp>
        <p:nvSpPr>
          <p:cNvPr id="27" name="Shape 0">
            <a:extLst>
              <a:ext uri="{FF2B5EF4-FFF2-40B4-BE49-F238E27FC236}">
                <a16:creationId xmlns:a16="http://schemas.microsoft.com/office/drawing/2014/main" id="{3D67C515-72AB-7830-CCD9-0A936DCA2221}"/>
              </a:ext>
            </a:extLst>
          </p:cNvPr>
          <p:cNvSpPr/>
          <p:nvPr/>
        </p:nvSpPr>
        <p:spPr>
          <a:xfrm>
            <a:off x="-9142" y="1945410"/>
            <a:ext cx="164592" cy="5143500"/>
          </a:xfrm>
          <a:prstGeom prst="rect">
            <a:avLst/>
          </a:prstGeom>
          <a:solidFill>
            <a:srgbClr val="0D7C8F"/>
          </a:solidFill>
          <a:ln w="12700">
            <a:solidFill>
              <a:srgbClr val="0D7C8F"/>
            </a:solidFill>
            <a:prstDash val="solid"/>
          </a:ln>
        </p:spPr>
      </p:sp>
      <p:sp>
        <p:nvSpPr>
          <p:cNvPr id="28" name="Shape 9">
            <a:extLst>
              <a:ext uri="{FF2B5EF4-FFF2-40B4-BE49-F238E27FC236}">
                <a16:creationId xmlns:a16="http://schemas.microsoft.com/office/drawing/2014/main" id="{43221369-F7A6-9749-F154-55DEA8A04AF7}"/>
              </a:ext>
            </a:extLst>
          </p:cNvPr>
          <p:cNvSpPr/>
          <p:nvPr/>
        </p:nvSpPr>
        <p:spPr>
          <a:xfrm>
            <a:off x="4687264" y="3045566"/>
            <a:ext cx="3923860" cy="1471593"/>
          </a:xfrm>
          <a:prstGeom prst="rect">
            <a:avLst/>
          </a:prstGeom>
          <a:solidFill>
            <a:srgbClr val="FFF8EE"/>
          </a:solidFill>
          <a:ln w="6350">
            <a:solidFill>
              <a:srgbClr val="E0C888"/>
            </a:solidFill>
            <a:prstDash val="solid"/>
          </a:ln>
        </p:spPr>
        <p:txBody>
          <a:bodyPr/>
          <a:lstStyle/>
          <a:p>
            <a:endParaRPr lang="en-US" dirty="0"/>
          </a:p>
        </p:txBody>
      </p:sp>
      <p:sp>
        <p:nvSpPr>
          <p:cNvPr id="29" name="Shape 10">
            <a:extLst>
              <a:ext uri="{FF2B5EF4-FFF2-40B4-BE49-F238E27FC236}">
                <a16:creationId xmlns:a16="http://schemas.microsoft.com/office/drawing/2014/main" id="{13A8AC8A-78C2-FAD0-A2BE-3A4D6C0AB753}"/>
              </a:ext>
            </a:extLst>
          </p:cNvPr>
          <p:cNvSpPr/>
          <p:nvPr/>
        </p:nvSpPr>
        <p:spPr>
          <a:xfrm>
            <a:off x="4696406" y="2704362"/>
            <a:ext cx="3923860" cy="397158"/>
          </a:xfrm>
          <a:prstGeom prst="rect">
            <a:avLst/>
          </a:prstGeom>
          <a:solidFill>
            <a:srgbClr val="C8952A"/>
          </a:solidFill>
          <a:ln w="12700">
            <a:solidFill>
              <a:srgbClr val="C8952A"/>
            </a:solidFill>
            <a:prstDash val="solid"/>
          </a:ln>
        </p:spPr>
      </p:sp>
      <p:sp>
        <p:nvSpPr>
          <p:cNvPr id="30" name="Text 11">
            <a:extLst>
              <a:ext uri="{FF2B5EF4-FFF2-40B4-BE49-F238E27FC236}">
                <a16:creationId xmlns:a16="http://schemas.microsoft.com/office/drawing/2014/main" id="{4B48D2D2-442D-D1CD-7E9F-4F67DE57B1A7}"/>
              </a:ext>
            </a:extLst>
          </p:cNvPr>
          <p:cNvSpPr/>
          <p:nvPr/>
        </p:nvSpPr>
        <p:spPr>
          <a:xfrm>
            <a:off x="4696406" y="2704362"/>
            <a:ext cx="3923860" cy="397158"/>
          </a:xfrm>
          <a:prstGeom prst="rect">
            <a:avLst/>
          </a:prstGeom>
          <a:noFill/>
          <a:ln/>
        </p:spPr>
        <p:txBody>
          <a:bodyPr wrap="square" lIns="0" tIns="0" rIns="0" bIns="0" rtlCol="0" anchor="ctr"/>
          <a:lstStyle/>
          <a:p>
            <a:pPr algn="ctr"/>
            <a:r>
              <a:rPr lang="en-US" sz="1300" b="1" dirty="0">
                <a:solidFill>
                  <a:schemeClr val="bg1"/>
                </a:solidFill>
                <a:latin typeface="Bahnschrift" panose="020B0502040204020203" pitchFamily="34" charset="0"/>
              </a:rPr>
              <a:t>Dynamic Efficiency</a:t>
            </a:r>
          </a:p>
        </p:txBody>
      </p:sp>
      <p:sp>
        <p:nvSpPr>
          <p:cNvPr id="31" name="Text 12">
            <a:extLst>
              <a:ext uri="{FF2B5EF4-FFF2-40B4-BE49-F238E27FC236}">
                <a16:creationId xmlns:a16="http://schemas.microsoft.com/office/drawing/2014/main" id="{0B269360-F6CD-87A1-B00A-20D1362F57B8}"/>
              </a:ext>
            </a:extLst>
          </p:cNvPr>
          <p:cNvSpPr/>
          <p:nvPr/>
        </p:nvSpPr>
        <p:spPr>
          <a:xfrm>
            <a:off x="4833566" y="3244733"/>
            <a:ext cx="3667956" cy="2184371"/>
          </a:xfrm>
          <a:prstGeom prst="rect">
            <a:avLst/>
          </a:prstGeom>
          <a:noFill/>
          <a:ln/>
        </p:spPr>
        <p:txBody>
          <a:bodyPr wrap="square" lIns="0" tIns="0" rIns="0" bIns="0" rtlCol="0" anchor="t"/>
          <a:lstStyle/>
          <a:p>
            <a:pPr marL="342900" indent="-342900">
              <a:buSzPct val="100000"/>
              <a:buChar char="•"/>
            </a:pPr>
            <a:r>
              <a:rPr lang="en-US" sz="1200" b="1" dirty="0"/>
              <a:t>r &gt; n + g</a:t>
            </a:r>
            <a:endParaRPr lang="en-US" sz="1150" dirty="0">
              <a:solidFill>
                <a:srgbClr val="2C3E50"/>
              </a:solidFill>
              <a:latin typeface="Bahnschrift" panose="020B0502040204020203" pitchFamily="34" charset="0"/>
              <a:ea typeface="Calibri" pitchFamily="34" charset="-122"/>
              <a:cs typeface="Calibri" pitchFamily="34" charset="-120"/>
            </a:endParaRPr>
          </a:p>
          <a:p>
            <a:pPr marL="342900" indent="-342900">
              <a:buSzPct val="100000"/>
              <a:buChar char="•"/>
            </a:pPr>
            <a:r>
              <a:rPr lang="en-US" sz="1150" dirty="0">
                <a:solidFill>
                  <a:srgbClr val="2C3E50"/>
                </a:solidFill>
                <a:latin typeface="Bahnschrift" panose="020B0502040204020203" pitchFamily="34" charset="0"/>
                <a:ea typeface="Calibri" pitchFamily="34" charset="-122"/>
                <a:cs typeface="Calibri" pitchFamily="34" charset="-120"/>
              </a:rPr>
              <a:t>Real interest rate historically above growth rate</a:t>
            </a:r>
          </a:p>
          <a:p>
            <a:pPr marL="342900" indent="-342900">
              <a:buSzPct val="100000"/>
              <a:buChar char="•"/>
            </a:pPr>
            <a:r>
              <a:rPr lang="en-US" sz="1150" dirty="0">
                <a:solidFill>
                  <a:srgbClr val="2C3E50"/>
                </a:solidFill>
                <a:latin typeface="Bahnschrift" panose="020B0502040204020203" pitchFamily="34" charset="0"/>
                <a:ea typeface="Calibri" pitchFamily="34" charset="-122"/>
                <a:cs typeface="Calibri" pitchFamily="34" charset="-120"/>
              </a:rPr>
              <a:t>No prolonged periods of over-accumulation</a:t>
            </a:r>
          </a:p>
          <a:p>
            <a:pPr marL="342900" indent="-342900">
              <a:buSzPct val="100000"/>
              <a:buChar char="•"/>
            </a:pPr>
            <a:r>
              <a:rPr lang="en-US" sz="1150" dirty="0">
                <a:solidFill>
                  <a:srgbClr val="2C3E50"/>
                </a:solidFill>
                <a:latin typeface="Bahnschrift" panose="020B0502040204020203" pitchFamily="34" charset="0"/>
                <a:ea typeface="Calibri" pitchFamily="34" charset="-122"/>
                <a:cs typeface="Calibri" pitchFamily="34" charset="-120"/>
              </a:rPr>
              <a:t>Investments focused on: Export sectors, High productivity industries</a:t>
            </a:r>
            <a:endParaRPr lang="en-US" sz="1150" dirty="0">
              <a:latin typeface="Bahnschrift" panose="020B0502040204020203" pitchFamily="34" charset="0"/>
            </a:endParaRPr>
          </a:p>
        </p:txBody>
      </p:sp>
    </p:spTree>
    <p:extLst>
      <p:ext uri="{BB962C8B-B14F-4D97-AF65-F5344CB8AC3E}">
        <p14:creationId xmlns:p14="http://schemas.microsoft.com/office/powerpoint/2010/main" val="25835777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C8F"/>
          </a:solidFill>
          <a:ln w="12700">
            <a:solidFill>
              <a:srgbClr val="0D7C8F"/>
            </a:solidFill>
            <a:prstDash val="solid"/>
          </a:ln>
        </p:spPr>
      </p:sp>
      <p:sp>
        <p:nvSpPr>
          <p:cNvPr id="3" name="Text 1"/>
          <p:cNvSpPr/>
          <p:nvPr/>
        </p:nvSpPr>
        <p:spPr>
          <a:xfrm>
            <a:off x="256032" y="164592"/>
            <a:ext cx="5486400" cy="256032"/>
          </a:xfrm>
          <a:prstGeom prst="rect">
            <a:avLst/>
          </a:prstGeom>
          <a:noFill/>
          <a:ln/>
        </p:spPr>
        <p:txBody>
          <a:bodyPr wrap="square" lIns="0" tIns="0" rIns="0" bIns="0" rtlCol="0" anchor="ctr"/>
          <a:lstStyle/>
          <a:p>
            <a:pPr marL="0" indent="0">
              <a:buNone/>
            </a:pPr>
            <a:r>
              <a:rPr lang="en-US" sz="800" b="1" kern="0" spc="300" dirty="0">
                <a:solidFill>
                  <a:srgbClr val="0D7C8F"/>
                </a:solidFill>
              </a:rPr>
              <a:t>RCK — RESULTS</a:t>
            </a:r>
            <a:endParaRPr lang="en-US" sz="800" dirty="0"/>
          </a:p>
        </p:txBody>
      </p:sp>
      <p:sp>
        <p:nvSpPr>
          <p:cNvPr id="4" name="Text 2"/>
          <p:cNvSpPr/>
          <p:nvPr/>
        </p:nvSpPr>
        <p:spPr>
          <a:xfrm>
            <a:off x="256032" y="502920"/>
            <a:ext cx="8631936" cy="594360"/>
          </a:xfrm>
          <a:prstGeom prst="rect">
            <a:avLst/>
          </a:prstGeom>
          <a:noFill/>
          <a:ln/>
        </p:spPr>
        <p:txBody>
          <a:bodyPr wrap="square" lIns="0" tIns="0" rIns="0" bIns="0" rtlCol="0" anchor="ctr"/>
          <a:lstStyle/>
          <a:p>
            <a:pPr marL="0" indent="0">
              <a:buNone/>
            </a:pPr>
            <a:r>
              <a:rPr lang="en-US" sz="2800" b="1" dirty="0">
                <a:solidFill>
                  <a:srgbClr val="2C3E50"/>
                </a:solidFill>
                <a:latin typeface="Cambria" pitchFamily="34" charset="0"/>
                <a:ea typeface="Cambria" pitchFamily="34" charset="-122"/>
                <a:cs typeface="Cambria" pitchFamily="34" charset="-120"/>
              </a:rPr>
              <a:t>RCK Phase Diagram &amp; Saddle Path</a:t>
            </a:r>
            <a:endParaRPr lang="en-US" sz="2800" dirty="0"/>
          </a:p>
        </p:txBody>
      </p:sp>
      <p:sp>
        <p:nvSpPr>
          <p:cNvPr id="5" name="Shape 3"/>
          <p:cNvSpPr/>
          <p:nvPr/>
        </p:nvSpPr>
        <p:spPr>
          <a:xfrm>
            <a:off x="256032" y="1188720"/>
            <a:ext cx="8631936" cy="0"/>
          </a:xfrm>
          <a:prstGeom prst="line">
            <a:avLst/>
          </a:prstGeom>
          <a:noFill/>
          <a:ln w="19050">
            <a:solidFill>
              <a:srgbClr val="0D7C8F"/>
            </a:solidFill>
            <a:prstDash val="solid"/>
          </a:ln>
        </p:spPr>
      </p:sp>
      <p:pic>
        <p:nvPicPr>
          <p:cNvPr id="6" name="Image 0" descr="/home/claude/plots_extracted/plots/phase_diagram_rck_with_steady_state.png"/>
          <p:cNvPicPr>
            <a:picLocks noChangeAspect="1"/>
          </p:cNvPicPr>
          <p:nvPr/>
        </p:nvPicPr>
        <p:blipFill>
          <a:blip r:embed="rId3"/>
          <a:srcRect/>
          <a:stretch/>
        </p:blipFill>
        <p:spPr>
          <a:xfrm>
            <a:off x="256032" y="1280160"/>
            <a:ext cx="4251960" cy="3017520"/>
          </a:xfrm>
          <a:prstGeom prst="rect">
            <a:avLst/>
          </a:prstGeom>
        </p:spPr>
      </p:pic>
      <p:pic>
        <p:nvPicPr>
          <p:cNvPr id="7" name="Image 1" descr="/home/claude/plots_extracted/plots/rck_saddle_path_line.png"/>
          <p:cNvPicPr>
            <a:picLocks noChangeAspect="1"/>
          </p:cNvPicPr>
          <p:nvPr/>
        </p:nvPicPr>
        <p:blipFill>
          <a:blip r:embed="rId4"/>
          <a:srcRect/>
          <a:stretch/>
        </p:blipFill>
        <p:spPr>
          <a:xfrm>
            <a:off x="4617720" y="1280160"/>
            <a:ext cx="4251960" cy="3017520"/>
          </a:xfrm>
          <a:prstGeom prst="rect">
            <a:avLst/>
          </a:prstGeom>
        </p:spPr>
      </p:pic>
      <p:sp>
        <p:nvSpPr>
          <p:cNvPr id="8" name="Text 4"/>
          <p:cNvSpPr/>
          <p:nvPr/>
        </p:nvSpPr>
        <p:spPr>
          <a:xfrm>
            <a:off x="256032" y="4370832"/>
            <a:ext cx="8631936" cy="502920"/>
          </a:xfrm>
          <a:prstGeom prst="rect">
            <a:avLst/>
          </a:prstGeom>
          <a:noFill/>
          <a:ln/>
        </p:spPr>
        <p:txBody>
          <a:bodyPr wrap="square" lIns="0" tIns="0" rIns="0" bIns="0" rtlCol="0" anchor="ctr"/>
          <a:lstStyle/>
          <a:p>
            <a:pPr marL="0" indent="0">
              <a:buNone/>
            </a:pPr>
            <a:r>
              <a:rPr lang="en-US" sz="1100" i="1" dirty="0">
                <a:solidFill>
                  <a:srgbClr val="5A6A7A"/>
                </a:solidFill>
              </a:rPr>
              <a:t>Left: (k,c) phase plane with ċ=0 and k̇=0 loci; steady-state at their intersection.  Right: saddle path — SK's adjustment trajectory to (k*, c*) reflects rapid capital deepening with consumption rising along the optimal path.</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C8F"/>
          </a:solidFill>
          <a:ln w="12700">
            <a:solidFill>
              <a:srgbClr val="0D7C8F"/>
            </a:solidFill>
            <a:prstDash val="solid"/>
          </a:ln>
        </p:spPr>
      </p:sp>
      <p:sp>
        <p:nvSpPr>
          <p:cNvPr id="3" name="Text 1"/>
          <p:cNvSpPr/>
          <p:nvPr/>
        </p:nvSpPr>
        <p:spPr>
          <a:xfrm>
            <a:off x="256032" y="164592"/>
            <a:ext cx="5486400" cy="256032"/>
          </a:xfrm>
          <a:prstGeom prst="rect">
            <a:avLst/>
          </a:prstGeom>
          <a:noFill/>
          <a:ln/>
        </p:spPr>
        <p:txBody>
          <a:bodyPr wrap="square" lIns="0" tIns="0" rIns="0" bIns="0" rtlCol="0" anchor="ctr"/>
          <a:lstStyle/>
          <a:p>
            <a:pPr marL="0" indent="0">
              <a:buNone/>
            </a:pPr>
            <a:r>
              <a:rPr lang="en-US" sz="800" b="1" kern="0" spc="300" dirty="0">
                <a:solidFill>
                  <a:srgbClr val="0D7C8F"/>
                </a:solidFill>
              </a:rPr>
              <a:t>RCK — RESULTS</a:t>
            </a:r>
            <a:endParaRPr lang="en-US" sz="800" dirty="0"/>
          </a:p>
        </p:txBody>
      </p:sp>
      <p:sp>
        <p:nvSpPr>
          <p:cNvPr id="4" name="Text 2"/>
          <p:cNvSpPr/>
          <p:nvPr/>
        </p:nvSpPr>
        <p:spPr>
          <a:xfrm>
            <a:off x="256032" y="502920"/>
            <a:ext cx="8631936" cy="594360"/>
          </a:xfrm>
          <a:prstGeom prst="rect">
            <a:avLst/>
          </a:prstGeom>
          <a:noFill/>
          <a:ln/>
        </p:spPr>
        <p:txBody>
          <a:bodyPr wrap="square" lIns="0" tIns="0" rIns="0" bIns="0" rtlCol="0" anchor="ctr"/>
          <a:lstStyle/>
          <a:p>
            <a:pPr marL="0" indent="0">
              <a:buNone/>
            </a:pPr>
            <a:r>
              <a:rPr lang="en-US" sz="2800" b="1" dirty="0">
                <a:solidFill>
                  <a:srgbClr val="2C3E50"/>
                </a:solidFill>
                <a:latin typeface="Cambria" pitchFamily="34" charset="0"/>
                <a:ea typeface="Cambria" pitchFamily="34" charset="-122"/>
                <a:cs typeface="Cambria" pitchFamily="34" charset="-120"/>
              </a:rPr>
              <a:t>RCK Time Dynamics &amp; Real vs Simulated Output</a:t>
            </a:r>
            <a:endParaRPr lang="en-US" sz="2800" dirty="0"/>
          </a:p>
        </p:txBody>
      </p:sp>
      <p:sp>
        <p:nvSpPr>
          <p:cNvPr id="5" name="Shape 3"/>
          <p:cNvSpPr/>
          <p:nvPr/>
        </p:nvSpPr>
        <p:spPr>
          <a:xfrm>
            <a:off x="256032" y="1188720"/>
            <a:ext cx="8631936" cy="0"/>
          </a:xfrm>
          <a:prstGeom prst="line">
            <a:avLst/>
          </a:prstGeom>
          <a:noFill/>
          <a:ln w="19050">
            <a:solidFill>
              <a:srgbClr val="0D7C8F"/>
            </a:solidFill>
            <a:prstDash val="solid"/>
          </a:ln>
        </p:spPr>
      </p:sp>
      <p:pic>
        <p:nvPicPr>
          <p:cNvPr id="6" name="Image 0" descr="/home/claude/plots_extracted/plots/rck_time.png"/>
          <p:cNvPicPr>
            <a:picLocks noChangeAspect="1"/>
          </p:cNvPicPr>
          <p:nvPr/>
        </p:nvPicPr>
        <p:blipFill>
          <a:blip r:embed="rId3"/>
          <a:srcRect/>
          <a:stretch/>
        </p:blipFill>
        <p:spPr>
          <a:xfrm>
            <a:off x="256032" y="1280160"/>
            <a:ext cx="4251960" cy="2926080"/>
          </a:xfrm>
          <a:prstGeom prst="rect">
            <a:avLst/>
          </a:prstGeom>
        </p:spPr>
      </p:pic>
      <p:pic>
        <p:nvPicPr>
          <p:cNvPr id="7" name="Image 1" descr="/home/claude/plots_extracted/plots/real_vs_solow_rck.png"/>
          <p:cNvPicPr>
            <a:picLocks noChangeAspect="1"/>
          </p:cNvPicPr>
          <p:nvPr/>
        </p:nvPicPr>
        <p:blipFill>
          <a:blip r:embed="rId4"/>
          <a:srcRect/>
          <a:stretch/>
        </p:blipFill>
        <p:spPr>
          <a:xfrm>
            <a:off x="4617720" y="1280160"/>
            <a:ext cx="4251960" cy="2926080"/>
          </a:xfrm>
          <a:prstGeom prst="rect">
            <a:avLst/>
          </a:prstGeom>
        </p:spPr>
      </p:pic>
      <p:sp>
        <p:nvSpPr>
          <p:cNvPr id="8" name="Shape 4"/>
          <p:cNvSpPr/>
          <p:nvPr/>
        </p:nvSpPr>
        <p:spPr>
          <a:xfrm>
            <a:off x="256032" y="4297680"/>
            <a:ext cx="8631936" cy="548640"/>
          </a:xfrm>
          <a:prstGeom prst="rect">
            <a:avLst/>
          </a:prstGeom>
          <a:solidFill>
            <a:srgbClr val="EDF4F7"/>
          </a:solidFill>
          <a:ln w="6350">
            <a:solidFill>
              <a:srgbClr val="B0CCD8"/>
            </a:solidFill>
            <a:prstDash val="solid"/>
          </a:ln>
        </p:spPr>
      </p:sp>
      <p:sp>
        <p:nvSpPr>
          <p:cNvPr id="9" name="Text 5"/>
          <p:cNvSpPr/>
          <p:nvPr/>
        </p:nvSpPr>
        <p:spPr>
          <a:xfrm>
            <a:off x="411480" y="4325112"/>
            <a:ext cx="8321040" cy="475488"/>
          </a:xfrm>
          <a:prstGeom prst="rect">
            <a:avLst/>
          </a:prstGeom>
          <a:noFill/>
          <a:ln/>
        </p:spPr>
        <p:txBody>
          <a:bodyPr wrap="square" lIns="0" tIns="0" rIns="0" bIns="0" rtlCol="0" anchor="ctr"/>
          <a:lstStyle/>
          <a:p>
            <a:pPr marL="0" indent="0">
              <a:buNone/>
            </a:pPr>
            <a:r>
              <a:rPr lang="en-US" sz="1100" i="1" dirty="0">
                <a:solidFill>
                  <a:srgbClr val="2C3E50"/>
                </a:solidFill>
              </a:rPr>
              <a:t>RCK fits SK output better than the basic Solow post-1990s — the endogenous savings rate captures the declining investment share more naturally. Both models understate the 1965–1990 growth burst, pointing to structural/policy-driven TFP.</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bg>
      <p:bgPr>
        <a:solidFill>
          <a:srgbClr val="1A2B4A"/>
        </a:solidFill>
        <a:effectLst/>
      </p:bgPr>
    </p:bg>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0D7C8F"/>
          </a:solidFill>
          <a:ln w="12700">
            <a:solidFill>
              <a:srgbClr val="0D7C8F"/>
            </a:solidFill>
            <a:prstDash val="solid"/>
          </a:ln>
        </p:spPr>
      </p:sp>
      <p:sp>
        <p:nvSpPr>
          <p:cNvPr id="3" name="Text 1"/>
          <p:cNvSpPr/>
          <p:nvPr/>
        </p:nvSpPr>
        <p:spPr>
          <a:xfrm>
            <a:off x="274320" y="1645920"/>
            <a:ext cx="2377440" cy="1371600"/>
          </a:xfrm>
          <a:prstGeom prst="rect">
            <a:avLst/>
          </a:prstGeom>
          <a:noFill/>
          <a:ln/>
        </p:spPr>
        <p:txBody>
          <a:bodyPr wrap="square" lIns="0" tIns="0" rIns="0" bIns="0" rtlCol="0" anchor="ctr"/>
          <a:lstStyle/>
          <a:p>
            <a:pPr marL="0" indent="0" algn="ctr">
              <a:buNone/>
            </a:pPr>
            <a:r>
              <a:rPr lang="en-US" sz="8000" b="1" dirty="0">
                <a:solidFill>
                  <a:srgbClr val="FFFFFF"/>
                </a:solidFill>
                <a:latin typeface="Cambria" pitchFamily="34" charset="0"/>
                <a:ea typeface="Cambria" pitchFamily="34" charset="-122"/>
                <a:cs typeface="Cambria" pitchFamily="34" charset="-120"/>
              </a:rPr>
              <a:t>03</a:t>
            </a:r>
            <a:endParaRPr lang="en-US" sz="8000" dirty="0"/>
          </a:p>
        </p:txBody>
      </p:sp>
      <p:sp>
        <p:nvSpPr>
          <p:cNvPr id="4" name="Text 2"/>
          <p:cNvSpPr/>
          <p:nvPr/>
        </p:nvSpPr>
        <p:spPr>
          <a:xfrm>
            <a:off x="3200400" y="1554480"/>
            <a:ext cx="5669280" cy="9144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Overlapping Generations Model</a:t>
            </a:r>
            <a:endParaRPr lang="en-US" sz="3200" dirty="0"/>
          </a:p>
        </p:txBody>
      </p:sp>
      <p:sp>
        <p:nvSpPr>
          <p:cNvPr id="5" name="Text 3"/>
          <p:cNvSpPr/>
          <p:nvPr/>
        </p:nvSpPr>
        <p:spPr>
          <a:xfrm>
            <a:off x="3200400" y="2514600"/>
            <a:ext cx="5669280" cy="548640"/>
          </a:xfrm>
          <a:prstGeom prst="rect">
            <a:avLst/>
          </a:prstGeom>
          <a:noFill/>
          <a:ln/>
        </p:spPr>
        <p:txBody>
          <a:bodyPr wrap="square" lIns="0" tIns="0" rIns="0" bIns="0" rtlCol="0" anchor="ctr"/>
          <a:lstStyle/>
          <a:p>
            <a:pPr marL="0" indent="0">
              <a:buNone/>
            </a:pPr>
            <a:r>
              <a:rPr lang="en-US" sz="1400" dirty="0">
                <a:solidFill>
                  <a:srgbClr val="A8C8D8"/>
                </a:solidFill>
              </a:rPr>
              <a:t>Demographic Dynamics &amp; Dynamic Efficiency — South Korea</a:t>
            </a:r>
            <a:endParaRPr lang="en-US" sz="1400" dirty="0"/>
          </a:p>
        </p:txBody>
      </p:sp>
      <p:sp>
        <p:nvSpPr>
          <p:cNvPr id="6" name="Preview 6"/>
          <p:cNvSpPr/>
          <p:nvPr/>
        </p:nvSpPr>
        <p:spPr>
          <a:xfrm>
            <a:off x="3200400" y="3200400"/>
            <a:ext cx="5578080" cy="1371600"/>
          </a:xfrm>
          <a:prstGeom prst="rect">
            <a:avLst/>
          </a:prstGeom>
          <a:noFill/>
          <a:ln/>
        </p:spPr>
        <p:txBody>
          <a:bodyPr wrap="square" lIns="0" tIns="0" rIns="0" bIns="0" rtlCol="0" anchor="t"/>
          <a:lstStyle/>
          <a:p>
            <a:pPr marL="228600" indent="0">
              <a:buChar char="→"/>
            </a:pPr>
            <a:r>
              <a:rPr lang="en-US" sz="1100" dirty="0">
                <a:solidFill>
                  <a:srgbClr val="7EC8D8"/>
                </a:solidFill>
              </a:rPr>
              <a:t>Diamond OLG model: cohorts, wages &amp; savings</a:t>
            </a:r>
          </a:p>
          <a:p>
            <a:pPr marL="228600" indent="0">
              <a:buChar char="→"/>
            </a:pPr>
            <a:r>
              <a:rPr lang="en-US" sz="1100" dirty="0">
                <a:solidFill>
                  <a:srgbClr val="7EC8D8"/>
                </a:solidFill>
              </a:rPr>
              <a:t>Dynamic efficiency: Golden Rule r = n + g</a:t>
            </a:r>
          </a:p>
          <a:p>
            <a:pPr marL="228600" indent="0">
              <a:buChar char="→"/>
            </a:pPr>
            <a:r>
              <a:rPr lang="en-US" sz="1100" dirty="0">
                <a:solidFill>
                  <a:srgbClr val="7EC8D8"/>
                </a:solidFill>
              </a:rPr>
              <a:t>OLG transition function &amp; phase diagram</a:t>
            </a:r>
          </a:p>
          <a:p>
            <a:pPr marL="228600" indent="0">
              <a:buChar char="→"/>
            </a:pPr>
            <a:r>
              <a:rPr lang="en-US" sz="1100" dirty="0">
                <a:solidFill>
                  <a:srgbClr val="7EC8D8"/>
                </a:solidFill>
              </a:rPr>
              <a:t>SK demographic dividend &amp; ageing implications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C8F"/>
          </a:solidFill>
          <a:ln w="12700">
            <a:solidFill>
              <a:srgbClr val="0D7C8F"/>
            </a:solidFill>
            <a:prstDash val="solid"/>
          </a:ln>
        </p:spPr>
      </p:sp>
      <p:sp>
        <p:nvSpPr>
          <p:cNvPr id="3" name="Text 1"/>
          <p:cNvSpPr/>
          <p:nvPr/>
        </p:nvSpPr>
        <p:spPr>
          <a:xfrm>
            <a:off x="256032" y="164592"/>
            <a:ext cx="5486400" cy="256032"/>
          </a:xfrm>
          <a:prstGeom prst="rect">
            <a:avLst/>
          </a:prstGeom>
          <a:noFill/>
          <a:ln/>
        </p:spPr>
        <p:txBody>
          <a:bodyPr wrap="square" lIns="0" tIns="0" rIns="0" bIns="0" rtlCol="0" anchor="ctr"/>
          <a:lstStyle/>
          <a:p>
            <a:pPr marL="0" indent="0">
              <a:buNone/>
            </a:pPr>
            <a:r>
              <a:rPr lang="en-US" sz="800" b="1" kern="0" spc="300" dirty="0">
                <a:solidFill>
                  <a:srgbClr val="0D7C8F"/>
                </a:solidFill>
              </a:rPr>
              <a:t>OLG MODEL — THEORY</a:t>
            </a:r>
            <a:endParaRPr lang="en-US" sz="800" dirty="0"/>
          </a:p>
        </p:txBody>
      </p:sp>
      <p:sp>
        <p:nvSpPr>
          <p:cNvPr id="4" name="Text 2"/>
          <p:cNvSpPr/>
          <p:nvPr/>
        </p:nvSpPr>
        <p:spPr>
          <a:xfrm>
            <a:off x="256032" y="502920"/>
            <a:ext cx="8631936" cy="594360"/>
          </a:xfrm>
          <a:prstGeom prst="rect">
            <a:avLst/>
          </a:prstGeom>
          <a:noFill/>
          <a:ln/>
        </p:spPr>
        <p:txBody>
          <a:bodyPr wrap="square" lIns="0" tIns="0" rIns="0" bIns="0" rtlCol="0" anchor="ctr"/>
          <a:lstStyle/>
          <a:p>
            <a:pPr marL="0" indent="0">
              <a:buNone/>
            </a:pPr>
            <a:r>
              <a:rPr lang="en-US" sz="2800" b="1" dirty="0">
                <a:solidFill>
                  <a:srgbClr val="2C3E50"/>
                </a:solidFill>
                <a:latin typeface="Cambria" pitchFamily="34" charset="0"/>
                <a:ea typeface="Cambria" pitchFamily="34" charset="-122"/>
                <a:cs typeface="Cambria" pitchFamily="34" charset="-120"/>
              </a:rPr>
              <a:t>OLG: Demographics &amp; Capital Dynamics</a:t>
            </a:r>
            <a:endParaRPr lang="en-US" sz="2800" dirty="0"/>
          </a:p>
        </p:txBody>
      </p:sp>
      <p:sp>
        <p:nvSpPr>
          <p:cNvPr id="5" name="Shape 3"/>
          <p:cNvSpPr/>
          <p:nvPr/>
        </p:nvSpPr>
        <p:spPr>
          <a:xfrm>
            <a:off x="256032" y="1188720"/>
            <a:ext cx="8631936" cy="0"/>
          </a:xfrm>
          <a:prstGeom prst="line">
            <a:avLst/>
          </a:prstGeom>
          <a:noFill/>
          <a:ln w="19050">
            <a:solidFill>
              <a:srgbClr val="0D7C8F"/>
            </a:solidFill>
            <a:prstDash val="solid"/>
          </a:ln>
        </p:spPr>
      </p:sp>
      <p:sp>
        <p:nvSpPr>
          <p:cNvPr id="6" name="Text 4"/>
          <p:cNvSpPr/>
          <p:nvPr/>
        </p:nvSpPr>
        <p:spPr>
          <a:xfrm>
            <a:off x="256032" y="1325880"/>
            <a:ext cx="8631936" cy="868680"/>
          </a:xfrm>
          <a:prstGeom prst="rect">
            <a:avLst/>
          </a:prstGeom>
          <a:noFill/>
          <a:ln/>
        </p:spPr>
        <p:txBody>
          <a:bodyPr wrap="square" lIns="0" tIns="0" rIns="0" bIns="0" rtlCol="0" anchor="ctr"/>
          <a:lstStyle/>
          <a:p>
            <a:pPr marL="0" indent="0">
              <a:buNone/>
            </a:pPr>
            <a:r>
              <a:rPr lang="en-US" sz="1300" dirty="0">
                <a:solidFill>
                  <a:srgbClr val="5A6A7A"/>
                </a:solidFill>
              </a:rPr>
              <a:t>The Diamond (1965) OLG model replaces the representative household with two-period lived cohorts — the young save, the old dissave. This creates a rich structure to analyse demographic transitions, pension systems, and dynamic efficiency.</a:t>
            </a:r>
            <a:endParaRPr lang="en-US" sz="1300" dirty="0"/>
          </a:p>
        </p:txBody>
      </p:sp>
      <p:sp>
        <p:nvSpPr>
          <p:cNvPr id="7" name="Shape 5"/>
          <p:cNvSpPr/>
          <p:nvPr/>
        </p:nvSpPr>
        <p:spPr>
          <a:xfrm>
            <a:off x="256032" y="2286000"/>
            <a:ext cx="2834640" cy="2606040"/>
          </a:xfrm>
          <a:prstGeom prst="rect">
            <a:avLst/>
          </a:prstGeom>
          <a:solidFill>
            <a:srgbClr val="EDF4F7"/>
          </a:solidFill>
          <a:ln w="6350">
            <a:solidFill>
              <a:srgbClr val="B0CCD8"/>
            </a:solidFill>
            <a:prstDash val="solid"/>
          </a:ln>
        </p:spPr>
      </p:sp>
      <p:sp>
        <p:nvSpPr>
          <p:cNvPr id="8" name="Shape 6"/>
          <p:cNvSpPr/>
          <p:nvPr/>
        </p:nvSpPr>
        <p:spPr>
          <a:xfrm>
            <a:off x="256032" y="2286000"/>
            <a:ext cx="2834640" cy="365760"/>
          </a:xfrm>
          <a:prstGeom prst="rect">
            <a:avLst/>
          </a:prstGeom>
          <a:solidFill>
            <a:srgbClr val="0D7C8F"/>
          </a:solidFill>
          <a:ln w="12700">
            <a:solidFill>
              <a:srgbClr val="0D7C8F"/>
            </a:solidFill>
            <a:prstDash val="solid"/>
          </a:ln>
        </p:spPr>
      </p:sp>
      <p:sp>
        <p:nvSpPr>
          <p:cNvPr id="9" name="Text 7"/>
          <p:cNvSpPr/>
          <p:nvPr/>
        </p:nvSpPr>
        <p:spPr>
          <a:xfrm>
            <a:off x="256032" y="2286000"/>
            <a:ext cx="2834640" cy="365760"/>
          </a:xfrm>
          <a:prstGeom prst="rect">
            <a:avLst/>
          </a:prstGeom>
          <a:noFill/>
          <a:ln/>
        </p:spPr>
        <p:txBody>
          <a:bodyPr wrap="square" lIns="0" tIns="0" rIns="0" bIns="0" rtlCol="0" anchor="ctr"/>
          <a:lstStyle/>
          <a:p>
            <a:pPr marL="0" indent="0" algn="ctr">
              <a:buNone/>
            </a:pPr>
            <a:r>
              <a:rPr lang="en-US" sz="1150" b="1" dirty="0">
                <a:solidFill>
                  <a:srgbClr val="FFFFFF"/>
                </a:solidFill>
              </a:rPr>
              <a:t>Key Mechanics</a:t>
            </a:r>
            <a:endParaRPr lang="en-US" sz="1150" dirty="0"/>
          </a:p>
        </p:txBody>
      </p:sp>
      <p:sp>
        <p:nvSpPr>
          <p:cNvPr id="10" name="Text 8"/>
          <p:cNvSpPr/>
          <p:nvPr/>
        </p:nvSpPr>
        <p:spPr>
          <a:xfrm>
            <a:off x="365760" y="2697480"/>
            <a:ext cx="2615184" cy="2103120"/>
          </a:xfrm>
          <a:prstGeom prst="rect">
            <a:avLst/>
          </a:prstGeom>
          <a:noFill/>
          <a:ln/>
        </p:spPr>
        <p:txBody>
          <a:bodyPr wrap="square" lIns="0" tIns="0" rIns="0" bIns="0" rtlCol="0" anchor="t"/>
          <a:lstStyle/>
          <a:p>
            <a:pPr marL="342900" indent="-342900">
              <a:buSzPct val="100000"/>
              <a:buChar char="•"/>
            </a:pPr>
            <a:r>
              <a:rPr lang="en-US" sz="1050" dirty="0">
                <a:solidFill>
                  <a:srgbClr val="2C3E50"/>
                </a:solidFill>
                <a:latin typeface="Consolas" pitchFamily="34" charset="0"/>
                <a:ea typeface="Consolas" pitchFamily="34" charset="-122"/>
                <a:cs typeface="Consolas" pitchFamily="34" charset="-120"/>
              </a:rPr>
              <a:t>k(t+1) = s(w(t)) / (1+n)        [Capital transition]</a:t>
            </a:r>
            <a:endParaRPr lang="en-US" sz="1050" dirty="0"/>
          </a:p>
          <a:p>
            <a:pPr marL="342900" indent="-342900">
              <a:buSzPct val="100000"/>
              <a:buChar char="•"/>
            </a:pPr>
            <a:r>
              <a:rPr lang="en-US" sz="1050" dirty="0">
                <a:solidFill>
                  <a:srgbClr val="2C3E50"/>
                </a:solidFill>
                <a:latin typeface="Consolas" pitchFamily="34" charset="0"/>
                <a:ea typeface="Consolas" pitchFamily="34" charset="-122"/>
                <a:cs typeface="Consolas" pitchFamily="34" charset="-120"/>
              </a:rPr>
              <a:t>w = f(k) − k·f′(k)               [Wage = young income]</a:t>
            </a:r>
            <a:endParaRPr lang="en-US" sz="1050" dirty="0"/>
          </a:p>
          <a:p>
            <a:pPr marL="342900" indent="-342900">
              <a:buSzPct val="100000"/>
              <a:buChar char="•"/>
            </a:pPr>
            <a:r>
              <a:rPr lang="en-US" sz="1050" dirty="0">
                <a:solidFill>
                  <a:srgbClr val="2C3E50"/>
                </a:solidFill>
                <a:latin typeface="Consolas" pitchFamily="34" charset="0"/>
                <a:ea typeface="Consolas" pitchFamily="34" charset="-122"/>
                <a:cs typeface="Consolas" pitchFamily="34" charset="-120"/>
              </a:rPr>
              <a:t>r = f′(k)                            [Return on capital]</a:t>
            </a:r>
            <a:endParaRPr lang="en-US" sz="1050" dirty="0"/>
          </a:p>
          <a:p>
            <a:pPr marL="342900" indent="-342900">
              <a:buSzPct val="100000"/>
              <a:buChar char="•"/>
            </a:pPr>
            <a:r>
              <a:rPr lang="en-US" sz="1050" dirty="0">
                <a:solidFill>
                  <a:srgbClr val="2C3E50"/>
                </a:solidFill>
                <a:latin typeface="Consolas" pitchFamily="34" charset="0"/>
                <a:ea typeface="Consolas" pitchFamily="34" charset="-122"/>
                <a:cs typeface="Consolas" pitchFamily="34" charset="-120"/>
              </a:rPr>
              <a:t>Steady state: k(t+1) = k(t)</a:t>
            </a:r>
            <a:endParaRPr lang="en-US" sz="1050" dirty="0"/>
          </a:p>
        </p:txBody>
      </p:sp>
      <p:sp>
        <p:nvSpPr>
          <p:cNvPr id="11" name="Shape 9"/>
          <p:cNvSpPr/>
          <p:nvPr/>
        </p:nvSpPr>
        <p:spPr>
          <a:xfrm>
            <a:off x="3218688" y="2286000"/>
            <a:ext cx="2834640" cy="2606040"/>
          </a:xfrm>
          <a:prstGeom prst="rect">
            <a:avLst/>
          </a:prstGeom>
          <a:solidFill>
            <a:srgbClr val="FEF0EE"/>
          </a:solidFill>
          <a:ln w="6350">
            <a:solidFill>
              <a:srgbClr val="F0C0B8"/>
            </a:solidFill>
            <a:prstDash val="solid"/>
          </a:ln>
        </p:spPr>
      </p:sp>
      <p:sp>
        <p:nvSpPr>
          <p:cNvPr id="12" name="Shape 10"/>
          <p:cNvSpPr/>
          <p:nvPr/>
        </p:nvSpPr>
        <p:spPr>
          <a:xfrm>
            <a:off x="3218688" y="2286000"/>
            <a:ext cx="2834640" cy="365760"/>
          </a:xfrm>
          <a:prstGeom prst="rect">
            <a:avLst/>
          </a:prstGeom>
          <a:solidFill>
            <a:srgbClr val="C0392B"/>
          </a:solidFill>
          <a:ln w="12700">
            <a:solidFill>
              <a:srgbClr val="C0392B"/>
            </a:solidFill>
            <a:prstDash val="solid"/>
          </a:ln>
        </p:spPr>
      </p:sp>
      <p:sp>
        <p:nvSpPr>
          <p:cNvPr id="13" name="Text 11"/>
          <p:cNvSpPr/>
          <p:nvPr/>
        </p:nvSpPr>
        <p:spPr>
          <a:xfrm>
            <a:off x="3218688" y="2286000"/>
            <a:ext cx="2834640" cy="365760"/>
          </a:xfrm>
          <a:prstGeom prst="rect">
            <a:avLst/>
          </a:prstGeom>
          <a:noFill/>
          <a:ln/>
        </p:spPr>
        <p:txBody>
          <a:bodyPr wrap="square" lIns="0" tIns="0" rIns="0" bIns="0" rtlCol="0" anchor="ctr"/>
          <a:lstStyle/>
          <a:p>
            <a:pPr marL="0" indent="0" algn="ctr">
              <a:buNone/>
            </a:pPr>
            <a:r>
              <a:rPr lang="en-US" sz="1150" b="1" dirty="0">
                <a:solidFill>
                  <a:srgbClr val="FFFFFF"/>
                </a:solidFill>
              </a:rPr>
              <a:t>Dynamic Efficiency (Golden Rule)</a:t>
            </a:r>
            <a:endParaRPr lang="en-US" sz="1150" dirty="0"/>
          </a:p>
        </p:txBody>
      </p:sp>
      <p:sp>
        <p:nvSpPr>
          <p:cNvPr id="14" name="Text 12"/>
          <p:cNvSpPr/>
          <p:nvPr/>
        </p:nvSpPr>
        <p:spPr>
          <a:xfrm>
            <a:off x="3328416" y="2697480"/>
            <a:ext cx="2615184" cy="2103120"/>
          </a:xfrm>
          <a:prstGeom prst="rect">
            <a:avLst/>
          </a:prstGeom>
          <a:noFill/>
          <a:ln/>
        </p:spPr>
        <p:txBody>
          <a:bodyPr wrap="square" lIns="0" tIns="0" rIns="0" bIns="0" rtlCol="0" anchor="t"/>
          <a:lstStyle/>
          <a:p>
            <a:pPr marL="342900" indent="-342900">
              <a:buSzPct val="100000"/>
              <a:buChar char="•"/>
            </a:pPr>
            <a:r>
              <a:rPr lang="en-US" sz="1050" dirty="0">
                <a:solidFill>
                  <a:srgbClr val="2C3E50"/>
                </a:solidFill>
                <a:latin typeface="Calibri" pitchFamily="34" charset="0"/>
                <a:ea typeface="Calibri" pitchFamily="34" charset="-122"/>
                <a:cs typeface="Calibri" pitchFamily="34" charset="-120"/>
              </a:rPr>
              <a:t>Golden Rule: r* = n + g</a:t>
            </a:r>
            <a:endParaRPr lang="en-US" sz="1050" dirty="0"/>
          </a:p>
          <a:p>
            <a:pPr marL="342900" indent="-342900">
              <a:buSzPct val="100000"/>
              <a:buChar char="•"/>
            </a:pPr>
            <a:r>
              <a:rPr lang="en-US" sz="1050" dirty="0">
                <a:solidFill>
                  <a:srgbClr val="2C3E50"/>
                </a:solidFill>
                <a:latin typeface="Calibri" pitchFamily="34" charset="0"/>
                <a:ea typeface="Calibri" pitchFamily="34" charset="-122"/>
                <a:cs typeface="Calibri" pitchFamily="34" charset="-120"/>
              </a:rPr>
              <a:t>r &gt; n+g → dynamically efficient</a:t>
            </a:r>
            <a:endParaRPr lang="en-US" sz="1050" dirty="0"/>
          </a:p>
          <a:p>
            <a:pPr marL="342900" indent="-342900">
              <a:buSzPct val="100000"/>
              <a:buChar char="•"/>
            </a:pPr>
            <a:r>
              <a:rPr lang="en-US" sz="1050" dirty="0">
                <a:solidFill>
                  <a:srgbClr val="2C3E50"/>
                </a:solidFill>
                <a:latin typeface="Calibri" pitchFamily="34" charset="0"/>
                <a:ea typeface="Calibri" pitchFamily="34" charset="-122"/>
                <a:cs typeface="Calibri" pitchFamily="34" charset="-120"/>
              </a:rPr>
              <a:t>r &lt; n+g → over-accumulation (inefficient)</a:t>
            </a:r>
            <a:endParaRPr lang="en-US" sz="1050" dirty="0"/>
          </a:p>
          <a:p>
            <a:pPr marL="342900" indent="-342900">
              <a:buSzPct val="100000"/>
              <a:buChar char="•"/>
            </a:pPr>
            <a:r>
              <a:rPr lang="en-US" sz="1050" dirty="0">
                <a:solidFill>
                  <a:srgbClr val="2C3E50"/>
                </a:solidFill>
                <a:latin typeface="Calibri" pitchFamily="34" charset="0"/>
                <a:ea typeface="Calibri" pitchFamily="34" charset="-122"/>
                <a:cs typeface="Calibri" pitchFamily="34" charset="-120"/>
              </a:rPr>
              <a:t>Government can improve welfare by reducing k</a:t>
            </a:r>
            <a:endParaRPr lang="en-US" sz="1050" dirty="0"/>
          </a:p>
        </p:txBody>
      </p:sp>
      <p:sp>
        <p:nvSpPr>
          <p:cNvPr id="15" name="Shape 13"/>
          <p:cNvSpPr/>
          <p:nvPr/>
        </p:nvSpPr>
        <p:spPr>
          <a:xfrm>
            <a:off x="6181344" y="2286000"/>
            <a:ext cx="2834640" cy="2606040"/>
          </a:xfrm>
          <a:prstGeom prst="rect">
            <a:avLst/>
          </a:prstGeom>
          <a:solidFill>
            <a:srgbClr val="FFF8EE"/>
          </a:solidFill>
          <a:ln w="6350">
            <a:solidFill>
              <a:srgbClr val="E0C888"/>
            </a:solidFill>
            <a:prstDash val="solid"/>
          </a:ln>
        </p:spPr>
      </p:sp>
      <p:sp>
        <p:nvSpPr>
          <p:cNvPr id="16" name="Shape 14"/>
          <p:cNvSpPr/>
          <p:nvPr/>
        </p:nvSpPr>
        <p:spPr>
          <a:xfrm>
            <a:off x="6181344" y="2286000"/>
            <a:ext cx="2834640" cy="365760"/>
          </a:xfrm>
          <a:prstGeom prst="rect">
            <a:avLst/>
          </a:prstGeom>
          <a:solidFill>
            <a:srgbClr val="C8952A"/>
          </a:solidFill>
          <a:ln w="12700">
            <a:solidFill>
              <a:srgbClr val="C8952A"/>
            </a:solidFill>
            <a:prstDash val="solid"/>
          </a:ln>
        </p:spPr>
      </p:sp>
      <p:sp>
        <p:nvSpPr>
          <p:cNvPr id="17" name="Text 15"/>
          <p:cNvSpPr/>
          <p:nvPr/>
        </p:nvSpPr>
        <p:spPr>
          <a:xfrm>
            <a:off x="6181344" y="2286000"/>
            <a:ext cx="2834640" cy="365760"/>
          </a:xfrm>
          <a:prstGeom prst="rect">
            <a:avLst/>
          </a:prstGeom>
          <a:noFill/>
          <a:ln/>
        </p:spPr>
        <p:txBody>
          <a:bodyPr wrap="square" lIns="0" tIns="0" rIns="0" bIns="0" rtlCol="0" anchor="ctr"/>
          <a:lstStyle/>
          <a:p>
            <a:pPr marL="0" indent="0" algn="ctr">
              <a:buNone/>
            </a:pPr>
            <a:r>
              <a:rPr lang="en-US" sz="1150" b="1" dirty="0">
                <a:solidFill>
                  <a:srgbClr val="FFFFFF"/>
                </a:solidFill>
              </a:rPr>
              <a:t>South Korea OLG Lens</a:t>
            </a:r>
            <a:endParaRPr lang="en-US" sz="1150" dirty="0"/>
          </a:p>
        </p:txBody>
      </p:sp>
      <p:sp>
        <p:nvSpPr>
          <p:cNvPr id="18" name="Text 16"/>
          <p:cNvSpPr/>
          <p:nvPr/>
        </p:nvSpPr>
        <p:spPr>
          <a:xfrm>
            <a:off x="6291072" y="2697480"/>
            <a:ext cx="2615184" cy="2103120"/>
          </a:xfrm>
          <a:prstGeom prst="rect">
            <a:avLst/>
          </a:prstGeom>
          <a:noFill/>
          <a:ln/>
        </p:spPr>
        <p:txBody>
          <a:bodyPr wrap="square" lIns="0" tIns="0" rIns="0" bIns="0" rtlCol="0" anchor="t"/>
          <a:lstStyle/>
          <a:p>
            <a:pPr marL="342900" indent="-342900">
              <a:buSzPct val="100000"/>
              <a:buChar char="•"/>
            </a:pPr>
            <a:r>
              <a:rPr lang="en-US" sz="1050" dirty="0">
                <a:solidFill>
                  <a:srgbClr val="2C3E50"/>
                </a:solidFill>
                <a:latin typeface="Calibri" pitchFamily="34" charset="0"/>
                <a:ea typeface="Calibri" pitchFamily="34" charset="-122"/>
                <a:cs typeface="Calibri" pitchFamily="34" charset="-120"/>
              </a:rPr>
              <a:t>Demographic dividend: high n in 1960s–80s</a:t>
            </a:r>
            <a:endParaRPr lang="en-US" sz="1050" dirty="0"/>
          </a:p>
          <a:p>
            <a:pPr marL="342900" indent="-342900">
              <a:buSzPct val="100000"/>
              <a:buChar char="•"/>
            </a:pPr>
            <a:r>
              <a:rPr lang="en-US" sz="1050" dirty="0">
                <a:solidFill>
                  <a:srgbClr val="2C3E50"/>
                </a:solidFill>
                <a:latin typeface="Calibri" pitchFamily="34" charset="0"/>
                <a:ea typeface="Calibri" pitchFamily="34" charset="-122"/>
                <a:cs typeface="Calibri" pitchFamily="34" charset="-120"/>
              </a:rPr>
              <a:t>Rapid ageing post-1990s shifts saving behaviour</a:t>
            </a:r>
            <a:endParaRPr lang="en-US" sz="1050" dirty="0"/>
          </a:p>
          <a:p>
            <a:pPr marL="342900" indent="-342900">
              <a:buSzPct val="100000"/>
              <a:buChar char="•"/>
            </a:pPr>
            <a:r>
              <a:rPr lang="en-US" sz="1050" dirty="0">
                <a:solidFill>
                  <a:srgbClr val="2C3E50"/>
                </a:solidFill>
                <a:latin typeface="Calibri" pitchFamily="34" charset="0"/>
                <a:ea typeface="Calibri" pitchFamily="34" charset="-122"/>
                <a:cs typeface="Calibri" pitchFamily="34" charset="-120"/>
              </a:rPr>
              <a:t>k(t+1) = [(1−δ)k + i] / (1+n) used for transition.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C8F"/>
          </a:solidFill>
          <a:ln w="12700">
            <a:solidFill>
              <a:srgbClr val="0D7C8F"/>
            </a:solidFill>
            <a:prstDash val="solid"/>
          </a:ln>
        </p:spPr>
      </p:sp>
      <p:sp>
        <p:nvSpPr>
          <p:cNvPr id="3" name="Text 1"/>
          <p:cNvSpPr/>
          <p:nvPr/>
        </p:nvSpPr>
        <p:spPr>
          <a:xfrm>
            <a:off x="256032" y="164592"/>
            <a:ext cx="5486400" cy="256032"/>
          </a:xfrm>
          <a:prstGeom prst="rect">
            <a:avLst/>
          </a:prstGeom>
          <a:noFill/>
          <a:ln/>
        </p:spPr>
        <p:txBody>
          <a:bodyPr wrap="square" lIns="0" tIns="0" rIns="0" bIns="0" rtlCol="0" anchor="ctr"/>
          <a:lstStyle/>
          <a:p>
            <a:pPr marL="0" indent="0">
              <a:buNone/>
            </a:pPr>
            <a:r>
              <a:rPr lang="en-US" sz="800" b="1" kern="0" spc="300" dirty="0">
                <a:solidFill>
                  <a:srgbClr val="0D7C8F"/>
                </a:solidFill>
              </a:rPr>
              <a:t>OLG — RESULTS</a:t>
            </a:r>
            <a:endParaRPr lang="en-US" sz="800" dirty="0"/>
          </a:p>
        </p:txBody>
      </p:sp>
      <p:sp>
        <p:nvSpPr>
          <p:cNvPr id="4" name="Text 2"/>
          <p:cNvSpPr/>
          <p:nvPr/>
        </p:nvSpPr>
        <p:spPr>
          <a:xfrm>
            <a:off x="256032" y="361187"/>
            <a:ext cx="8631936" cy="594360"/>
          </a:xfrm>
          <a:prstGeom prst="rect">
            <a:avLst/>
          </a:prstGeom>
          <a:noFill/>
          <a:ln/>
        </p:spPr>
        <p:txBody>
          <a:bodyPr wrap="square" lIns="0" tIns="0" rIns="0" bIns="0" rtlCol="0" anchor="ctr"/>
          <a:lstStyle/>
          <a:p>
            <a:pPr marL="0" indent="0">
              <a:buNone/>
            </a:pPr>
            <a:r>
              <a:rPr lang="en-US" sz="2800" b="1" dirty="0">
                <a:solidFill>
                  <a:srgbClr val="2C3E50"/>
                </a:solidFill>
                <a:latin typeface="Cambria" pitchFamily="34" charset="0"/>
                <a:ea typeface="Cambria" pitchFamily="34" charset="-122"/>
                <a:cs typeface="Cambria" pitchFamily="34" charset="-120"/>
              </a:rPr>
              <a:t>OLG Phase Diagram</a:t>
            </a:r>
            <a:endParaRPr lang="en-US" sz="2800" dirty="0"/>
          </a:p>
        </p:txBody>
      </p:sp>
      <p:sp>
        <p:nvSpPr>
          <p:cNvPr id="5" name="Shape 3"/>
          <p:cNvSpPr/>
          <p:nvPr/>
        </p:nvSpPr>
        <p:spPr>
          <a:xfrm>
            <a:off x="256032" y="960360"/>
            <a:ext cx="8631936" cy="0"/>
          </a:xfrm>
          <a:prstGeom prst="line">
            <a:avLst/>
          </a:prstGeom>
          <a:noFill/>
          <a:ln w="19050">
            <a:solidFill>
              <a:srgbClr val="0D7C8F"/>
            </a:solidFill>
            <a:prstDash val="solid"/>
          </a:ln>
        </p:spPr>
      </p:sp>
      <p:pic>
        <p:nvPicPr>
          <p:cNvPr id="7" name="Image 1" descr="/home/claude/plots_extracted/plots/phasediagram_olg.png"/>
          <p:cNvPicPr>
            <a:picLocks noChangeAspect="1"/>
          </p:cNvPicPr>
          <p:nvPr/>
        </p:nvPicPr>
        <p:blipFill>
          <a:blip r:embed="rId3"/>
          <a:srcRect/>
          <a:stretch/>
        </p:blipFill>
        <p:spPr>
          <a:xfrm>
            <a:off x="256031" y="1062990"/>
            <a:ext cx="4687670" cy="2768104"/>
          </a:xfrm>
          <a:prstGeom prst="rect">
            <a:avLst/>
          </a:prstGeom>
        </p:spPr>
      </p:pic>
      <p:sp>
        <p:nvSpPr>
          <p:cNvPr id="8" name="Shape 4"/>
          <p:cNvSpPr/>
          <p:nvPr/>
        </p:nvSpPr>
        <p:spPr>
          <a:xfrm>
            <a:off x="256032" y="4029368"/>
            <a:ext cx="8631936" cy="844384"/>
          </a:xfrm>
          <a:prstGeom prst="rect">
            <a:avLst/>
          </a:prstGeom>
          <a:solidFill>
            <a:srgbClr val="EDF4F7"/>
          </a:solidFill>
          <a:ln w="6350">
            <a:solidFill>
              <a:srgbClr val="B0CCD8"/>
            </a:solidFill>
            <a:prstDash val="solid"/>
          </a:ln>
        </p:spPr>
      </p:sp>
      <p:sp>
        <p:nvSpPr>
          <p:cNvPr id="9" name="Text 5"/>
          <p:cNvSpPr/>
          <p:nvPr/>
        </p:nvSpPr>
        <p:spPr>
          <a:xfrm>
            <a:off x="411480" y="3933723"/>
            <a:ext cx="8321040" cy="1032913"/>
          </a:xfrm>
          <a:prstGeom prst="rect">
            <a:avLst/>
          </a:prstGeom>
          <a:noFill/>
          <a:ln/>
        </p:spPr>
        <p:txBody>
          <a:bodyPr wrap="square" lIns="0" tIns="0" rIns="0" bIns="0" rtlCol="0" anchor="ctr"/>
          <a:lstStyle/>
          <a:p>
            <a:r>
              <a:rPr lang="en-US" sz="1200" b="1" dirty="0"/>
              <a:t>Empirical Confirmation of the OLG Model:</a:t>
            </a:r>
            <a:r>
              <a:rPr lang="en-US" sz="1200" dirty="0"/>
              <a:t> High savings rates and a demographic dividend pushed South Korea's transition curve above the 45° line for decades, driving the "Miracle on the Han River." The recent convergence at the top right confirms that South Korea has officially reached its macroeconomic steady state, marking the end of its hyper-growth catching-up phase.</a:t>
            </a:r>
          </a:p>
        </p:txBody>
      </p:sp>
      <p:grpSp>
        <p:nvGrpSpPr>
          <p:cNvPr id="10" name="Group 9"/>
          <p:cNvGrpSpPr/>
          <p:nvPr/>
        </p:nvGrpSpPr>
        <p:grpSpPr>
          <a:xfrm>
            <a:off x="5053263" y="1158636"/>
            <a:ext cx="3834705" cy="2672459"/>
            <a:chOff x="6400800" y="1380849"/>
            <a:chExt cx="2560320" cy="1774182"/>
          </a:xfrm>
        </p:grpSpPr>
        <p:sp>
          <p:nvSpPr>
            <p:cNvPr id="11" name="Shape 4"/>
            <p:cNvSpPr/>
            <p:nvPr/>
          </p:nvSpPr>
          <p:spPr>
            <a:xfrm>
              <a:off x="6400800" y="1380849"/>
              <a:ext cx="2560320" cy="1774181"/>
            </a:xfrm>
            <a:prstGeom prst="rect">
              <a:avLst/>
            </a:prstGeom>
            <a:solidFill>
              <a:srgbClr val="F5F1E8"/>
            </a:solidFill>
            <a:ln w="6350">
              <a:solidFill>
                <a:srgbClr val="D4C8A0"/>
              </a:solidFill>
              <a:prstDash val="solid"/>
            </a:ln>
          </p:spPr>
        </p:sp>
        <p:sp>
          <p:nvSpPr>
            <p:cNvPr id="12" name="Shape 5"/>
            <p:cNvSpPr/>
            <p:nvPr/>
          </p:nvSpPr>
          <p:spPr>
            <a:xfrm>
              <a:off x="6400800" y="1405259"/>
              <a:ext cx="2560320" cy="341741"/>
            </a:xfrm>
            <a:prstGeom prst="rect">
              <a:avLst/>
            </a:prstGeom>
            <a:solidFill>
              <a:srgbClr val="0D7C8F"/>
            </a:solidFill>
            <a:ln w="12700">
              <a:solidFill>
                <a:srgbClr val="0D7C8F"/>
              </a:solidFill>
              <a:prstDash val="solid"/>
            </a:ln>
          </p:spPr>
        </p:sp>
        <p:sp>
          <p:nvSpPr>
            <p:cNvPr id="13" name="Text 6"/>
            <p:cNvSpPr/>
            <p:nvPr/>
          </p:nvSpPr>
          <p:spPr>
            <a:xfrm>
              <a:off x="6400800" y="1380849"/>
              <a:ext cx="2560320" cy="341741"/>
            </a:xfrm>
            <a:prstGeom prst="rect">
              <a:avLst/>
            </a:prstGeom>
            <a:noFill/>
            <a:ln/>
          </p:spPr>
          <p:txBody>
            <a:bodyPr wrap="square" lIns="0" tIns="0" rIns="0" bIns="0" rtlCol="0" anchor="ctr"/>
            <a:lstStyle/>
            <a:p>
              <a:pPr marL="0" indent="0" algn="ctr">
                <a:buNone/>
              </a:pPr>
              <a:r>
                <a:rPr lang="en-US" sz="1200" b="1" dirty="0">
                  <a:solidFill>
                    <a:srgbClr val="FFFFFF"/>
                  </a:solidFill>
                </a:rPr>
                <a:t>Reading the Chart</a:t>
              </a:r>
              <a:endParaRPr lang="en-US" sz="1200" dirty="0"/>
            </a:p>
          </p:txBody>
        </p:sp>
        <p:sp>
          <p:nvSpPr>
            <p:cNvPr id="14" name="Text 7"/>
            <p:cNvSpPr/>
            <p:nvPr/>
          </p:nvSpPr>
          <p:spPr>
            <a:xfrm>
              <a:off x="6510528" y="1771411"/>
              <a:ext cx="2377440" cy="138362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200" dirty="0"/>
                <a:t>Blue Line: OLG Transition Curve (Next generation's capital)</a:t>
              </a:r>
            </a:p>
            <a:p>
              <a:pPr marL="171450" indent="-171450">
                <a:buFont typeface="Arial" panose="020B0604020202020204" pitchFamily="34" charset="0"/>
                <a:buChar char="•"/>
              </a:pPr>
              <a:r>
                <a:rPr lang="en-US" sz="1200" dirty="0"/>
                <a:t>Red Line: 45° Reference Line (Steady state benchmark)</a:t>
              </a:r>
            </a:p>
            <a:p>
              <a:pPr marL="171450" indent="-171450">
                <a:buFont typeface="Arial" panose="020B0604020202020204" pitchFamily="34" charset="0"/>
                <a:buChar char="•"/>
              </a:pPr>
              <a:r>
                <a:rPr lang="en-US" sz="1200" dirty="0"/>
                <a:t>The Golden Era: Blue &gt; Red indicates rapid capital accumulation. Each generation saved enough to equip the next with even more capital.</a:t>
              </a:r>
            </a:p>
            <a:p>
              <a:pPr marL="171450" indent="-171450">
                <a:buFont typeface="Arial" panose="020B0604020202020204" pitchFamily="34" charset="0"/>
                <a:buChar char="•"/>
              </a:pPr>
              <a:r>
                <a:rPr lang="en-US" sz="1200" dirty="0"/>
                <a:t>The Upward Climb: Shows 60+ years of uninterrupted economic growth and industrialization.</a:t>
              </a:r>
            </a:p>
            <a:p>
              <a:pPr marL="171450" indent="-171450">
                <a:buFont typeface="Arial" panose="020B0604020202020204" pitchFamily="34" charset="0"/>
                <a:buChar char="•"/>
              </a:pPr>
              <a:r>
                <a:rPr lang="en-US" sz="1200" dirty="0"/>
                <a:t>The Convergence: At the top right, the blue line finally merges with the red line, signaling the modern era.</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6">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C8F"/>
          </a:solidFill>
          <a:ln w="12700">
            <a:solidFill>
              <a:srgbClr val="0D7C8F"/>
            </a:solidFill>
            <a:prstDash val="solid"/>
          </a:ln>
        </p:spPr>
      </p:sp>
      <p:sp>
        <p:nvSpPr>
          <p:cNvPr id="3" name="Text 1"/>
          <p:cNvSpPr/>
          <p:nvPr/>
        </p:nvSpPr>
        <p:spPr>
          <a:xfrm>
            <a:off x="256032" y="164592"/>
            <a:ext cx="5486400" cy="256032"/>
          </a:xfrm>
          <a:prstGeom prst="rect">
            <a:avLst/>
          </a:prstGeom>
          <a:noFill/>
          <a:ln/>
        </p:spPr>
        <p:txBody>
          <a:bodyPr wrap="square" lIns="0" tIns="0" rIns="0" bIns="0" rtlCol="0" anchor="ctr"/>
          <a:lstStyle/>
          <a:p>
            <a:pPr marL="0" indent="0">
              <a:buNone/>
            </a:pPr>
            <a:r>
              <a:rPr lang="en-US" sz="800" b="1" kern="0" spc="300" dirty="0">
                <a:solidFill>
                  <a:srgbClr val="0D7C8F"/>
                </a:solidFill>
              </a:rPr>
              <a:t>OLG — RESULTS</a:t>
            </a:r>
            <a:endParaRPr lang="en-US" sz="800" dirty="0"/>
          </a:p>
        </p:txBody>
      </p:sp>
      <p:sp>
        <p:nvSpPr>
          <p:cNvPr id="4" name="Text 2"/>
          <p:cNvSpPr/>
          <p:nvPr/>
        </p:nvSpPr>
        <p:spPr>
          <a:xfrm>
            <a:off x="256032" y="275590"/>
            <a:ext cx="8631936" cy="594360"/>
          </a:xfrm>
          <a:prstGeom prst="rect">
            <a:avLst/>
          </a:prstGeom>
          <a:noFill/>
          <a:ln/>
        </p:spPr>
        <p:txBody>
          <a:bodyPr wrap="square" lIns="0" tIns="0" rIns="0" bIns="0" rtlCol="0" anchor="ctr"/>
          <a:lstStyle/>
          <a:p>
            <a:pPr marL="0" indent="0">
              <a:buNone/>
            </a:pPr>
            <a:r>
              <a:rPr lang="en-US" sz="2800" b="1" dirty="0">
                <a:solidFill>
                  <a:srgbClr val="2C3E50"/>
                </a:solidFill>
                <a:latin typeface="Cambria" pitchFamily="34" charset="0"/>
                <a:ea typeface="Cambria" pitchFamily="34" charset="-122"/>
                <a:cs typeface="Cambria" pitchFamily="34" charset="-120"/>
              </a:rPr>
              <a:t>Dynamic Efficiency Check: South Korea</a:t>
            </a:r>
            <a:endParaRPr lang="en-US" sz="2800" dirty="0"/>
          </a:p>
        </p:txBody>
      </p:sp>
      <p:sp>
        <p:nvSpPr>
          <p:cNvPr id="5" name="Shape 3"/>
          <p:cNvSpPr/>
          <p:nvPr/>
        </p:nvSpPr>
        <p:spPr>
          <a:xfrm>
            <a:off x="256032" y="814070"/>
            <a:ext cx="8631936" cy="0"/>
          </a:xfrm>
          <a:prstGeom prst="line">
            <a:avLst/>
          </a:prstGeom>
          <a:noFill/>
          <a:ln w="19050">
            <a:solidFill>
              <a:srgbClr val="0D7C8F"/>
            </a:solidFill>
            <a:prstDash val="solid"/>
          </a:ln>
        </p:spPr>
      </p:sp>
      <p:pic>
        <p:nvPicPr>
          <p:cNvPr id="6" name="Image 0"/>
          <p:cNvPicPr>
            <a:picLocks noChangeAspect="1"/>
          </p:cNvPicPr>
          <p:nvPr/>
        </p:nvPicPr>
        <p:blipFill>
          <a:blip r:embed="rId3"/>
          <a:srcRect/>
          <a:stretch/>
        </p:blipFill>
        <p:spPr>
          <a:xfrm>
            <a:off x="256031" y="909379"/>
            <a:ext cx="4229342" cy="2413580"/>
          </a:xfrm>
          <a:prstGeom prst="rect">
            <a:avLst/>
          </a:prstGeom>
        </p:spPr>
      </p:pic>
      <p:grpSp>
        <p:nvGrpSpPr>
          <p:cNvPr id="23" name="Group 22"/>
          <p:cNvGrpSpPr/>
          <p:nvPr/>
        </p:nvGrpSpPr>
        <p:grpSpPr>
          <a:xfrm>
            <a:off x="256031" y="3352346"/>
            <a:ext cx="4229342" cy="1791154"/>
            <a:chOff x="6400800" y="1380849"/>
            <a:chExt cx="2560320" cy="1774182"/>
          </a:xfrm>
        </p:grpSpPr>
        <p:sp>
          <p:nvSpPr>
            <p:cNvPr id="16" name="Shape 4"/>
            <p:cNvSpPr/>
            <p:nvPr/>
          </p:nvSpPr>
          <p:spPr>
            <a:xfrm>
              <a:off x="6400800" y="1380849"/>
              <a:ext cx="2560320" cy="1774181"/>
            </a:xfrm>
            <a:prstGeom prst="rect">
              <a:avLst/>
            </a:prstGeom>
            <a:solidFill>
              <a:srgbClr val="F5F1E8"/>
            </a:solidFill>
            <a:ln w="6350">
              <a:solidFill>
                <a:srgbClr val="D4C8A0"/>
              </a:solidFill>
              <a:prstDash val="solid"/>
            </a:ln>
          </p:spPr>
        </p:sp>
        <p:sp>
          <p:nvSpPr>
            <p:cNvPr id="17" name="Shape 5"/>
            <p:cNvSpPr/>
            <p:nvPr/>
          </p:nvSpPr>
          <p:spPr>
            <a:xfrm>
              <a:off x="6400800" y="1405259"/>
              <a:ext cx="2560320" cy="341741"/>
            </a:xfrm>
            <a:prstGeom prst="rect">
              <a:avLst/>
            </a:prstGeom>
            <a:solidFill>
              <a:srgbClr val="0D7C8F"/>
            </a:solidFill>
            <a:ln w="12700">
              <a:solidFill>
                <a:srgbClr val="0D7C8F"/>
              </a:solidFill>
              <a:prstDash val="solid"/>
            </a:ln>
          </p:spPr>
        </p:sp>
        <p:sp>
          <p:nvSpPr>
            <p:cNvPr id="18" name="Text 6"/>
            <p:cNvSpPr/>
            <p:nvPr/>
          </p:nvSpPr>
          <p:spPr>
            <a:xfrm>
              <a:off x="6400800" y="1380849"/>
              <a:ext cx="2560320" cy="341741"/>
            </a:xfrm>
            <a:prstGeom prst="rect">
              <a:avLst/>
            </a:prstGeom>
            <a:noFill/>
            <a:ln/>
          </p:spPr>
          <p:txBody>
            <a:bodyPr wrap="square" lIns="0" tIns="0" rIns="0" bIns="0" rtlCol="0" anchor="ctr"/>
            <a:lstStyle/>
            <a:p>
              <a:pPr marL="0" indent="0" algn="ctr">
                <a:buNone/>
              </a:pPr>
              <a:r>
                <a:rPr lang="en-US" sz="1200" b="1" dirty="0">
                  <a:solidFill>
                    <a:srgbClr val="FFFFFF"/>
                  </a:solidFill>
                </a:rPr>
                <a:t>Reading the Chart</a:t>
              </a:r>
              <a:endParaRPr lang="en-US" sz="1200" dirty="0"/>
            </a:p>
          </p:txBody>
        </p:sp>
        <p:sp>
          <p:nvSpPr>
            <p:cNvPr id="19" name="Text 7"/>
            <p:cNvSpPr/>
            <p:nvPr/>
          </p:nvSpPr>
          <p:spPr>
            <a:xfrm>
              <a:off x="6510528" y="1771411"/>
              <a:ext cx="2377440" cy="1383620"/>
            </a:xfrm>
            <a:prstGeom prst="rect">
              <a:avLst/>
            </a:prstGeom>
            <a:noFill/>
            <a:ln/>
          </p:spPr>
          <p:txBody>
            <a:bodyPr wrap="square" lIns="0" tIns="0" rIns="0" bIns="0" rtlCol="0" anchor="t"/>
            <a:lstStyle/>
            <a:p>
              <a:pPr marL="342900" indent="-342900">
                <a:buSzPct val="100000"/>
                <a:buChar char="•"/>
              </a:pPr>
              <a:r>
                <a:rPr lang="en-US" sz="1200" dirty="0"/>
                <a:t>Blue: real interest rate r</a:t>
              </a:r>
            </a:p>
            <a:p>
              <a:pPr marL="342900" indent="-342900">
                <a:buSzPct val="100000"/>
                <a:buChar char="•"/>
              </a:pPr>
              <a:r>
                <a:rPr lang="en-US" sz="1200" dirty="0"/>
                <a:t>Red: total growth n+g</a:t>
              </a:r>
            </a:p>
            <a:p>
              <a:pPr marL="342900" indent="-342900">
                <a:buSzPct val="100000"/>
                <a:buChar char="•"/>
              </a:pPr>
              <a:r>
                <a:rPr lang="en-US" sz="1200" dirty="0"/>
                <a:t>Grey shading: r ≥ n+g (efficient)</a:t>
              </a:r>
            </a:p>
            <a:p>
              <a:pPr marL="342900" indent="-342900">
                <a:buSzPct val="100000"/>
                <a:buChar char="•"/>
              </a:pPr>
              <a:r>
                <a:rPr lang="en-US" sz="1200" dirty="0"/>
                <a:t>r &gt; n+g throughout: SK is dynamically efficient</a:t>
              </a:r>
            </a:p>
            <a:p>
              <a:pPr marL="342900" indent="-342900">
                <a:buSzPct val="100000"/>
                <a:buChar char="•"/>
              </a:pPr>
              <a:r>
                <a:rPr lang="en-US" sz="1200" dirty="0"/>
                <a:t>No over-accumulation of capital</a:t>
              </a:r>
            </a:p>
            <a:p>
              <a:pPr marL="342900" indent="-342900">
                <a:buSzPct val="100000"/>
                <a:buChar char="•"/>
              </a:pPr>
              <a:r>
                <a:rPr lang="en-US" sz="1200" dirty="0"/>
                <a:t>1997 AFC: brief near-threshold dip</a:t>
              </a:r>
            </a:p>
            <a:p>
              <a:pPr marL="342900" indent="-342900">
                <a:buSzPct val="100000"/>
                <a:buChar char="•"/>
              </a:pPr>
              <a:r>
                <a:rPr lang="en-US" sz="1200" dirty="0"/>
                <a:t>Post-2010: gap narrowing as r falls</a:t>
              </a:r>
            </a:p>
          </p:txBody>
        </p:sp>
      </p:grpSp>
      <p:pic>
        <p:nvPicPr>
          <p:cNvPr id="24" name="Picture 23"/>
          <p:cNvPicPr/>
          <p:nvPr/>
        </p:nvPicPr>
        <p:blipFill>
          <a:blip r:embed="rId4">
            <a:extLst>
              <a:ext uri="{28A0092B-C50C-407E-A947-70E740481C1C}">
                <a14:useLocalDpi xmlns:a14="http://schemas.microsoft.com/office/drawing/2010/main" val="0"/>
              </a:ext>
            </a:extLst>
          </a:blip>
          <a:srcRect/>
          <a:stretch>
            <a:fillRect/>
          </a:stretch>
        </p:blipFill>
        <p:spPr bwMode="auto">
          <a:xfrm>
            <a:off x="4576813" y="906596"/>
            <a:ext cx="4311155" cy="2416363"/>
          </a:xfrm>
          <a:prstGeom prst="rect">
            <a:avLst/>
          </a:prstGeom>
          <a:noFill/>
        </p:spPr>
      </p:pic>
      <p:grpSp>
        <p:nvGrpSpPr>
          <p:cNvPr id="43" name="Group 42"/>
          <p:cNvGrpSpPr/>
          <p:nvPr/>
        </p:nvGrpSpPr>
        <p:grpSpPr>
          <a:xfrm>
            <a:off x="4576813" y="3352345"/>
            <a:ext cx="4311156" cy="1791154"/>
            <a:chOff x="6400800" y="1380849"/>
            <a:chExt cx="2560320" cy="1774182"/>
          </a:xfrm>
        </p:grpSpPr>
        <p:sp>
          <p:nvSpPr>
            <p:cNvPr id="44" name="Shape 4"/>
            <p:cNvSpPr/>
            <p:nvPr/>
          </p:nvSpPr>
          <p:spPr>
            <a:xfrm>
              <a:off x="6400800" y="1380849"/>
              <a:ext cx="2560320" cy="1774181"/>
            </a:xfrm>
            <a:prstGeom prst="rect">
              <a:avLst/>
            </a:prstGeom>
            <a:solidFill>
              <a:srgbClr val="F5F1E8"/>
            </a:solidFill>
            <a:ln w="6350">
              <a:solidFill>
                <a:srgbClr val="D4C8A0"/>
              </a:solidFill>
              <a:prstDash val="solid"/>
            </a:ln>
          </p:spPr>
        </p:sp>
        <p:sp>
          <p:nvSpPr>
            <p:cNvPr id="45" name="Shape 5"/>
            <p:cNvSpPr/>
            <p:nvPr/>
          </p:nvSpPr>
          <p:spPr>
            <a:xfrm>
              <a:off x="6400800" y="1405259"/>
              <a:ext cx="2560320" cy="341741"/>
            </a:xfrm>
            <a:prstGeom prst="rect">
              <a:avLst/>
            </a:prstGeom>
            <a:solidFill>
              <a:srgbClr val="0D7C8F"/>
            </a:solidFill>
            <a:ln w="12700">
              <a:solidFill>
                <a:srgbClr val="0D7C8F"/>
              </a:solidFill>
              <a:prstDash val="solid"/>
            </a:ln>
          </p:spPr>
        </p:sp>
        <p:sp>
          <p:nvSpPr>
            <p:cNvPr id="46" name="Text 6"/>
            <p:cNvSpPr/>
            <p:nvPr/>
          </p:nvSpPr>
          <p:spPr>
            <a:xfrm>
              <a:off x="6400800" y="1380849"/>
              <a:ext cx="2560320" cy="341741"/>
            </a:xfrm>
            <a:prstGeom prst="rect">
              <a:avLst/>
            </a:prstGeom>
            <a:noFill/>
            <a:ln/>
          </p:spPr>
          <p:txBody>
            <a:bodyPr wrap="square" lIns="0" tIns="0" rIns="0" bIns="0" rtlCol="0" anchor="ctr"/>
            <a:lstStyle/>
            <a:p>
              <a:pPr marL="0" indent="0" algn="ctr">
                <a:buNone/>
              </a:pPr>
              <a:r>
                <a:rPr lang="en-US" sz="1200" b="1" dirty="0">
                  <a:solidFill>
                    <a:srgbClr val="FFFFFF"/>
                  </a:solidFill>
                </a:rPr>
                <a:t>Reading the Chart</a:t>
              </a:r>
              <a:endParaRPr lang="en-US" sz="1200" dirty="0"/>
            </a:p>
          </p:txBody>
        </p:sp>
        <p:sp>
          <p:nvSpPr>
            <p:cNvPr id="47" name="Text 7"/>
            <p:cNvSpPr/>
            <p:nvPr/>
          </p:nvSpPr>
          <p:spPr>
            <a:xfrm>
              <a:off x="6510528" y="1771411"/>
              <a:ext cx="2377440" cy="1383620"/>
            </a:xfrm>
            <a:prstGeom prst="rect">
              <a:avLst/>
            </a:prstGeom>
            <a:noFill/>
            <a:ln/>
          </p:spPr>
          <p:txBody>
            <a:bodyPr wrap="square" lIns="0" tIns="0" rIns="0" bIns="0" rtlCol="0" anchor="t"/>
            <a:lstStyle/>
            <a:p>
              <a:pPr marL="342900" indent="-342900">
                <a:buSzPct val="100000"/>
                <a:buChar char="•"/>
              </a:pPr>
              <a:r>
                <a:rPr lang="en-US" sz="1100" dirty="0"/>
                <a:t>Current: Efficient, but the margin is narrowing</a:t>
              </a:r>
            </a:p>
            <a:p>
              <a:pPr marL="342900" indent="-342900">
                <a:buSzPct val="100000"/>
                <a:buChar char="•"/>
              </a:pPr>
              <a:r>
                <a:rPr lang="en-US" sz="1100" dirty="0"/>
                <a:t>Blue: Capital Income | Orange: Investment</a:t>
              </a:r>
            </a:p>
            <a:p>
              <a:pPr marL="342900" indent="-342900">
                <a:buSzPct val="100000"/>
                <a:buChar char="•"/>
              </a:pPr>
              <a:r>
                <a:rPr lang="en-US" sz="1100" dirty="0"/>
                <a:t>The Rule: Efficient when Blue &gt; Orange</a:t>
              </a:r>
            </a:p>
            <a:p>
              <a:pPr marL="342900" indent="-342900">
                <a:buSzPct val="100000"/>
                <a:buChar char="•"/>
              </a:pPr>
              <a:r>
                <a:rPr lang="en-US" sz="1100" dirty="0"/>
                <a:t>Historical Norm: Consistently dynamically efficient</a:t>
              </a:r>
            </a:p>
            <a:p>
              <a:pPr marL="342900" indent="-342900">
                <a:buSzPct val="100000"/>
                <a:buChar char="•"/>
              </a:pPr>
              <a:r>
                <a:rPr lang="en-US" sz="1100" dirty="0"/>
                <a:t>1990–1997 Anomaly: Inefficient (Orange &gt; Blue) due to massive over-investment</a:t>
              </a:r>
            </a:p>
            <a:p>
              <a:pPr marL="342900" indent="-342900">
                <a:buSzPct val="100000"/>
                <a:buChar char="•"/>
              </a:pPr>
              <a:r>
                <a:rPr lang="en-US" sz="1100" dirty="0"/>
                <a:t>1997 AFC: Crisis destroyed excess capital, restoring efficiency</a:t>
              </a:r>
            </a:p>
            <a:p>
              <a:pPr marL="342900" indent="-342900">
                <a:buSzPct val="100000"/>
                <a:buChar char="•"/>
              </a:pPr>
              <a:r>
                <a:rPr lang="en-US" sz="1100" dirty="0"/>
                <a:t>Current: Efficient, but the margin is narrowing</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8">
    <p:bg>
      <p:bgPr>
        <a:solidFill>
          <a:srgbClr val="1A2B4A"/>
        </a:solidFill>
        <a:effectLst/>
      </p:bgPr>
    </p:bg>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0D7C8F"/>
          </a:solidFill>
          <a:ln w="12700">
            <a:solidFill>
              <a:srgbClr val="0D7C8F"/>
            </a:solidFill>
            <a:prstDash val="solid"/>
          </a:ln>
        </p:spPr>
      </p:sp>
      <p:sp>
        <p:nvSpPr>
          <p:cNvPr id="3" name="Text 1"/>
          <p:cNvSpPr/>
          <p:nvPr/>
        </p:nvSpPr>
        <p:spPr>
          <a:xfrm>
            <a:off x="274320" y="1645920"/>
            <a:ext cx="2377440" cy="1371600"/>
          </a:xfrm>
          <a:prstGeom prst="rect">
            <a:avLst/>
          </a:prstGeom>
          <a:noFill/>
          <a:ln/>
        </p:spPr>
        <p:txBody>
          <a:bodyPr wrap="square" lIns="0" tIns="0" rIns="0" bIns="0" rtlCol="0" anchor="ctr"/>
          <a:lstStyle/>
          <a:p>
            <a:pPr marL="0" indent="0" algn="ctr">
              <a:buNone/>
            </a:pPr>
            <a:r>
              <a:rPr lang="en-US" sz="8000" b="1" dirty="0">
                <a:solidFill>
                  <a:srgbClr val="FFFFFF"/>
                </a:solidFill>
                <a:latin typeface="Cambria" pitchFamily="34" charset="0"/>
                <a:ea typeface="Cambria" pitchFamily="34" charset="-122"/>
                <a:cs typeface="Cambria" pitchFamily="34" charset="-120"/>
              </a:rPr>
              <a:t>04</a:t>
            </a:r>
            <a:endParaRPr lang="en-US" sz="8000" dirty="0"/>
          </a:p>
        </p:txBody>
      </p:sp>
      <p:sp>
        <p:nvSpPr>
          <p:cNvPr id="4" name="Text 2"/>
          <p:cNvSpPr/>
          <p:nvPr/>
        </p:nvSpPr>
        <p:spPr>
          <a:xfrm>
            <a:off x="3200400" y="1554480"/>
            <a:ext cx="5669280" cy="9144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Comparative Analysis</a:t>
            </a:r>
            <a:endParaRPr lang="en-US" sz="3200" dirty="0"/>
          </a:p>
        </p:txBody>
      </p:sp>
      <p:sp>
        <p:nvSpPr>
          <p:cNvPr id="5" name="Text 3"/>
          <p:cNvSpPr/>
          <p:nvPr/>
        </p:nvSpPr>
        <p:spPr>
          <a:xfrm>
            <a:off x="3200400" y="2514600"/>
            <a:ext cx="5669280" cy="548640"/>
          </a:xfrm>
          <a:prstGeom prst="rect">
            <a:avLst/>
          </a:prstGeom>
          <a:noFill/>
          <a:ln/>
        </p:spPr>
        <p:txBody>
          <a:bodyPr wrap="square" lIns="0" tIns="0" rIns="0" bIns="0" rtlCol="0" anchor="ctr"/>
          <a:lstStyle/>
          <a:p>
            <a:pPr marL="0" indent="0">
              <a:buNone/>
            </a:pPr>
            <a:r>
              <a:rPr lang="en-US" sz="1400" dirty="0">
                <a:solidFill>
                  <a:srgbClr val="A8C8D8"/>
                </a:solidFill>
              </a:rPr>
              <a:t>Solow vs RCK vs OLG — Which Model Fits Best?</a:t>
            </a:r>
            <a:endParaRPr lang="en-US" sz="1400" dirty="0"/>
          </a:p>
        </p:txBody>
      </p:sp>
      <p:sp>
        <p:nvSpPr>
          <p:cNvPr id="6" name="Preview 6"/>
          <p:cNvSpPr/>
          <p:nvPr/>
        </p:nvSpPr>
        <p:spPr>
          <a:xfrm>
            <a:off x="3200400" y="3200400"/>
            <a:ext cx="5578080" cy="1371600"/>
          </a:xfrm>
          <a:prstGeom prst="rect">
            <a:avLst/>
          </a:prstGeom>
          <a:noFill/>
          <a:ln/>
        </p:spPr>
        <p:txBody>
          <a:bodyPr wrap="square" lIns="0" tIns="0" rIns="0" bIns="0" rtlCol="0" anchor="t"/>
          <a:lstStyle/>
          <a:p>
            <a:pPr marL="228600" indent="0">
              <a:buChar char="→"/>
            </a:pPr>
            <a:r>
              <a:rPr lang="en-US" sz="1100" dirty="0">
                <a:solidFill>
                  <a:srgbClr val="7EC8D8"/>
                </a:solidFill>
              </a:rPr>
              <a:t>Model-fit comparison: Solow vs RCK vs OLG</a:t>
            </a:r>
          </a:p>
          <a:p>
            <a:pPr marL="228600" indent="0">
              <a:buChar char="→"/>
            </a:pPr>
            <a:r>
              <a:rPr lang="en-US" sz="1100" dirty="0">
                <a:solidFill>
                  <a:srgbClr val="7EC8D8"/>
                </a:solidFill>
              </a:rPr>
              <a:t>Capital &amp; output steady-state convergence</a:t>
            </a:r>
          </a:p>
          <a:p>
            <a:pPr marL="228600" indent="0">
              <a:buChar char="→"/>
            </a:pPr>
            <a:r>
              <a:rPr lang="en-US" sz="1100" dirty="0">
                <a:solidFill>
                  <a:srgbClr val="7EC8D8"/>
                </a:solidFill>
              </a:rPr>
              <a:t>Which framework best captures SK’s miracle?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9">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C8F"/>
          </a:solidFill>
          <a:ln w="12700">
            <a:solidFill>
              <a:srgbClr val="0D7C8F"/>
            </a:solidFill>
            <a:prstDash val="solid"/>
          </a:ln>
        </p:spPr>
      </p:sp>
      <p:sp>
        <p:nvSpPr>
          <p:cNvPr id="3" name="Text 1"/>
          <p:cNvSpPr/>
          <p:nvPr/>
        </p:nvSpPr>
        <p:spPr>
          <a:xfrm>
            <a:off x="256032" y="164592"/>
            <a:ext cx="5486400" cy="256032"/>
          </a:xfrm>
          <a:prstGeom prst="rect">
            <a:avLst/>
          </a:prstGeom>
          <a:noFill/>
          <a:ln/>
        </p:spPr>
        <p:txBody>
          <a:bodyPr wrap="square" lIns="0" tIns="0" rIns="0" bIns="0" rtlCol="0" anchor="ctr"/>
          <a:lstStyle/>
          <a:p>
            <a:pPr marL="0" indent="0">
              <a:buNone/>
            </a:pPr>
            <a:r>
              <a:rPr lang="en-US" sz="800" b="1" kern="0" spc="300" dirty="0">
                <a:solidFill>
                  <a:srgbClr val="0D7C8F"/>
                </a:solidFill>
              </a:rPr>
              <a:t>COMPARATIVE ANALYSIS</a:t>
            </a:r>
            <a:endParaRPr lang="en-US" sz="800" dirty="0"/>
          </a:p>
        </p:txBody>
      </p:sp>
      <p:sp>
        <p:nvSpPr>
          <p:cNvPr id="4" name="Text 2"/>
          <p:cNvSpPr/>
          <p:nvPr/>
        </p:nvSpPr>
        <p:spPr>
          <a:xfrm>
            <a:off x="256032" y="502920"/>
            <a:ext cx="8631936" cy="594360"/>
          </a:xfrm>
          <a:prstGeom prst="rect">
            <a:avLst/>
          </a:prstGeom>
          <a:noFill/>
          <a:ln/>
        </p:spPr>
        <p:txBody>
          <a:bodyPr wrap="square" lIns="0" tIns="0" rIns="0" bIns="0" rtlCol="0" anchor="ctr"/>
          <a:lstStyle/>
          <a:p>
            <a:pPr marL="0" indent="0">
              <a:buNone/>
            </a:pPr>
            <a:r>
              <a:rPr lang="en-US" sz="2800" b="1" dirty="0">
                <a:solidFill>
                  <a:srgbClr val="2C3E50"/>
                </a:solidFill>
                <a:latin typeface="Cambria" pitchFamily="34" charset="0"/>
                <a:ea typeface="Cambria" pitchFamily="34" charset="-122"/>
                <a:cs typeface="Cambria" pitchFamily="34" charset="-120"/>
              </a:rPr>
              <a:t>Model Comparison: Fit, Assumptions &amp; Insights</a:t>
            </a:r>
            <a:endParaRPr lang="en-US" sz="2800" dirty="0"/>
          </a:p>
        </p:txBody>
      </p:sp>
      <p:sp>
        <p:nvSpPr>
          <p:cNvPr id="5" name="Shape 3"/>
          <p:cNvSpPr/>
          <p:nvPr/>
        </p:nvSpPr>
        <p:spPr>
          <a:xfrm>
            <a:off x="256032" y="1188720"/>
            <a:ext cx="8631936" cy="0"/>
          </a:xfrm>
          <a:prstGeom prst="line">
            <a:avLst/>
          </a:prstGeom>
          <a:noFill/>
          <a:ln w="19050">
            <a:solidFill>
              <a:srgbClr val="0D7C8F"/>
            </a:solidFill>
            <a:prstDash val="solid"/>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256032" y="1325880"/>
          <a:ext cx="8631936" cy="3145536"/>
        </p:xfrm>
        <a:graphic>
          <a:graphicData uri="http://schemas.openxmlformats.org/drawingml/2006/table">
            <a:tbl>
              <a:tblPr/>
              <a:tblGrid>
                <a:gridCol w="164592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414016">
                  <a:extLst>
                    <a:ext uri="{9D8B030D-6E8A-4147-A177-3AD203B41FA5}">
                      <a16:colId xmlns:a16="http://schemas.microsoft.com/office/drawing/2014/main" val="20003"/>
                    </a:ext>
                  </a:extLst>
                </a:gridCol>
              </a:tblGrid>
              <a:tr h="393192">
                <a:tc>
                  <a:txBody>
                    <a:bodyPr/>
                    <a:lstStyle/>
                    <a:p>
                      <a:pPr marL="0" indent="0">
                        <a:buNone/>
                      </a:pPr>
                      <a:r>
                        <a:rPr lang="en-US" sz="1100" b="1" dirty="0">
                          <a:solidFill>
                            <a:srgbClr val="FFFFFF"/>
                          </a:solidFill>
                        </a:rPr>
                        <a:t>Criterion</a:t>
                      </a:r>
                      <a:endParaRPr lang="en-US" sz="1100" dirty="0"/>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1A2B4A"/>
                    </a:solidFill>
                  </a:tcPr>
                </a:tc>
                <a:tc>
                  <a:txBody>
                    <a:bodyPr/>
                    <a:lstStyle/>
                    <a:p>
                      <a:pPr marL="0" indent="0">
                        <a:buNone/>
                      </a:pPr>
                      <a:r>
                        <a:rPr lang="en-US" sz="1100" b="1" dirty="0">
                          <a:solidFill>
                            <a:srgbClr val="FFFFFF"/>
                          </a:solidFill>
                        </a:rPr>
                        <a:t>Solow</a:t>
                      </a:r>
                      <a:endParaRPr lang="en-US" sz="1100" dirty="0"/>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1A2B4A"/>
                    </a:solidFill>
                  </a:tcPr>
                </a:tc>
                <a:tc>
                  <a:txBody>
                    <a:bodyPr/>
                    <a:lstStyle/>
                    <a:p>
                      <a:pPr marL="0" indent="0">
                        <a:buNone/>
                      </a:pPr>
                      <a:r>
                        <a:rPr lang="en-US" sz="1100" b="1" dirty="0">
                          <a:solidFill>
                            <a:srgbClr val="FFFFFF"/>
                          </a:solidFill>
                        </a:rPr>
                        <a:t>RCK</a:t>
                      </a:r>
                      <a:endParaRPr lang="en-US" sz="1100" dirty="0"/>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1A2B4A"/>
                    </a:solidFill>
                  </a:tcPr>
                </a:tc>
                <a:tc>
                  <a:txBody>
                    <a:bodyPr/>
                    <a:lstStyle/>
                    <a:p>
                      <a:pPr marL="0" indent="0">
                        <a:buNone/>
                      </a:pPr>
                      <a:r>
                        <a:rPr lang="en-US" sz="1100" b="1" dirty="0">
                          <a:solidFill>
                            <a:srgbClr val="FFFFFF"/>
                          </a:solidFill>
                        </a:rPr>
                        <a:t>OLG</a:t>
                      </a:r>
                      <a:endParaRPr lang="en-US" sz="1100" dirty="0"/>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1A2B4A"/>
                    </a:solidFill>
                  </a:tcPr>
                </a:tc>
                <a:extLst>
                  <a:ext uri="{0D108BD9-81ED-4DB2-BD59-A6C34878D82A}">
                    <a16:rowId xmlns:a16="http://schemas.microsoft.com/office/drawing/2014/main" val="10000"/>
                  </a:ext>
                </a:extLst>
              </a:tr>
              <a:tr h="393192">
                <a:tc>
                  <a:txBody>
                    <a:bodyPr/>
                    <a:lstStyle/>
                    <a:p>
                      <a:pPr marL="0" indent="0">
                        <a:buNone/>
                      </a:pPr>
                      <a:r>
                        <a:rPr lang="en-US" sz="1050" b="1" dirty="0">
                          <a:solidFill>
                            <a:srgbClr val="2C3E50"/>
                          </a:solidFill>
                        </a:rPr>
                        <a:t>Savings rate</a:t>
                      </a:r>
                      <a:endParaRPr lang="en-US" sz="1050" dirty="0"/>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2F6F9"/>
                    </a:solidFill>
                  </a:tcPr>
                </a:tc>
                <a:tc>
                  <a:txBody>
                    <a:bodyPr/>
                    <a:lstStyle/>
                    <a:p>
                      <a:pPr marL="0" indent="0">
                        <a:buNone/>
                      </a:pPr>
                      <a:r>
                        <a:rPr lang="en-US" sz="1050" dirty="0">
                          <a:solidFill>
                            <a:srgbClr val="5A6A7A"/>
                          </a:solidFill>
                        </a:rPr>
                        <a:t>Exogenous (s fixed)</a:t>
                      </a:r>
                      <a:endParaRPr lang="en-US" sz="1050" dirty="0"/>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2F6F9"/>
                    </a:solidFill>
                  </a:tcPr>
                </a:tc>
                <a:tc>
                  <a:txBody>
                    <a:bodyPr/>
                    <a:lstStyle/>
                    <a:p>
                      <a:pPr marL="0" indent="0">
                        <a:buNone/>
                      </a:pPr>
                      <a:r>
                        <a:rPr lang="en-US" sz="1050" dirty="0">
                          <a:solidFill>
                            <a:srgbClr val="5A6A7A"/>
                          </a:solidFill>
                        </a:rPr>
                        <a:t>Endogenous (Euler eq.)</a:t>
                      </a:r>
                      <a:endParaRPr lang="en-US" sz="1050" dirty="0"/>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2F6F9"/>
                    </a:solidFill>
                  </a:tcPr>
                </a:tc>
                <a:tc>
                  <a:txBody>
                    <a:bodyPr/>
                    <a:lstStyle/>
                    <a:p>
                      <a:pPr marL="0" indent="0">
                        <a:buNone/>
                      </a:pPr>
                      <a:r>
                        <a:rPr lang="en-US" sz="1050" dirty="0">
                          <a:solidFill>
                            <a:srgbClr val="5A6A7A"/>
                          </a:solidFill>
                        </a:rPr>
                        <a:t>Endogenous (lifecycle)</a:t>
                      </a:r>
                      <a:endParaRPr lang="en-US" sz="1050" dirty="0"/>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2F6F9"/>
                    </a:solidFill>
                  </a:tcPr>
                </a:tc>
                <a:extLst>
                  <a:ext uri="{0D108BD9-81ED-4DB2-BD59-A6C34878D82A}">
                    <a16:rowId xmlns:a16="http://schemas.microsoft.com/office/drawing/2014/main" val="10001"/>
                  </a:ext>
                </a:extLst>
              </a:tr>
              <a:tr h="393192">
                <a:tc>
                  <a:txBody>
                    <a:bodyPr/>
                    <a:lstStyle/>
                    <a:p>
                      <a:pPr marL="0" indent="0">
                        <a:buNone/>
                      </a:pPr>
                      <a:r>
                        <a:rPr lang="en-US" sz="1050" b="1" dirty="0">
                          <a:solidFill>
                            <a:srgbClr val="2C3E50"/>
                          </a:solidFill>
                        </a:rPr>
                        <a:t>Convergence</a:t>
                      </a:r>
                      <a:endParaRPr lang="en-US" sz="1050" dirty="0"/>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AFAF8"/>
                    </a:solidFill>
                  </a:tcPr>
                </a:tc>
                <a:tc>
                  <a:txBody>
                    <a:bodyPr/>
                    <a:lstStyle/>
                    <a:p>
                      <a:pPr marL="0" indent="0">
                        <a:buNone/>
                      </a:pPr>
                      <a:r>
                        <a:rPr lang="en-US" sz="1050" dirty="0">
                          <a:solidFill>
                            <a:srgbClr val="5A6A7A"/>
                          </a:solidFill>
                        </a:rPr>
                        <a:t>Conditional β-conv.</a:t>
                      </a:r>
                      <a:endParaRPr lang="en-US" sz="1050" dirty="0"/>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AFAF8"/>
                    </a:solidFill>
                  </a:tcPr>
                </a:tc>
                <a:tc>
                  <a:txBody>
                    <a:bodyPr/>
                    <a:lstStyle/>
                    <a:p>
                      <a:pPr marL="0" indent="0">
                        <a:buNone/>
                      </a:pPr>
                      <a:r>
                        <a:rPr lang="en-US" sz="1050" dirty="0">
                          <a:solidFill>
                            <a:srgbClr val="5A6A7A"/>
                          </a:solidFill>
                        </a:rPr>
                        <a:t>Saddle path to k*</a:t>
                      </a:r>
                      <a:endParaRPr lang="en-US" sz="1050" dirty="0"/>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AFAF8"/>
                    </a:solidFill>
                  </a:tcPr>
                </a:tc>
                <a:tc>
                  <a:txBody>
                    <a:bodyPr/>
                    <a:lstStyle/>
                    <a:p>
                      <a:pPr marL="0" indent="0">
                        <a:buNone/>
                      </a:pPr>
                      <a:r>
                        <a:rPr lang="en-US" sz="1050" dirty="0">
                          <a:solidFill>
                            <a:srgbClr val="5A6A7A"/>
                          </a:solidFill>
                        </a:rPr>
                        <a:t>Transition fn. (β₁≈1)</a:t>
                      </a:r>
                      <a:endParaRPr lang="en-US" sz="1050" dirty="0"/>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AFAF8"/>
                    </a:solidFill>
                  </a:tcPr>
                </a:tc>
                <a:extLst>
                  <a:ext uri="{0D108BD9-81ED-4DB2-BD59-A6C34878D82A}">
                    <a16:rowId xmlns:a16="http://schemas.microsoft.com/office/drawing/2014/main" val="10002"/>
                  </a:ext>
                </a:extLst>
              </a:tr>
              <a:tr h="393192">
                <a:tc>
                  <a:txBody>
                    <a:bodyPr/>
                    <a:lstStyle/>
                    <a:p>
                      <a:pPr marL="0" indent="0">
                        <a:buNone/>
                      </a:pPr>
                      <a:r>
                        <a:rPr lang="en-US" sz="1050" b="1" dirty="0">
                          <a:solidFill>
                            <a:srgbClr val="2C3E50"/>
                          </a:solidFill>
                        </a:rPr>
                        <a:t>Demographics</a:t>
                      </a:r>
                      <a:endParaRPr lang="en-US" sz="1050" dirty="0"/>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2F6F9"/>
                    </a:solidFill>
                  </a:tcPr>
                </a:tc>
                <a:tc>
                  <a:txBody>
                    <a:bodyPr/>
                    <a:lstStyle/>
                    <a:p>
                      <a:pPr marL="0" indent="0">
                        <a:buNone/>
                      </a:pPr>
                      <a:r>
                        <a:rPr lang="en-US" sz="1050" dirty="0">
                          <a:solidFill>
                            <a:srgbClr val="5A6A7A"/>
                          </a:solidFill>
                        </a:rPr>
                        <a:t>n in steady state</a:t>
                      </a:r>
                      <a:endParaRPr lang="en-US" sz="1050" dirty="0"/>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2F6F9"/>
                    </a:solidFill>
                  </a:tcPr>
                </a:tc>
                <a:tc>
                  <a:txBody>
                    <a:bodyPr/>
                    <a:lstStyle/>
                    <a:p>
                      <a:pPr marL="0" indent="0">
                        <a:buNone/>
                      </a:pPr>
                      <a:r>
                        <a:rPr lang="en-US" sz="1050" dirty="0">
                          <a:solidFill>
                            <a:srgbClr val="5A6A7A"/>
                          </a:solidFill>
                        </a:rPr>
                        <a:t>n in Euler / BC</a:t>
                      </a:r>
                      <a:endParaRPr lang="en-US" sz="1050" dirty="0"/>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2F6F9"/>
                    </a:solidFill>
                  </a:tcPr>
                </a:tc>
                <a:tc>
                  <a:txBody>
                    <a:bodyPr/>
                    <a:lstStyle/>
                    <a:p>
                      <a:pPr marL="0" indent="0">
                        <a:buNone/>
                      </a:pPr>
                      <a:r>
                        <a:rPr lang="en-US" sz="1050" dirty="0">
                          <a:solidFill>
                            <a:srgbClr val="5A6A7A"/>
                          </a:solidFill>
                        </a:rPr>
                        <a:t>Core — cohort overlap</a:t>
                      </a:r>
                      <a:endParaRPr lang="en-US" sz="1050" dirty="0"/>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2F6F9"/>
                    </a:solidFill>
                  </a:tcPr>
                </a:tc>
                <a:extLst>
                  <a:ext uri="{0D108BD9-81ED-4DB2-BD59-A6C34878D82A}">
                    <a16:rowId xmlns:a16="http://schemas.microsoft.com/office/drawing/2014/main" val="10003"/>
                  </a:ext>
                </a:extLst>
              </a:tr>
              <a:tr h="393192">
                <a:tc>
                  <a:txBody>
                    <a:bodyPr/>
                    <a:lstStyle/>
                    <a:p>
                      <a:pPr marL="0" indent="0">
                        <a:buNone/>
                      </a:pPr>
                      <a:r>
                        <a:rPr lang="en-US" sz="1050" b="1" dirty="0">
                          <a:solidFill>
                            <a:srgbClr val="2C3E50"/>
                          </a:solidFill>
                        </a:rPr>
                        <a:t>Dyn. Efficiency</a:t>
                      </a:r>
                      <a:endParaRPr lang="en-US" sz="1050" dirty="0"/>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AFAF8"/>
                    </a:solidFill>
                  </a:tcPr>
                </a:tc>
                <a:tc>
                  <a:txBody>
                    <a:bodyPr/>
                    <a:lstStyle/>
                    <a:p>
                      <a:pPr marL="0" indent="0">
                        <a:buNone/>
                      </a:pPr>
                      <a:r>
                        <a:rPr lang="en-US" sz="1050" dirty="0">
                          <a:solidFill>
                            <a:srgbClr val="5A6A7A"/>
                          </a:solidFill>
                        </a:rPr>
                        <a:t>Not addressed</a:t>
                      </a:r>
                      <a:endParaRPr lang="en-US" sz="1050" dirty="0"/>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AFAF8"/>
                    </a:solidFill>
                  </a:tcPr>
                </a:tc>
                <a:tc>
                  <a:txBody>
                    <a:bodyPr/>
                    <a:lstStyle/>
                    <a:p>
                      <a:pPr marL="0" indent="0">
                        <a:buNone/>
                      </a:pPr>
                      <a:r>
                        <a:rPr lang="en-US" sz="1050" dirty="0">
                          <a:solidFill>
                            <a:srgbClr val="5A6A7A"/>
                          </a:solidFill>
                        </a:rPr>
                        <a:t>Efficient by construction</a:t>
                      </a:r>
                      <a:endParaRPr lang="en-US" sz="1050" dirty="0"/>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AFAF8"/>
                    </a:solidFill>
                  </a:tcPr>
                </a:tc>
                <a:tc>
                  <a:txBody>
                    <a:bodyPr/>
                    <a:lstStyle/>
                    <a:p>
                      <a:pPr marL="0" indent="0">
                        <a:buNone/>
                      </a:pPr>
                      <a:r>
                        <a:rPr lang="en-US" sz="1050" dirty="0">
                          <a:solidFill>
                            <a:srgbClr val="5A6A7A"/>
                          </a:solidFill>
                        </a:rPr>
                        <a:t>r &gt; n+g → efficient</a:t>
                      </a:r>
                      <a:endParaRPr lang="en-US" sz="1050" dirty="0"/>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AFAF8"/>
                    </a:solidFill>
                  </a:tcPr>
                </a:tc>
                <a:extLst>
                  <a:ext uri="{0D108BD9-81ED-4DB2-BD59-A6C34878D82A}">
                    <a16:rowId xmlns:a16="http://schemas.microsoft.com/office/drawing/2014/main" val="10004"/>
                  </a:ext>
                </a:extLst>
              </a:tr>
              <a:tr h="393192">
                <a:tc>
                  <a:txBody>
                    <a:bodyPr/>
                    <a:lstStyle/>
                    <a:p>
                      <a:pPr marL="0" indent="0">
                        <a:buNone/>
                      </a:pPr>
                      <a:r>
                        <a:rPr lang="en-US" sz="1050" b="1" dirty="0">
                          <a:solidFill>
                            <a:srgbClr val="2C3E50"/>
                          </a:solidFill>
                        </a:rPr>
                        <a:t>SK fit (1960–95)</a:t>
                      </a:r>
                      <a:endParaRPr lang="en-US" sz="1050" dirty="0"/>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2F6F9"/>
                    </a:solidFill>
                  </a:tcPr>
                </a:tc>
                <a:tc>
                  <a:txBody>
                    <a:bodyPr/>
                    <a:lstStyle/>
                    <a:p>
                      <a:pPr marL="0" indent="0">
                        <a:buNone/>
                      </a:pPr>
                      <a:r>
                        <a:rPr lang="en-US" sz="1050" dirty="0">
                          <a:solidFill>
                            <a:srgbClr val="5A6A7A"/>
                          </a:solidFill>
                        </a:rPr>
                        <a:t>★★★☆ (TFP gap)</a:t>
                      </a:r>
                      <a:endParaRPr lang="en-US" sz="1050" dirty="0"/>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2F6F9"/>
                    </a:solidFill>
                  </a:tcPr>
                </a:tc>
                <a:tc>
                  <a:txBody>
                    <a:bodyPr/>
                    <a:lstStyle/>
                    <a:p>
                      <a:pPr marL="0" indent="0">
                        <a:buNone/>
                      </a:pPr>
                      <a:r>
                        <a:rPr lang="en-US" sz="1050" dirty="0">
                          <a:solidFill>
                            <a:srgbClr val="5A6A7A"/>
                          </a:solidFill>
                        </a:rPr>
                        <a:t>★★★☆ (better c path)</a:t>
                      </a:r>
                      <a:endParaRPr lang="en-US" sz="1050" dirty="0"/>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2F6F9"/>
                    </a:solidFill>
                  </a:tcPr>
                </a:tc>
                <a:tc>
                  <a:txBody>
                    <a:bodyPr/>
                    <a:lstStyle/>
                    <a:p>
                      <a:pPr marL="0" indent="0">
                        <a:buNone/>
                      </a:pPr>
                      <a:r>
                        <a:rPr lang="en-US" sz="1050" dirty="0">
                          <a:solidFill>
                            <a:srgbClr val="5A6A7A"/>
                          </a:solidFill>
                        </a:rPr>
                        <a:t>★★★★ (demographic)</a:t>
                      </a:r>
                      <a:endParaRPr lang="en-US" sz="1050" dirty="0"/>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2F6F9"/>
                    </a:solidFill>
                  </a:tcPr>
                </a:tc>
                <a:extLst>
                  <a:ext uri="{0D108BD9-81ED-4DB2-BD59-A6C34878D82A}">
                    <a16:rowId xmlns:a16="http://schemas.microsoft.com/office/drawing/2014/main" val="10005"/>
                  </a:ext>
                </a:extLst>
              </a:tr>
              <a:tr h="393192">
                <a:tc>
                  <a:txBody>
                    <a:bodyPr/>
                    <a:lstStyle/>
                    <a:p>
                      <a:pPr marL="0" indent="0">
                        <a:buNone/>
                      </a:pPr>
                      <a:r>
                        <a:rPr lang="en-US" sz="1050" b="1" dirty="0">
                          <a:solidFill>
                            <a:srgbClr val="2C3E50"/>
                          </a:solidFill>
                        </a:rPr>
                        <a:t>SK fit (post-97)</a:t>
                      </a:r>
                      <a:endParaRPr lang="en-US" sz="1050" dirty="0"/>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AFAF8"/>
                    </a:solidFill>
                  </a:tcPr>
                </a:tc>
                <a:tc>
                  <a:txBody>
                    <a:bodyPr/>
                    <a:lstStyle/>
                    <a:p>
                      <a:pPr marL="0" indent="0">
                        <a:buNone/>
                      </a:pPr>
                      <a:r>
                        <a:rPr lang="en-US" sz="1050" dirty="0">
                          <a:solidFill>
                            <a:srgbClr val="5A6A7A"/>
                          </a:solidFill>
                        </a:rPr>
                        <a:t>★★☆☆</a:t>
                      </a:r>
                      <a:endParaRPr lang="en-US" sz="1050" dirty="0"/>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AFAF8"/>
                    </a:solidFill>
                  </a:tcPr>
                </a:tc>
                <a:tc>
                  <a:txBody>
                    <a:bodyPr/>
                    <a:lstStyle/>
                    <a:p>
                      <a:pPr marL="0" indent="0">
                        <a:buNone/>
                      </a:pPr>
                      <a:r>
                        <a:rPr lang="en-US" sz="1050" dirty="0">
                          <a:solidFill>
                            <a:srgbClr val="5A6A7A"/>
                          </a:solidFill>
                        </a:rPr>
                        <a:t>★★★★</a:t>
                      </a:r>
                      <a:endParaRPr lang="en-US" sz="1050" dirty="0"/>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AFAF8"/>
                    </a:solidFill>
                  </a:tcPr>
                </a:tc>
                <a:tc>
                  <a:txBody>
                    <a:bodyPr/>
                    <a:lstStyle/>
                    <a:p>
                      <a:pPr marL="0" indent="0">
                        <a:buNone/>
                      </a:pPr>
                      <a:r>
                        <a:rPr lang="en-US" sz="1050" dirty="0">
                          <a:solidFill>
                            <a:srgbClr val="5A6A7A"/>
                          </a:solidFill>
                        </a:rPr>
                        <a:t>★★★★</a:t>
                      </a:r>
                      <a:endParaRPr lang="en-US" sz="1050" dirty="0"/>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AFAF8"/>
                    </a:solidFill>
                  </a:tcPr>
                </a:tc>
                <a:extLst>
                  <a:ext uri="{0D108BD9-81ED-4DB2-BD59-A6C34878D82A}">
                    <a16:rowId xmlns:a16="http://schemas.microsoft.com/office/drawing/2014/main" val="10006"/>
                  </a:ext>
                </a:extLst>
              </a:tr>
              <a:tr h="393192">
                <a:tc>
                  <a:txBody>
                    <a:bodyPr/>
                    <a:lstStyle/>
                    <a:p>
                      <a:pPr marL="0" indent="0">
                        <a:buNone/>
                      </a:pPr>
                      <a:r>
                        <a:rPr lang="en-US" sz="1050" b="1" dirty="0">
                          <a:solidFill>
                            <a:srgbClr val="2C3E50"/>
                          </a:solidFill>
                        </a:rPr>
                        <a:t>Policy insights</a:t>
                      </a:r>
                      <a:endParaRPr lang="en-US" sz="1050" dirty="0"/>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2F6F9"/>
                    </a:solidFill>
                  </a:tcPr>
                </a:tc>
                <a:tc>
                  <a:txBody>
                    <a:bodyPr/>
                    <a:lstStyle/>
                    <a:p>
                      <a:pPr marL="0" indent="0">
                        <a:buNone/>
                      </a:pPr>
                      <a:r>
                        <a:rPr lang="en-US" sz="1050" dirty="0">
                          <a:solidFill>
                            <a:srgbClr val="5A6A7A"/>
                          </a:solidFill>
                        </a:rPr>
                        <a:t>Limited</a:t>
                      </a:r>
                      <a:endParaRPr lang="en-US" sz="1050" dirty="0"/>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2F6F9"/>
                    </a:solidFill>
                  </a:tcPr>
                </a:tc>
                <a:tc>
                  <a:txBody>
                    <a:bodyPr/>
                    <a:lstStyle/>
                    <a:p>
                      <a:pPr marL="0" indent="0">
                        <a:buNone/>
                      </a:pPr>
                      <a:r>
                        <a:rPr lang="en-US" sz="1050" dirty="0">
                          <a:solidFill>
                            <a:srgbClr val="5A6A7A"/>
                          </a:solidFill>
                        </a:rPr>
                        <a:t>Consumption smoothing</a:t>
                      </a:r>
                      <a:endParaRPr lang="en-US" sz="1050" dirty="0"/>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2F6F9"/>
                    </a:solidFill>
                  </a:tcPr>
                </a:tc>
                <a:tc>
                  <a:txBody>
                    <a:bodyPr/>
                    <a:lstStyle/>
                    <a:p>
                      <a:pPr marL="0" indent="0">
                        <a:buNone/>
                      </a:pPr>
                      <a:r>
                        <a:rPr lang="en-US" sz="1050" dirty="0">
                          <a:solidFill>
                            <a:srgbClr val="5A6A7A"/>
                          </a:solidFill>
                        </a:rPr>
                        <a:t>Pension/SS implications</a:t>
                      </a:r>
                      <a:endParaRPr lang="en-US" sz="1050" dirty="0"/>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2F6F9"/>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0">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C8F"/>
          </a:solidFill>
          <a:ln w="12700">
            <a:solidFill>
              <a:srgbClr val="0D7C8F"/>
            </a:solidFill>
            <a:prstDash val="solid"/>
          </a:ln>
        </p:spPr>
      </p:sp>
      <p:sp>
        <p:nvSpPr>
          <p:cNvPr id="3" name="Text 1"/>
          <p:cNvSpPr/>
          <p:nvPr/>
        </p:nvSpPr>
        <p:spPr>
          <a:xfrm>
            <a:off x="256032" y="164592"/>
            <a:ext cx="5486400" cy="256032"/>
          </a:xfrm>
          <a:prstGeom prst="rect">
            <a:avLst/>
          </a:prstGeom>
          <a:noFill/>
          <a:ln/>
        </p:spPr>
        <p:txBody>
          <a:bodyPr wrap="square" lIns="0" tIns="0" rIns="0" bIns="0" rtlCol="0" anchor="ctr"/>
          <a:lstStyle/>
          <a:p>
            <a:pPr marL="0" indent="0">
              <a:buNone/>
            </a:pPr>
            <a:r>
              <a:rPr lang="en-US" sz="800" b="1" kern="0" spc="300" dirty="0">
                <a:solidFill>
                  <a:srgbClr val="0D7C8F"/>
                </a:solidFill>
              </a:rPr>
              <a:t>COMPARATIVE — RESULTS</a:t>
            </a:r>
            <a:endParaRPr lang="en-US" sz="800" dirty="0"/>
          </a:p>
        </p:txBody>
      </p:sp>
      <p:sp>
        <p:nvSpPr>
          <p:cNvPr id="4" name="Text 2"/>
          <p:cNvSpPr/>
          <p:nvPr/>
        </p:nvSpPr>
        <p:spPr>
          <a:xfrm>
            <a:off x="256032" y="502920"/>
            <a:ext cx="8631936" cy="594360"/>
          </a:xfrm>
          <a:prstGeom prst="rect">
            <a:avLst/>
          </a:prstGeom>
          <a:noFill/>
          <a:ln/>
        </p:spPr>
        <p:txBody>
          <a:bodyPr wrap="square" lIns="0" tIns="0" rIns="0" bIns="0" rtlCol="0" anchor="ctr"/>
          <a:lstStyle/>
          <a:p>
            <a:pPr marL="0" indent="0">
              <a:buNone/>
            </a:pPr>
            <a:r>
              <a:rPr lang="en-US" sz="2800" b="1" dirty="0">
                <a:solidFill>
                  <a:srgbClr val="2C3E50"/>
                </a:solidFill>
                <a:latin typeface="Cambria" pitchFamily="34" charset="0"/>
                <a:ea typeface="Cambria" pitchFamily="34" charset="-122"/>
                <a:cs typeface="Cambria" pitchFamily="34" charset="-120"/>
              </a:rPr>
              <a:t>Capital &amp; Output Steady-State Comparisons</a:t>
            </a:r>
            <a:endParaRPr lang="en-US" sz="2800" dirty="0"/>
          </a:p>
        </p:txBody>
      </p:sp>
      <p:sp>
        <p:nvSpPr>
          <p:cNvPr id="5" name="Shape 3"/>
          <p:cNvSpPr/>
          <p:nvPr/>
        </p:nvSpPr>
        <p:spPr>
          <a:xfrm>
            <a:off x="256032" y="1188720"/>
            <a:ext cx="8631936" cy="0"/>
          </a:xfrm>
          <a:prstGeom prst="line">
            <a:avLst/>
          </a:prstGeom>
          <a:noFill/>
          <a:ln w="19050">
            <a:solidFill>
              <a:srgbClr val="0D7C8F"/>
            </a:solidFill>
            <a:prstDash val="solid"/>
          </a:ln>
        </p:spPr>
      </p:sp>
      <p:pic>
        <p:nvPicPr>
          <p:cNvPr id="6" name="Image 0" descr="/home/claude/plots_extracted/plots/capital_steady_state.png"/>
          <p:cNvPicPr>
            <a:picLocks noChangeAspect="1"/>
          </p:cNvPicPr>
          <p:nvPr/>
        </p:nvPicPr>
        <p:blipFill>
          <a:blip r:embed="rId3"/>
          <a:srcRect/>
          <a:stretch/>
        </p:blipFill>
        <p:spPr>
          <a:xfrm>
            <a:off x="256032" y="1280160"/>
            <a:ext cx="4251960" cy="3017520"/>
          </a:xfrm>
          <a:prstGeom prst="rect">
            <a:avLst/>
          </a:prstGeom>
        </p:spPr>
      </p:pic>
      <p:pic>
        <p:nvPicPr>
          <p:cNvPr id="7" name="Image 1" descr="/home/claude/plots_extracted/plots/output_steady_state.png"/>
          <p:cNvPicPr>
            <a:picLocks noChangeAspect="1"/>
          </p:cNvPicPr>
          <p:nvPr/>
        </p:nvPicPr>
        <p:blipFill>
          <a:blip r:embed="rId4"/>
          <a:srcRect/>
          <a:stretch/>
        </p:blipFill>
        <p:spPr>
          <a:xfrm>
            <a:off x="4617720" y="1280160"/>
            <a:ext cx="4251960" cy="3017520"/>
          </a:xfrm>
          <a:prstGeom prst="rect">
            <a:avLst/>
          </a:prstGeom>
        </p:spPr>
      </p:pic>
      <p:sp>
        <p:nvSpPr>
          <p:cNvPr id="8" name="Text 4"/>
          <p:cNvSpPr/>
          <p:nvPr/>
        </p:nvSpPr>
        <p:spPr>
          <a:xfrm>
            <a:off x="256032" y="4370832"/>
            <a:ext cx="8631936" cy="502920"/>
          </a:xfrm>
          <a:prstGeom prst="rect">
            <a:avLst/>
          </a:prstGeom>
          <a:noFill/>
          <a:ln/>
        </p:spPr>
        <p:txBody>
          <a:bodyPr wrap="square" lIns="0" tIns="0" rIns="0" bIns="0" rtlCol="0" anchor="ctr"/>
          <a:lstStyle/>
          <a:p>
            <a:pPr marL="0" indent="0">
              <a:buNone/>
            </a:pPr>
            <a:r>
              <a:rPr lang="en-US" sz="1100" i="1" dirty="0">
                <a:solidFill>
                  <a:srgbClr val="5A6A7A"/>
                </a:solidFill>
              </a:rPr>
              <a:t>Both Solow and RCK converge to similar k* and y* under comparable parametrisation. The RCK steady-state capital stock is lower — reflecting the endogenous saving margin — more consistent with observed post-2000 investment rates.</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1">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C8F"/>
          </a:solidFill>
          <a:ln w="12700">
            <a:solidFill>
              <a:srgbClr val="0D7C8F"/>
            </a:solidFill>
            <a:prstDash val="solid"/>
          </a:ln>
        </p:spPr>
      </p:sp>
      <p:sp>
        <p:nvSpPr>
          <p:cNvPr id="3" name="Text 1"/>
          <p:cNvSpPr/>
          <p:nvPr/>
        </p:nvSpPr>
        <p:spPr>
          <a:xfrm>
            <a:off x="256032" y="164592"/>
            <a:ext cx="5486400" cy="256032"/>
          </a:xfrm>
          <a:prstGeom prst="rect">
            <a:avLst/>
          </a:prstGeom>
          <a:noFill/>
          <a:ln/>
        </p:spPr>
        <p:txBody>
          <a:bodyPr wrap="square" lIns="0" tIns="0" rIns="0" bIns="0" rtlCol="0" anchor="ctr"/>
          <a:lstStyle/>
          <a:p>
            <a:pPr marL="0" indent="0">
              <a:buNone/>
            </a:pPr>
            <a:r>
              <a:rPr lang="en-US" sz="800" b="1" kern="0" spc="300" dirty="0">
                <a:solidFill>
                  <a:srgbClr val="0D7C8F"/>
                </a:solidFill>
              </a:rPr>
              <a:t>CONCLUSIONS</a:t>
            </a:r>
            <a:endParaRPr lang="en-US" sz="800" dirty="0"/>
          </a:p>
        </p:txBody>
      </p:sp>
      <p:sp>
        <p:nvSpPr>
          <p:cNvPr id="4" name="Text 2"/>
          <p:cNvSpPr/>
          <p:nvPr/>
        </p:nvSpPr>
        <p:spPr>
          <a:xfrm>
            <a:off x="256032" y="502920"/>
            <a:ext cx="8631936" cy="594360"/>
          </a:xfrm>
          <a:prstGeom prst="rect">
            <a:avLst/>
          </a:prstGeom>
          <a:noFill/>
          <a:ln/>
        </p:spPr>
        <p:txBody>
          <a:bodyPr wrap="square" lIns="0" tIns="0" rIns="0" bIns="0" rtlCol="0" anchor="ctr"/>
          <a:lstStyle/>
          <a:p>
            <a:pPr marL="0" indent="0">
              <a:buNone/>
            </a:pPr>
            <a:r>
              <a:rPr lang="en-US" sz="2800" b="1" dirty="0">
                <a:solidFill>
                  <a:srgbClr val="2C3E50"/>
                </a:solidFill>
                <a:latin typeface="Cambria" pitchFamily="34" charset="0"/>
                <a:ea typeface="Cambria" pitchFamily="34" charset="-122"/>
                <a:cs typeface="Cambria" pitchFamily="34" charset="-120"/>
              </a:rPr>
              <a:t>Limitations &amp; Conclusions</a:t>
            </a:r>
            <a:endParaRPr lang="en-US" sz="2800" dirty="0"/>
          </a:p>
        </p:txBody>
      </p:sp>
      <p:sp>
        <p:nvSpPr>
          <p:cNvPr id="5" name="Shape 3"/>
          <p:cNvSpPr/>
          <p:nvPr/>
        </p:nvSpPr>
        <p:spPr>
          <a:xfrm>
            <a:off x="256032" y="1188720"/>
            <a:ext cx="8631936" cy="0"/>
          </a:xfrm>
          <a:prstGeom prst="line">
            <a:avLst/>
          </a:prstGeom>
          <a:noFill/>
          <a:ln w="19050">
            <a:solidFill>
              <a:srgbClr val="0D7C8F"/>
            </a:solidFill>
            <a:prstDash val="solid"/>
          </a:ln>
        </p:spPr>
      </p:sp>
      <p:sp>
        <p:nvSpPr>
          <p:cNvPr id="6" name="Shape 4"/>
          <p:cNvSpPr/>
          <p:nvPr/>
        </p:nvSpPr>
        <p:spPr>
          <a:xfrm>
            <a:off x="256032" y="1325880"/>
            <a:ext cx="4206240" cy="1554480"/>
          </a:xfrm>
          <a:prstGeom prst="rect">
            <a:avLst/>
          </a:prstGeom>
          <a:solidFill>
            <a:srgbClr val="F8F8F8"/>
          </a:solidFill>
          <a:ln w="6350">
            <a:solidFill>
              <a:srgbClr val="D0DDE8"/>
            </a:solidFill>
            <a:prstDash val="solid"/>
          </a:ln>
        </p:spPr>
      </p:sp>
      <p:sp>
        <p:nvSpPr>
          <p:cNvPr id="7" name="Shape 5"/>
          <p:cNvSpPr/>
          <p:nvPr/>
        </p:nvSpPr>
        <p:spPr>
          <a:xfrm>
            <a:off x="256032" y="1325880"/>
            <a:ext cx="4206240" cy="347472"/>
          </a:xfrm>
          <a:prstGeom prst="rect">
            <a:avLst/>
          </a:prstGeom>
          <a:solidFill>
            <a:srgbClr val="0D7C8F"/>
          </a:solidFill>
          <a:ln w="12700">
            <a:solidFill>
              <a:srgbClr val="0D7C8F"/>
            </a:solidFill>
            <a:prstDash val="solid"/>
          </a:ln>
        </p:spPr>
      </p:sp>
      <p:sp>
        <p:nvSpPr>
          <p:cNvPr id="8" name="Text 6"/>
          <p:cNvSpPr/>
          <p:nvPr/>
        </p:nvSpPr>
        <p:spPr>
          <a:xfrm>
            <a:off x="256032" y="1325880"/>
            <a:ext cx="4206240" cy="347472"/>
          </a:xfrm>
          <a:prstGeom prst="rect">
            <a:avLst/>
          </a:prstGeom>
          <a:noFill/>
          <a:ln/>
        </p:spPr>
        <p:txBody>
          <a:bodyPr wrap="square" lIns="0" tIns="0" rIns="0" bIns="0" rtlCol="0" anchor="ctr"/>
          <a:lstStyle/>
          <a:p>
            <a:pPr marL="0" indent="0" algn="ctr">
              <a:buNone/>
            </a:pPr>
            <a:r>
              <a:rPr lang="en-US" sz="1200" b="1" dirty="0">
                <a:solidFill>
                  <a:srgbClr val="FFFFFF"/>
                </a:solidFill>
              </a:rPr>
              <a:t>Solow Takeaways</a:t>
            </a:r>
            <a:endParaRPr lang="en-US" sz="1200" dirty="0"/>
          </a:p>
        </p:txBody>
      </p:sp>
      <p:sp>
        <p:nvSpPr>
          <p:cNvPr id="9" name="Text 7"/>
          <p:cNvSpPr/>
          <p:nvPr/>
        </p:nvSpPr>
        <p:spPr>
          <a:xfrm>
            <a:off x="393192" y="1737360"/>
            <a:ext cx="3931920" cy="1097280"/>
          </a:xfrm>
          <a:prstGeom prst="rect">
            <a:avLst/>
          </a:prstGeom>
          <a:noFill/>
          <a:ln/>
        </p:spPr>
        <p:txBody>
          <a:bodyPr wrap="square" lIns="0" tIns="0" rIns="0" bIns="0" rtlCol="0" anchor="t"/>
          <a:lstStyle/>
          <a:p>
            <a:pPr marL="342900" indent="-342900">
              <a:buSzPct val="100000"/>
              <a:buChar char="•"/>
            </a:pPr>
            <a:r>
              <a:rPr lang="en-US" sz="1150" dirty="0">
                <a:solidFill>
                  <a:srgbClr val="5A6A7A"/>
                </a:solidFill>
              </a:rPr>
              <a:t>Confirms conditional convergence for SK</a:t>
            </a:r>
            <a:endParaRPr lang="en-US" sz="1150" dirty="0"/>
          </a:p>
          <a:p>
            <a:pPr marL="342900" indent="-342900">
              <a:buSzPct val="100000"/>
              <a:buChar char="•"/>
            </a:pPr>
            <a:r>
              <a:rPr lang="en-US" sz="1150" dirty="0">
                <a:solidFill>
                  <a:srgbClr val="5A6A7A"/>
                </a:solidFill>
              </a:rPr>
              <a:t>High s drove rapid k* ascent (1960–1990)</a:t>
            </a:r>
            <a:endParaRPr lang="en-US" sz="1150" dirty="0"/>
          </a:p>
          <a:p>
            <a:pPr marL="342900" indent="-342900">
              <a:buSzPct val="100000"/>
              <a:buChar char="•"/>
            </a:pPr>
            <a:r>
              <a:rPr lang="en-US" sz="1150" dirty="0">
                <a:solidFill>
                  <a:srgbClr val="5A6A7A"/>
                </a:solidFill>
              </a:rPr>
              <a:t>TFP residual unexplained — needs augmentation</a:t>
            </a:r>
            <a:endParaRPr lang="en-US" sz="1150" dirty="0"/>
          </a:p>
        </p:txBody>
      </p:sp>
      <p:sp>
        <p:nvSpPr>
          <p:cNvPr id="10" name="Shape 8"/>
          <p:cNvSpPr/>
          <p:nvPr/>
        </p:nvSpPr>
        <p:spPr>
          <a:xfrm>
            <a:off x="4690872" y="1325880"/>
            <a:ext cx="4206240" cy="1554480"/>
          </a:xfrm>
          <a:prstGeom prst="rect">
            <a:avLst/>
          </a:prstGeom>
          <a:solidFill>
            <a:srgbClr val="F8F8F8"/>
          </a:solidFill>
          <a:ln w="6350">
            <a:solidFill>
              <a:srgbClr val="D0DDE8"/>
            </a:solidFill>
            <a:prstDash val="solid"/>
          </a:ln>
        </p:spPr>
      </p:sp>
      <p:sp>
        <p:nvSpPr>
          <p:cNvPr id="11" name="Shape 9"/>
          <p:cNvSpPr/>
          <p:nvPr/>
        </p:nvSpPr>
        <p:spPr>
          <a:xfrm>
            <a:off x="4690872" y="1325880"/>
            <a:ext cx="4206240" cy="347472"/>
          </a:xfrm>
          <a:prstGeom prst="rect">
            <a:avLst/>
          </a:prstGeom>
          <a:solidFill>
            <a:srgbClr val="C8952A"/>
          </a:solidFill>
          <a:ln w="12700">
            <a:solidFill>
              <a:srgbClr val="C8952A"/>
            </a:solidFill>
            <a:prstDash val="solid"/>
          </a:ln>
        </p:spPr>
      </p:sp>
      <p:sp>
        <p:nvSpPr>
          <p:cNvPr id="12" name="Text 10"/>
          <p:cNvSpPr/>
          <p:nvPr/>
        </p:nvSpPr>
        <p:spPr>
          <a:xfrm>
            <a:off x="4690872" y="1325880"/>
            <a:ext cx="4206240" cy="347472"/>
          </a:xfrm>
          <a:prstGeom prst="rect">
            <a:avLst/>
          </a:prstGeom>
          <a:noFill/>
          <a:ln/>
        </p:spPr>
        <p:txBody>
          <a:bodyPr wrap="square" lIns="0" tIns="0" rIns="0" bIns="0" rtlCol="0" anchor="ctr"/>
          <a:lstStyle/>
          <a:p>
            <a:pPr marL="0" indent="0" algn="ctr">
              <a:buNone/>
            </a:pPr>
            <a:r>
              <a:rPr lang="en-US" sz="1200" b="1" dirty="0">
                <a:solidFill>
                  <a:srgbClr val="FFFFFF"/>
                </a:solidFill>
              </a:rPr>
              <a:t>RCK Takeaways</a:t>
            </a:r>
            <a:endParaRPr lang="en-US" sz="1200" dirty="0"/>
          </a:p>
        </p:txBody>
      </p:sp>
      <p:sp>
        <p:nvSpPr>
          <p:cNvPr id="13" name="Text 11"/>
          <p:cNvSpPr/>
          <p:nvPr/>
        </p:nvSpPr>
        <p:spPr>
          <a:xfrm>
            <a:off x="4828032" y="1737360"/>
            <a:ext cx="3931920" cy="1097280"/>
          </a:xfrm>
          <a:prstGeom prst="rect">
            <a:avLst/>
          </a:prstGeom>
          <a:noFill/>
          <a:ln/>
        </p:spPr>
        <p:txBody>
          <a:bodyPr wrap="square" lIns="0" tIns="0" rIns="0" bIns="0" rtlCol="0" anchor="t"/>
          <a:lstStyle/>
          <a:p>
            <a:pPr marL="342900" indent="-342900">
              <a:buSzPct val="100000"/>
              <a:buChar char="•"/>
            </a:pPr>
            <a:r>
              <a:rPr lang="en-US" sz="1150" dirty="0">
                <a:solidFill>
                  <a:srgbClr val="5A6A7A"/>
                </a:solidFill>
              </a:rPr>
              <a:t>Endogenous s better fits post-1997 profile</a:t>
            </a:r>
            <a:endParaRPr lang="en-US" sz="1150" dirty="0"/>
          </a:p>
          <a:p>
            <a:pPr marL="342900" indent="-342900">
              <a:buSzPct val="100000"/>
              <a:buChar char="•"/>
            </a:pPr>
            <a:r>
              <a:rPr lang="en-US" sz="1150" dirty="0">
                <a:solidFill>
                  <a:srgbClr val="5A6A7A"/>
                </a:solidFill>
              </a:rPr>
              <a:t>Saddle path replicates consumption smoothing</a:t>
            </a:r>
            <a:endParaRPr lang="en-US" sz="1150" dirty="0"/>
          </a:p>
          <a:p>
            <a:pPr marL="342900" indent="-342900">
              <a:buSzPct val="100000"/>
              <a:buChar char="•"/>
            </a:pPr>
            <a:r>
              <a:rPr lang="en-US" sz="1150" dirty="0">
                <a:solidFill>
                  <a:srgbClr val="5A6A7A"/>
                </a:solidFill>
              </a:rPr>
              <a:t>Welfare-optimal path differs from observed</a:t>
            </a:r>
            <a:endParaRPr lang="en-US" sz="1150" dirty="0"/>
          </a:p>
        </p:txBody>
      </p:sp>
      <p:sp>
        <p:nvSpPr>
          <p:cNvPr id="14" name="Shape 12"/>
          <p:cNvSpPr/>
          <p:nvPr/>
        </p:nvSpPr>
        <p:spPr>
          <a:xfrm>
            <a:off x="256032" y="3017520"/>
            <a:ext cx="4206240" cy="1554480"/>
          </a:xfrm>
          <a:prstGeom prst="rect">
            <a:avLst/>
          </a:prstGeom>
          <a:solidFill>
            <a:srgbClr val="F8F8F8"/>
          </a:solidFill>
          <a:ln w="6350">
            <a:solidFill>
              <a:srgbClr val="D0DDE8"/>
            </a:solidFill>
            <a:prstDash val="solid"/>
          </a:ln>
        </p:spPr>
      </p:sp>
      <p:sp>
        <p:nvSpPr>
          <p:cNvPr id="15" name="Shape 13"/>
          <p:cNvSpPr/>
          <p:nvPr/>
        </p:nvSpPr>
        <p:spPr>
          <a:xfrm>
            <a:off x="256032" y="3017520"/>
            <a:ext cx="4206240" cy="347472"/>
          </a:xfrm>
          <a:prstGeom prst="rect">
            <a:avLst/>
          </a:prstGeom>
          <a:solidFill>
            <a:srgbClr val="1A7A4A"/>
          </a:solidFill>
          <a:ln w="12700">
            <a:solidFill>
              <a:srgbClr val="1A7A4A"/>
            </a:solidFill>
            <a:prstDash val="solid"/>
          </a:ln>
        </p:spPr>
      </p:sp>
      <p:sp>
        <p:nvSpPr>
          <p:cNvPr id="16" name="Text 14"/>
          <p:cNvSpPr/>
          <p:nvPr/>
        </p:nvSpPr>
        <p:spPr>
          <a:xfrm>
            <a:off x="256032" y="3017520"/>
            <a:ext cx="4206240" cy="347472"/>
          </a:xfrm>
          <a:prstGeom prst="rect">
            <a:avLst/>
          </a:prstGeom>
          <a:noFill/>
          <a:ln/>
        </p:spPr>
        <p:txBody>
          <a:bodyPr wrap="square" lIns="0" tIns="0" rIns="0" bIns="0" rtlCol="0" anchor="ctr"/>
          <a:lstStyle/>
          <a:p>
            <a:pPr marL="0" indent="0" algn="ctr">
              <a:buNone/>
            </a:pPr>
            <a:r>
              <a:rPr lang="en-US" sz="1200" b="1" dirty="0">
                <a:solidFill>
                  <a:srgbClr val="FFFFFF"/>
                </a:solidFill>
              </a:rPr>
              <a:t>OLG Takeaways</a:t>
            </a:r>
            <a:endParaRPr lang="en-US" sz="1200" dirty="0"/>
          </a:p>
        </p:txBody>
      </p:sp>
      <p:sp>
        <p:nvSpPr>
          <p:cNvPr id="17" name="Text 15"/>
          <p:cNvSpPr/>
          <p:nvPr/>
        </p:nvSpPr>
        <p:spPr>
          <a:xfrm>
            <a:off x="393192" y="3429000"/>
            <a:ext cx="3931920" cy="1097280"/>
          </a:xfrm>
          <a:prstGeom prst="rect">
            <a:avLst/>
          </a:prstGeom>
          <a:noFill/>
          <a:ln/>
        </p:spPr>
        <p:txBody>
          <a:bodyPr wrap="square" lIns="0" tIns="0" rIns="0" bIns="0" rtlCol="0" anchor="t"/>
          <a:lstStyle/>
          <a:p>
            <a:pPr marL="342900" indent="-342900">
              <a:buSzPct val="100000"/>
              <a:buChar char="•"/>
            </a:pPr>
            <a:r>
              <a:rPr lang="en-US" sz="1150" dirty="0">
                <a:solidFill>
                  <a:srgbClr val="5A6A7A"/>
                </a:solidFill>
              </a:rPr>
              <a:t>SK dynamically efficient (r &gt; n+g throughout)</a:t>
            </a:r>
            <a:endParaRPr lang="en-US" sz="1150" dirty="0"/>
          </a:p>
          <a:p>
            <a:pPr marL="342900" indent="-342900">
              <a:buSzPct val="100000"/>
              <a:buChar char="•"/>
            </a:pPr>
            <a:r>
              <a:rPr lang="en-US" sz="1150" dirty="0">
                <a:solidFill>
                  <a:srgbClr val="5A6A7A"/>
                </a:solidFill>
              </a:rPr>
              <a:t>β₁ ≈ 1 signals proximity to steady state</a:t>
            </a:r>
            <a:endParaRPr lang="en-US" sz="1150" dirty="0"/>
          </a:p>
          <a:p>
            <a:pPr marL="342900" indent="-342900">
              <a:buSzPct val="100000"/>
              <a:buChar char="•"/>
            </a:pPr>
            <a:r>
              <a:rPr lang="en-US" sz="1150" dirty="0">
                <a:solidFill>
                  <a:srgbClr val="5A6A7A"/>
                </a:solidFill>
              </a:rPr>
              <a:t>Ageing will pressure future capital accumulation</a:t>
            </a:r>
            <a:endParaRPr lang="en-US" sz="1150" dirty="0"/>
          </a:p>
        </p:txBody>
      </p:sp>
      <p:sp>
        <p:nvSpPr>
          <p:cNvPr id="18" name="Shape 16"/>
          <p:cNvSpPr/>
          <p:nvPr/>
        </p:nvSpPr>
        <p:spPr>
          <a:xfrm>
            <a:off x="4690872" y="3017520"/>
            <a:ext cx="4206240" cy="1554480"/>
          </a:xfrm>
          <a:prstGeom prst="rect">
            <a:avLst/>
          </a:prstGeom>
          <a:solidFill>
            <a:srgbClr val="F8F8F8"/>
          </a:solidFill>
          <a:ln w="6350">
            <a:solidFill>
              <a:srgbClr val="D0DDE8"/>
            </a:solidFill>
            <a:prstDash val="solid"/>
          </a:ln>
        </p:spPr>
      </p:sp>
      <p:sp>
        <p:nvSpPr>
          <p:cNvPr id="19" name="Shape 17"/>
          <p:cNvSpPr/>
          <p:nvPr/>
        </p:nvSpPr>
        <p:spPr>
          <a:xfrm>
            <a:off x="4690872" y="3017520"/>
            <a:ext cx="4206240" cy="347472"/>
          </a:xfrm>
          <a:prstGeom prst="rect">
            <a:avLst/>
          </a:prstGeom>
          <a:solidFill>
            <a:srgbClr val="C0392B"/>
          </a:solidFill>
          <a:ln w="12700">
            <a:solidFill>
              <a:srgbClr val="C0392B"/>
            </a:solidFill>
            <a:prstDash val="solid"/>
          </a:ln>
        </p:spPr>
      </p:sp>
      <p:sp>
        <p:nvSpPr>
          <p:cNvPr id="20" name="Text 18"/>
          <p:cNvSpPr/>
          <p:nvPr/>
        </p:nvSpPr>
        <p:spPr>
          <a:xfrm>
            <a:off x="4690872" y="3017520"/>
            <a:ext cx="4206240" cy="347472"/>
          </a:xfrm>
          <a:prstGeom prst="rect">
            <a:avLst/>
          </a:prstGeom>
          <a:noFill/>
          <a:ln/>
        </p:spPr>
        <p:txBody>
          <a:bodyPr wrap="square" lIns="0" tIns="0" rIns="0" bIns="0" rtlCol="0" anchor="ctr"/>
          <a:lstStyle/>
          <a:p>
            <a:pPr marL="0" indent="0" algn="ctr">
              <a:buNone/>
            </a:pPr>
            <a:r>
              <a:rPr lang="en-US" sz="1200" b="1" dirty="0">
                <a:solidFill>
                  <a:srgbClr val="FFFFFF"/>
                </a:solidFill>
              </a:rPr>
              <a:t>Model Limitations</a:t>
            </a:r>
            <a:endParaRPr lang="en-US" sz="1200" dirty="0"/>
          </a:p>
        </p:txBody>
      </p:sp>
      <p:sp>
        <p:nvSpPr>
          <p:cNvPr id="21" name="Text 19"/>
          <p:cNvSpPr/>
          <p:nvPr/>
        </p:nvSpPr>
        <p:spPr>
          <a:xfrm>
            <a:off x="4828032" y="3429000"/>
            <a:ext cx="3931920" cy="1097280"/>
          </a:xfrm>
          <a:prstGeom prst="rect">
            <a:avLst/>
          </a:prstGeom>
          <a:noFill/>
          <a:ln/>
        </p:spPr>
        <p:txBody>
          <a:bodyPr wrap="square" lIns="0" tIns="0" rIns="0" bIns="0" rtlCol="0" anchor="t"/>
          <a:lstStyle/>
          <a:p>
            <a:pPr marL="342900" indent="-342900">
              <a:buSzPct val="100000"/>
              <a:buChar char="•"/>
            </a:pPr>
            <a:r>
              <a:rPr lang="en-US" sz="1150" dirty="0">
                <a:solidFill>
                  <a:srgbClr val="5A6A7A"/>
                </a:solidFill>
              </a:rPr>
              <a:t>All models abstract from institutions &amp; policy</a:t>
            </a:r>
            <a:endParaRPr lang="en-US" sz="1150" dirty="0"/>
          </a:p>
          <a:p>
            <a:pPr marL="342900" indent="-342900">
              <a:buSzPct val="100000"/>
              <a:buChar char="•"/>
            </a:pPr>
            <a:r>
              <a:rPr lang="en-US" sz="1150" dirty="0">
                <a:solidFill>
                  <a:srgbClr val="5A6A7A"/>
                </a:solidFill>
              </a:rPr>
              <a:t>No open-economy dynamics (SK is trade-dependent)</a:t>
            </a:r>
            <a:endParaRPr lang="en-US" sz="1150" dirty="0"/>
          </a:p>
          <a:p>
            <a:pPr marL="342900" indent="-342900">
              <a:buSzPct val="100000"/>
              <a:buChar char="•"/>
            </a:pPr>
            <a:r>
              <a:rPr lang="en-US" sz="1150" dirty="0">
                <a:solidFill>
                  <a:srgbClr val="5A6A7A"/>
                </a:solidFill>
              </a:rPr>
              <a:t>Structural breaks (1997, 2008) not endogenised</a:t>
            </a:r>
            <a:endParaRPr lang="en-US" sz="1150" dirty="0"/>
          </a:p>
        </p:txBody>
      </p:sp>
      <p:sp>
        <p:nvSpPr>
          <p:cNvPr id="300" name="KeyBar300"/>
          <p:cNvSpPr/>
          <p:nvPr/>
        </p:nvSpPr>
        <p:spPr>
          <a:xfrm>
            <a:off x="182880" y="4571040"/>
            <a:ext cx="8778240" cy="365760"/>
          </a:xfrm>
          <a:prstGeom prst="rect">
            <a:avLst/>
          </a:prstGeom>
          <a:solidFill>
            <a:srgbClr val="0D7C8F"/>
          </a:solidFill>
          <a:ln>
            <a:noFill/>
          </a:ln>
        </p:spPr>
        <p:txBody>
          <a:bodyPr wrap="square" lIns="182880" tIns="0" rIns="182880" bIns="0" rtlCol="0" anchor="ctr"/>
          <a:lstStyle/>
          <a:p>
            <a:pPr marL="0" indent="0" algn="ctr">
              <a:buNone/>
            </a:pPr>
            <a:r>
              <a:rPr lang="en-US" sz="1100" b="1" dirty="0">
                <a:solidFill>
                  <a:srgbClr val="FFFFFF"/>
                </a:solidFill>
              </a:rPr>
              <a:t>★  Key Finding: South Korea is dynamically efficient throughout — RCK &amp; OLG together best explain the post-1990 growth trajectory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a:extLst>
            <a:ext uri="{FF2B5EF4-FFF2-40B4-BE49-F238E27FC236}">
              <a16:creationId xmlns:a16="http://schemas.microsoft.com/office/drawing/2014/main" id="{93BA386C-F3C3-C6B9-CB88-70333FB7E5A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7A43653-3834-F779-2C7A-E2EEF198A565}"/>
              </a:ext>
            </a:extLst>
          </p:cNvPr>
          <p:cNvSpPr/>
          <p:nvPr/>
        </p:nvSpPr>
        <p:spPr>
          <a:xfrm>
            <a:off x="0" y="0"/>
            <a:ext cx="164592" cy="5143500"/>
          </a:xfrm>
          <a:prstGeom prst="rect">
            <a:avLst/>
          </a:prstGeom>
          <a:solidFill>
            <a:srgbClr val="0D7C8F"/>
          </a:solidFill>
          <a:ln w="12700">
            <a:solidFill>
              <a:srgbClr val="0D7C8F"/>
            </a:solidFill>
            <a:prstDash val="solid"/>
          </a:ln>
        </p:spPr>
      </p:sp>
      <p:sp>
        <p:nvSpPr>
          <p:cNvPr id="3" name="Text 1">
            <a:extLst>
              <a:ext uri="{FF2B5EF4-FFF2-40B4-BE49-F238E27FC236}">
                <a16:creationId xmlns:a16="http://schemas.microsoft.com/office/drawing/2014/main" id="{B83309D0-6231-06E9-52E2-9E91C01BCEBE}"/>
              </a:ext>
            </a:extLst>
          </p:cNvPr>
          <p:cNvSpPr/>
          <p:nvPr/>
        </p:nvSpPr>
        <p:spPr>
          <a:xfrm>
            <a:off x="256032" y="164592"/>
            <a:ext cx="5486400" cy="256032"/>
          </a:xfrm>
          <a:prstGeom prst="rect">
            <a:avLst/>
          </a:prstGeom>
          <a:noFill/>
          <a:ln/>
        </p:spPr>
        <p:txBody>
          <a:bodyPr wrap="square" lIns="0" tIns="0" rIns="0" bIns="0" rtlCol="0" anchor="ctr"/>
          <a:lstStyle/>
          <a:p>
            <a:pPr marL="0" indent="0">
              <a:buNone/>
            </a:pPr>
            <a:r>
              <a:rPr lang="en-US" sz="800" b="1" kern="0" spc="300" dirty="0">
                <a:solidFill>
                  <a:srgbClr val="0D7C8F"/>
                </a:solidFill>
              </a:rPr>
              <a:t>CONCLUSIONS</a:t>
            </a:r>
            <a:endParaRPr lang="en-US" sz="800" dirty="0"/>
          </a:p>
        </p:txBody>
      </p:sp>
      <p:sp>
        <p:nvSpPr>
          <p:cNvPr id="4" name="Text 2">
            <a:extLst>
              <a:ext uri="{FF2B5EF4-FFF2-40B4-BE49-F238E27FC236}">
                <a16:creationId xmlns:a16="http://schemas.microsoft.com/office/drawing/2014/main" id="{BCC0BF4E-5FD7-B1DF-F1E2-605963F7BCCF}"/>
              </a:ext>
            </a:extLst>
          </p:cNvPr>
          <p:cNvSpPr/>
          <p:nvPr/>
        </p:nvSpPr>
        <p:spPr>
          <a:xfrm>
            <a:off x="256032" y="502920"/>
            <a:ext cx="8631936" cy="594360"/>
          </a:xfrm>
          <a:prstGeom prst="rect">
            <a:avLst/>
          </a:prstGeom>
          <a:noFill/>
          <a:ln/>
        </p:spPr>
        <p:txBody>
          <a:bodyPr wrap="square" lIns="0" tIns="0" rIns="0" bIns="0" rtlCol="0" anchor="ctr"/>
          <a:lstStyle/>
          <a:p>
            <a:pPr marL="0" indent="0">
              <a:buNone/>
            </a:pPr>
            <a:r>
              <a:rPr lang="en-US" sz="2800" b="1" dirty="0">
                <a:solidFill>
                  <a:srgbClr val="2C3E50"/>
                </a:solidFill>
                <a:latin typeface="Cambria" pitchFamily="34" charset="0"/>
                <a:ea typeface="Cambria" pitchFamily="34" charset="-122"/>
              </a:rPr>
              <a:t>Citations</a:t>
            </a:r>
            <a:endParaRPr lang="en-US" sz="2800" dirty="0"/>
          </a:p>
        </p:txBody>
      </p:sp>
      <p:sp>
        <p:nvSpPr>
          <p:cNvPr id="5" name="Shape 3">
            <a:extLst>
              <a:ext uri="{FF2B5EF4-FFF2-40B4-BE49-F238E27FC236}">
                <a16:creationId xmlns:a16="http://schemas.microsoft.com/office/drawing/2014/main" id="{119D4D54-5FF8-32DC-4C42-FE6F25AA97FF}"/>
              </a:ext>
            </a:extLst>
          </p:cNvPr>
          <p:cNvSpPr/>
          <p:nvPr/>
        </p:nvSpPr>
        <p:spPr>
          <a:xfrm>
            <a:off x="256032" y="1188720"/>
            <a:ext cx="8631936" cy="0"/>
          </a:xfrm>
          <a:prstGeom prst="line">
            <a:avLst/>
          </a:prstGeom>
          <a:noFill/>
          <a:ln w="19050">
            <a:solidFill>
              <a:srgbClr val="0D7C8F"/>
            </a:solidFill>
            <a:prstDash val="solid"/>
          </a:ln>
        </p:spPr>
      </p:sp>
      <p:sp>
        <p:nvSpPr>
          <p:cNvPr id="300" name="KeyBar300">
            <a:extLst>
              <a:ext uri="{FF2B5EF4-FFF2-40B4-BE49-F238E27FC236}">
                <a16:creationId xmlns:a16="http://schemas.microsoft.com/office/drawing/2014/main" id="{5DE43752-B6A8-9F1F-0C79-2A2202342748}"/>
              </a:ext>
            </a:extLst>
          </p:cNvPr>
          <p:cNvSpPr/>
          <p:nvPr/>
        </p:nvSpPr>
        <p:spPr>
          <a:xfrm>
            <a:off x="182880" y="4571040"/>
            <a:ext cx="8778240" cy="365760"/>
          </a:xfrm>
          <a:prstGeom prst="rect">
            <a:avLst/>
          </a:prstGeom>
          <a:solidFill>
            <a:srgbClr val="0D7C8F"/>
          </a:solidFill>
          <a:ln>
            <a:noFill/>
          </a:ln>
        </p:spPr>
        <p:txBody>
          <a:bodyPr wrap="square" lIns="182880" tIns="0" rIns="182880" bIns="0" rtlCol="0" anchor="ctr"/>
          <a:lstStyle/>
          <a:p>
            <a:pPr marL="0" indent="0" algn="ctr">
              <a:buNone/>
            </a:pPr>
            <a:r>
              <a:rPr lang="en-US" sz="1100" b="1" dirty="0">
                <a:solidFill>
                  <a:srgbClr val="FFFFFF"/>
                </a:solidFill>
              </a:rPr>
              <a:t>★  Documents sourced via JSTOR, Science direct and various university publications  ★</a:t>
            </a:r>
          </a:p>
        </p:txBody>
      </p:sp>
      <p:sp>
        <p:nvSpPr>
          <p:cNvPr id="22" name="Text 7">
            <a:extLst>
              <a:ext uri="{FF2B5EF4-FFF2-40B4-BE49-F238E27FC236}">
                <a16:creationId xmlns:a16="http://schemas.microsoft.com/office/drawing/2014/main" id="{1ED7D7E5-3263-FE2C-50FA-27EA53602982}"/>
              </a:ext>
            </a:extLst>
          </p:cNvPr>
          <p:cNvSpPr/>
          <p:nvPr/>
        </p:nvSpPr>
        <p:spPr>
          <a:xfrm>
            <a:off x="298802" y="1350955"/>
            <a:ext cx="6939706" cy="3834575"/>
          </a:xfrm>
          <a:prstGeom prst="rect">
            <a:avLst/>
          </a:prstGeom>
          <a:noFill/>
          <a:ln/>
        </p:spPr>
        <p:txBody>
          <a:bodyPr wrap="square" lIns="0" tIns="0" rIns="0" bIns="0" rtlCol="0" anchor="t"/>
          <a:lstStyle/>
          <a:p>
            <a:pPr marL="342900" indent="-342900">
              <a:buSzPct val="100000"/>
              <a:buChar char="•"/>
            </a:pPr>
            <a:r>
              <a:rPr lang="en-IN" sz="1400" i="1" dirty="0"/>
              <a:t>Young, A. (1995). The Tyranny of Numbers: Confronting the Statistical Realities of the East Asian Growth Experience. The Quarterly Journal of Economics, 110(3), 641–680. </a:t>
            </a:r>
            <a:r>
              <a:rPr lang="en-IN" sz="1400" i="1" u="sng" dirty="0">
                <a:hlinkClick r:id="rId3"/>
              </a:rPr>
              <a:t>https://doi.org/10.2307/2946695</a:t>
            </a:r>
            <a:endParaRPr lang="en-IN" sz="1400" i="1" u="sng" dirty="0"/>
          </a:p>
          <a:p>
            <a:pPr marL="342900" indent="-342900">
              <a:buSzPct val="100000"/>
              <a:buFontTx/>
              <a:buChar char="•"/>
            </a:pPr>
            <a:r>
              <a:rPr lang="en-IN" sz="1400" i="1" dirty="0"/>
              <a:t>Mankiw, N. G., Romer, D., &amp; Weil, D. N. (1992). A contribution to the empirics of economic growth. The Quarterly Journal of Economics, 107(2), 407–437. </a:t>
            </a:r>
            <a:r>
              <a:rPr lang="en-IN" sz="1400" i="1" u="sng" dirty="0">
                <a:hlinkClick r:id="rId4"/>
              </a:rPr>
              <a:t>https://doi.org/10.2307/2118477</a:t>
            </a:r>
            <a:endParaRPr lang="en-IN" sz="1400" i="1" u="sng" dirty="0"/>
          </a:p>
          <a:p>
            <a:pPr marL="342900" indent="-342900">
              <a:buSzPct val="100000"/>
              <a:buFontTx/>
              <a:buChar char="•"/>
            </a:pPr>
            <a:r>
              <a:rPr lang="en-IN" sz="1400" i="1" dirty="0"/>
              <a:t>Temple, J., &amp; Johnson, P. A. (1998). Social Capability and Economic Growth. The Quarterly Journal of Economics, 113(3), 965–990. </a:t>
            </a:r>
            <a:r>
              <a:rPr lang="en-IN" sz="1400" i="1" u="sng" dirty="0">
                <a:hlinkClick r:id="rId5"/>
              </a:rPr>
              <a:t>http://www.jstor.org/stable/2586879</a:t>
            </a:r>
            <a:endParaRPr lang="en-IN" sz="1400" dirty="0"/>
          </a:p>
          <a:p>
            <a:pPr marL="342900" indent="-342900">
              <a:buSzPct val="100000"/>
              <a:buFontTx/>
              <a:buChar char="•"/>
            </a:pPr>
            <a:r>
              <a:rPr lang="en-US" sz="1400" dirty="0"/>
              <a:t>Calvo, G. A. (1998). Capital flows and capital-market crises: The </a:t>
            </a:r>
            <a:r>
              <a:rPr lang="en-US" sz="1400" dirty="0" err="1"/>
              <a:t>simpleeconomics</a:t>
            </a:r>
            <a:r>
              <a:rPr lang="en-US" sz="1400" dirty="0"/>
              <a:t> of sudden stops. Journal of Applied Economics, 1(1), 35-54. https://ucema.edu.ar/publicaciones/download/volume1/calvo.pdf</a:t>
            </a:r>
            <a:endParaRPr lang="en-IN" sz="1400" dirty="0"/>
          </a:p>
          <a:p>
            <a:pPr marL="342900" indent="-342900">
              <a:buSzPct val="100000"/>
              <a:buChar char="•"/>
            </a:pPr>
            <a:endParaRPr lang="en-US" sz="1400" dirty="0"/>
          </a:p>
        </p:txBody>
      </p:sp>
    </p:spTree>
    <p:extLst>
      <p:ext uri="{BB962C8B-B14F-4D97-AF65-F5344CB8AC3E}">
        <p14:creationId xmlns:p14="http://schemas.microsoft.com/office/powerpoint/2010/main" val="41655957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2">
    <p:bg>
      <p:bgPr>
        <a:solidFill>
          <a:srgbClr val="1A2B4A"/>
        </a:solidFill>
        <a:effectLst/>
      </p:bgPr>
    </p:bg>
    <p:spTree>
      <p:nvGrpSpPr>
        <p:cNvPr id="1" name=""/>
        <p:cNvGrpSpPr/>
        <p:nvPr/>
      </p:nvGrpSpPr>
      <p:grpSpPr>
        <a:xfrm>
          <a:off x="0" y="0"/>
          <a:ext cx="0" cy="0"/>
          <a:chOff x="0" y="0"/>
          <a:chExt cx="0" cy="0"/>
        </a:xfrm>
      </p:grpSpPr>
      <p:sp>
        <p:nvSpPr>
          <p:cNvPr id="2" name="Shape 0"/>
          <p:cNvSpPr/>
          <p:nvPr/>
        </p:nvSpPr>
        <p:spPr>
          <a:xfrm>
            <a:off x="0" y="0"/>
            <a:ext cx="9144000" cy="1463040"/>
          </a:xfrm>
          <a:prstGeom prst="rect">
            <a:avLst/>
          </a:prstGeom>
          <a:solidFill>
            <a:srgbClr val="0D7C8F"/>
          </a:solidFill>
          <a:ln w="12700">
            <a:solidFill>
              <a:srgbClr val="0D7C8F"/>
            </a:solidFill>
            <a:prstDash val="solid"/>
          </a:ln>
        </p:spPr>
      </p:sp>
      <p:sp>
        <p:nvSpPr>
          <p:cNvPr id="3" name="Text 1"/>
          <p:cNvSpPr/>
          <p:nvPr/>
        </p:nvSpPr>
        <p:spPr>
          <a:xfrm>
            <a:off x="457200" y="974313"/>
            <a:ext cx="8229600" cy="914400"/>
          </a:xfrm>
          <a:prstGeom prst="rect">
            <a:avLst/>
          </a:prstGeom>
          <a:noFill/>
          <a:ln/>
        </p:spPr>
        <p:txBody>
          <a:bodyPr wrap="square" lIns="0" tIns="0" rIns="0" bIns="0" rtlCol="0" anchor="ctr"/>
          <a:lstStyle/>
          <a:p>
            <a:pPr marL="0" indent="0" algn="ctr">
              <a:buNone/>
            </a:pPr>
            <a:r>
              <a:rPr lang="en-US" sz="8000" b="1" dirty="0">
                <a:solidFill>
                  <a:srgbClr val="FFFFFF"/>
                </a:solidFill>
                <a:latin typeface="Cambria" pitchFamily="34" charset="0"/>
                <a:ea typeface="Cambria" pitchFamily="34" charset="-122"/>
                <a:cs typeface="Cambria" pitchFamily="34" charset="-120"/>
              </a:rPr>
              <a:t>Thank You!</a:t>
            </a:r>
            <a:endParaRPr lang="en-US" sz="8000" dirty="0"/>
          </a:p>
        </p:txBody>
      </p:sp>
      <p:sp>
        <p:nvSpPr>
          <p:cNvPr id="4" name="Text 2"/>
          <p:cNvSpPr/>
          <p:nvPr/>
        </p:nvSpPr>
        <p:spPr>
          <a:xfrm>
            <a:off x="457200" y="2743198"/>
            <a:ext cx="8229600" cy="502920"/>
          </a:xfrm>
          <a:prstGeom prst="rect">
            <a:avLst/>
          </a:prstGeom>
          <a:noFill/>
          <a:ln/>
        </p:spPr>
        <p:txBody>
          <a:bodyPr wrap="square" lIns="0" tIns="0" rIns="0" bIns="0" rtlCol="0" anchor="ctr"/>
          <a:lstStyle/>
          <a:p>
            <a:pPr marL="0" indent="0" algn="ctr">
              <a:buNone/>
            </a:pPr>
            <a:r>
              <a:rPr lang="en-US" sz="1600" dirty="0">
                <a:solidFill>
                  <a:srgbClr val="A8C8D8"/>
                </a:solidFill>
                <a:latin typeface="Cambria" pitchFamily="34" charset="0"/>
                <a:ea typeface="Cambria" pitchFamily="34" charset="-122"/>
                <a:cs typeface="Cambria" pitchFamily="34" charset="-120"/>
              </a:rPr>
              <a:t>South Korea's Economic Growth: Solow, RCK &amp; OLG Comparative Analysis</a:t>
            </a:r>
            <a:endParaRPr lang="en-US" sz="1600" dirty="0"/>
          </a:p>
        </p:txBody>
      </p:sp>
      <p:sp>
        <p:nvSpPr>
          <p:cNvPr id="5" name="Shape 3"/>
          <p:cNvSpPr/>
          <p:nvPr/>
        </p:nvSpPr>
        <p:spPr>
          <a:xfrm>
            <a:off x="2286000" y="3383279"/>
            <a:ext cx="4572000" cy="0"/>
          </a:xfrm>
          <a:prstGeom prst="line">
            <a:avLst/>
          </a:prstGeom>
          <a:noFill/>
          <a:ln w="19050">
            <a:solidFill>
              <a:srgbClr val="C8952A"/>
            </a:solidFill>
            <a:prstDash val="solid"/>
          </a:ln>
        </p:spPr>
      </p:sp>
      <p:sp>
        <p:nvSpPr>
          <p:cNvPr id="8" name="Text 6"/>
          <p:cNvSpPr/>
          <p:nvPr/>
        </p:nvSpPr>
        <p:spPr>
          <a:xfrm>
            <a:off x="457200" y="4480560"/>
            <a:ext cx="8229600" cy="320040"/>
          </a:xfrm>
          <a:prstGeom prst="rect">
            <a:avLst/>
          </a:prstGeom>
          <a:noFill/>
          <a:ln/>
        </p:spPr>
        <p:txBody>
          <a:bodyPr wrap="square" lIns="0" tIns="0" rIns="0" bIns="0" rtlCol="0" anchor="ctr"/>
          <a:lstStyle/>
          <a:p>
            <a:pPr marL="0" indent="0" algn="ctr">
              <a:buNone/>
            </a:pPr>
            <a:r>
              <a:rPr lang="en-US" sz="1000" i="1" dirty="0">
                <a:solidFill>
                  <a:srgbClr val="3A5A6A"/>
                </a:solidFill>
              </a:rPr>
              <a:t>Growth &amp;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277</TotalTime>
  <Words>2500</Words>
  <Application>Microsoft Office PowerPoint</Application>
  <PresentationFormat>On-screen Show (16:9)</PresentationFormat>
  <Paragraphs>355</Paragraphs>
  <Slides>28</Slides>
  <Notes>28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Bahnschrift</vt:lpstr>
      <vt:lpstr>Calibri</vt:lpstr>
      <vt:lpstr>Cambria</vt:lpstr>
      <vt:lpstr>Cambria Math</vt:lpstr>
      <vt:lpstr>Consolas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Korea Economic Growth</dc:title>
  <dc:subject>PptxGenJS Presentation</dc:subject>
  <dc:creator>PptxGenJS</dc:creator>
  <cp:lastModifiedBy>swanand mahatole</cp:lastModifiedBy>
  <cp:revision>21</cp:revision>
  <dcterms:created xsi:type="dcterms:W3CDTF">2026-03-25T17:27:29Z</dcterms:created>
  <dcterms:modified xsi:type="dcterms:W3CDTF">2026-03-26T10:09:02Z</dcterms:modified>
</cp:coreProperties>
</file>